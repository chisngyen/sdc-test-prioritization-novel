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cm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737360" cy="1737360"/>
          </a:xfrm>
          <a:prstGeom prst="rect">
            <a:avLst/>
          </a:prstGeom>
        </p:spPr>
      </p:pic>
      <p:pic>
        <p:nvPicPr>
          <p:cNvPr id="3" name="Picture 2" descr="ics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8229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640080"/>
            <a:ext cx="66751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The Self-Driving Car Testing Competition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organized jointly with the International Conference on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Software Testing, Verification and Validation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(ICST)</a:t>
            </a:r>
          </a:p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23373B"/>
                </a:solidFill>
                <a:latin typeface="Calibri"/>
              </a:rPr>
              <a:t>Test Prioritization for Self-Driving Cars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SE2RoadNet</a:t>
            </a:r>
            <a:r>
              <a:rPr sz="1500" b="0" i="1">
                <a:solidFill>
                  <a:srgbClr val="23373B"/>
                </a:solidFill>
                <a:latin typeface="Calibri"/>
              </a:rPr>
              <a:t> — bất biến SE(2) bằng kiến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4297680" cy="182880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3931920"/>
            <a:ext cx="4041648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3373B"/>
                </a:solidFill>
                <a:latin typeface="Calibri"/>
              </a:rPr>
              <a:t>Tóm tắt đề tài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Xếp hạng kịch bản kiểm thử SDC để </a:t>
            </a:r>
            <a:r>
              <a:rPr sz="1400" b="1" i="0">
                <a:solidFill>
                  <a:srgbClr val="EB811B"/>
                </a:solidFill>
                <a:latin typeface="Calibri"/>
              </a:rPr>
              <a:t>lộ lỗi sớm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; mô hình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bất biến phép xoay / lấy mẫu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bằng ràng buộc kiến trúc,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không bằng augmentation.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840480"/>
            <a:ext cx="4114800" cy="182880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63055" y="3931920"/>
            <a:ext cx="3858768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3373B"/>
                </a:solidFill>
                <a:latin typeface="Calibri"/>
              </a:rPr>
              <a:t>Thành viên nhóm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Trần Chí Nguyên — 23102244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Huỳnh Trung Kiệt — 23122039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Đào Sỹ Duy Minh — 23122041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8A979B"/>
                </a:solidFill>
                <a:latin typeface="Calibri"/>
              </a:rPr>
              <a:t>University of Science, VNU-HCM   ·   ICST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1.  </a:t>
            </a:r>
            <a:r>
              <a:rPr sz="2000" b="0">
                <a:solidFill>
                  <a:srgbClr val="23373B"/>
                </a:solidFill>
                <a:latin typeface="Calibri"/>
              </a:rPr>
              <a:t>Bối cảnh &amp; Phát biểu bài toán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2.  </a:t>
            </a:r>
            <a:r>
              <a:rPr sz="2000" b="0">
                <a:solidFill>
                  <a:srgbClr val="23373B"/>
                </a:solidFill>
                <a:latin typeface="Calibri"/>
              </a:rPr>
              <a:t>Công trình liên quan &amp; Khoảng trống nghiên cứu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3.  </a:t>
            </a:r>
            <a:r>
              <a:rPr sz="2000" b="0">
                <a:solidFill>
                  <a:srgbClr val="23373B"/>
                </a:solidFill>
                <a:latin typeface="Calibri"/>
              </a:rPr>
              <a:t>RoadFury: Phương pháp nền tảng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4.  </a:t>
            </a:r>
            <a:r>
              <a:rPr sz="2000" b="1">
                <a:solidFill>
                  <a:srgbClr val="EB811B"/>
                </a:solidFill>
                <a:latin typeface="Calibri"/>
              </a:rPr>
              <a:t>SE2RoadNet: Đề xuất của nhóm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5.  </a:t>
            </a:r>
            <a:r>
              <a:rPr sz="2000" b="0">
                <a:solidFill>
                  <a:srgbClr val="23373B"/>
                </a:solidFill>
                <a:latin typeface="Calibri"/>
              </a:rPr>
              <a:t>Đánh giá thực nghiệm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EB811B"/>
                </a:solidFill>
                <a:latin typeface="Calibri"/>
              </a:rPr>
              <a:t>6.  </a:t>
            </a:r>
            <a:r>
              <a:rPr sz="2000" b="0">
                <a:solidFill>
                  <a:srgbClr val="23373B"/>
                </a:solidFill>
                <a:latin typeface="Calibri"/>
              </a:rPr>
              <a:t>Hạn chế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60720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8A979B"/>
                </a:solidFill>
                <a:latin typeface="Calibri"/>
              </a:rPr>
              <a:t>(+ Backup slides cho Q&amp;A: APFD worked-example, Multi-trial, AUC vs APFD, Resolution probe, Chi phí ở quy mô lớn)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Bối cảnh &amp; Phát biểu bài toán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Bối cảnh: Kiểm thử Self-Driving Car trong mô phỏng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3/37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20440" cy="1783080"/>
          </a:xfrm>
          <a:prstGeom prst="roundRect">
            <a:avLst/>
          </a:prstGeom>
          <a:solidFill>
            <a:srgbClr val="EEF0F5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Hàng ngàn kịch bản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Sinh tự động các con đường (ambiegen, frenetic…) trên BeamNG.tech. Mỗi đường = một bài kiểm thử giữ làn.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520440" cy="178308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2" y="1207008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EB811B"/>
                </a:solidFill>
                <a:latin typeface="Calibri"/>
              </a:rPr>
              <a:t>Mô phỏng tốn kém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Mỗi kịch bản chạy vật lý thời gian thực ⇒ nhiều giờ CPU cho toàn tập.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520440" cy="178308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207008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Phải ưu tiên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Xếp thứ tự để lỗi lộ sớm ⇒ chạy ít kịch bản đầu là đủ, cắt 50–80% thời gian.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41648" y="1965960"/>
            <a:ext cx="182880" cy="0"/>
          </a:xfrm>
          <a:prstGeom prst="line">
            <a:avLst/>
          </a:prstGeom>
          <a:ln w="3048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36408" y="1965960"/>
            <a:ext cx="182880" cy="0"/>
          </a:xfrm>
          <a:prstGeom prst="line">
            <a:avLst/>
          </a:prstGeom>
          <a:ln w="3048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914400" y="3566177"/>
            <a:ext cx="10332720" cy="731221"/>
          </a:xfrm>
          <a:custGeom>
            <a:avLst/>
            <a:gdLst/>
            <a:ahLst/>
            <a:cxnLst/>
            <a:rect l="l" t="t" r="r" b="b"/>
            <a:pathLst>
              <a:path w="10332720" h="731221">
                <a:moveTo>
                  <a:pt x="0" y="365743"/>
                </a:moveTo>
                <a:lnTo>
                  <a:pt x="161448" y="304981"/>
                </a:lnTo>
                <a:lnTo>
                  <a:pt x="322897" y="245908"/>
                </a:lnTo>
                <a:lnTo>
                  <a:pt x="484346" y="190166"/>
                </a:lnTo>
                <a:lnTo>
                  <a:pt x="645794" y="139303"/>
                </a:lnTo>
                <a:lnTo>
                  <a:pt x="807243" y="94732"/>
                </a:lnTo>
                <a:lnTo>
                  <a:pt x="968692" y="57693"/>
                </a:lnTo>
                <a:lnTo>
                  <a:pt x="1130141" y="29215"/>
                </a:lnTo>
                <a:lnTo>
                  <a:pt x="1291589" y="10088"/>
                </a:lnTo>
                <a:lnTo>
                  <a:pt x="1453038" y="846"/>
                </a:lnTo>
                <a:lnTo>
                  <a:pt x="1614487" y="1744"/>
                </a:lnTo>
                <a:lnTo>
                  <a:pt x="1775936" y="12757"/>
                </a:lnTo>
                <a:lnTo>
                  <a:pt x="1937385" y="33580"/>
                </a:lnTo>
                <a:lnTo>
                  <a:pt x="2098833" y="63634"/>
                </a:lnTo>
                <a:lnTo>
                  <a:pt x="2260282" y="102083"/>
                </a:lnTo>
                <a:lnTo>
                  <a:pt x="2421731" y="147860"/>
                </a:lnTo>
                <a:lnTo>
                  <a:pt x="2583180" y="199691"/>
                </a:lnTo>
                <a:lnTo>
                  <a:pt x="2744628" y="256137"/>
                </a:lnTo>
                <a:lnTo>
                  <a:pt x="2906077" y="315629"/>
                </a:lnTo>
                <a:lnTo>
                  <a:pt x="3067526" y="376513"/>
                </a:lnTo>
                <a:lnTo>
                  <a:pt x="3228975" y="437099"/>
                </a:lnTo>
                <a:lnTo>
                  <a:pt x="3390423" y="495701"/>
                </a:lnTo>
                <a:lnTo>
                  <a:pt x="3551872" y="550692"/>
                </a:lnTo>
                <a:lnTo>
                  <a:pt x="3713321" y="600543"/>
                </a:lnTo>
                <a:lnTo>
                  <a:pt x="3874770" y="643869"/>
                </a:lnTo>
                <a:lnTo>
                  <a:pt x="4036218" y="679465"/>
                </a:lnTo>
                <a:lnTo>
                  <a:pt x="4197667" y="706344"/>
                </a:lnTo>
                <a:lnTo>
                  <a:pt x="4359116" y="723757"/>
                </a:lnTo>
                <a:lnTo>
                  <a:pt x="4520565" y="731221"/>
                </a:lnTo>
                <a:lnTo>
                  <a:pt x="4682013" y="728528"/>
                </a:lnTo>
                <a:lnTo>
                  <a:pt x="4843462" y="715753"/>
                </a:lnTo>
                <a:lnTo>
                  <a:pt x="5004911" y="693252"/>
                </a:lnTo>
                <a:lnTo>
                  <a:pt x="5166360" y="661649"/>
                </a:lnTo>
                <a:lnTo>
                  <a:pt x="5327808" y="621822"/>
                </a:lnTo>
                <a:lnTo>
                  <a:pt x="5489257" y="574880"/>
                </a:lnTo>
                <a:lnTo>
                  <a:pt x="5650706" y="522125"/>
                </a:lnTo>
                <a:lnTo>
                  <a:pt x="5812155" y="465025"/>
                </a:lnTo>
                <a:lnTo>
                  <a:pt x="5973603" y="405165"/>
                </a:lnTo>
                <a:lnTo>
                  <a:pt x="6135052" y="344210"/>
                </a:lnTo>
                <a:lnTo>
                  <a:pt x="6296501" y="283853"/>
                </a:lnTo>
                <a:lnTo>
                  <a:pt x="6457950" y="225772"/>
                </a:lnTo>
                <a:lnTo>
                  <a:pt x="6619398" y="171581"/>
                </a:lnTo>
                <a:lnTo>
                  <a:pt x="6780847" y="122786"/>
                </a:lnTo>
                <a:lnTo>
                  <a:pt x="6942296" y="80742"/>
                </a:lnTo>
                <a:lnTo>
                  <a:pt x="7103745" y="46618"/>
                </a:lnTo>
                <a:lnTo>
                  <a:pt x="7265193" y="21363"/>
                </a:lnTo>
                <a:lnTo>
                  <a:pt x="7426642" y="5679"/>
                </a:lnTo>
                <a:lnTo>
                  <a:pt x="7588091" y="0"/>
                </a:lnTo>
                <a:lnTo>
                  <a:pt x="7749540" y="4486"/>
                </a:lnTo>
                <a:lnTo>
                  <a:pt x="7910988" y="19010"/>
                </a:lnTo>
                <a:lnTo>
                  <a:pt x="8072437" y="43171"/>
                </a:lnTo>
                <a:lnTo>
                  <a:pt x="8233886" y="76296"/>
                </a:lnTo>
                <a:lnTo>
                  <a:pt x="8395335" y="117464"/>
                </a:lnTo>
                <a:lnTo>
                  <a:pt x="8556783" y="165533"/>
                </a:lnTo>
                <a:lnTo>
                  <a:pt x="8718232" y="219165"/>
                </a:lnTo>
                <a:lnTo>
                  <a:pt x="8879681" y="276870"/>
                </a:lnTo>
                <a:lnTo>
                  <a:pt x="9041130" y="337045"/>
                </a:lnTo>
                <a:lnTo>
                  <a:pt x="9202578" y="398018"/>
                </a:lnTo>
                <a:lnTo>
                  <a:pt x="9364027" y="458094"/>
                </a:lnTo>
                <a:lnTo>
                  <a:pt x="9525476" y="515603"/>
                </a:lnTo>
                <a:lnTo>
                  <a:pt x="9686925" y="568948"/>
                </a:lnTo>
                <a:lnTo>
                  <a:pt x="9848373" y="616645"/>
                </a:lnTo>
                <a:lnTo>
                  <a:pt x="10009822" y="657371"/>
                </a:lnTo>
                <a:lnTo>
                  <a:pt x="10171271" y="689991"/>
                </a:lnTo>
                <a:lnTo>
                  <a:pt x="10332720" y="713601"/>
                </a:lnTo>
              </a:path>
            </a:pathLst>
          </a:custGeom>
          <a:noFill/>
          <a:ln w="139700">
            <a:solidFill>
              <a:srgbClr val="C9D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14400" y="3566177"/>
            <a:ext cx="10332720" cy="731221"/>
          </a:xfrm>
          <a:custGeom>
            <a:avLst/>
            <a:gdLst/>
            <a:ahLst/>
            <a:cxnLst/>
            <a:rect l="l" t="t" r="r" b="b"/>
            <a:pathLst>
              <a:path w="10332720" h="731221">
                <a:moveTo>
                  <a:pt x="0" y="365743"/>
                </a:moveTo>
                <a:lnTo>
                  <a:pt x="161448" y="304981"/>
                </a:lnTo>
                <a:lnTo>
                  <a:pt x="322897" y="245908"/>
                </a:lnTo>
                <a:lnTo>
                  <a:pt x="484346" y="190166"/>
                </a:lnTo>
                <a:lnTo>
                  <a:pt x="645794" y="139303"/>
                </a:lnTo>
                <a:lnTo>
                  <a:pt x="807243" y="94732"/>
                </a:lnTo>
                <a:lnTo>
                  <a:pt x="968692" y="57693"/>
                </a:lnTo>
                <a:lnTo>
                  <a:pt x="1130141" y="29215"/>
                </a:lnTo>
                <a:lnTo>
                  <a:pt x="1291589" y="10088"/>
                </a:lnTo>
                <a:lnTo>
                  <a:pt x="1453038" y="846"/>
                </a:lnTo>
                <a:lnTo>
                  <a:pt x="1614487" y="1744"/>
                </a:lnTo>
                <a:lnTo>
                  <a:pt x="1775936" y="12757"/>
                </a:lnTo>
                <a:lnTo>
                  <a:pt x="1937385" y="33580"/>
                </a:lnTo>
                <a:lnTo>
                  <a:pt x="2098833" y="63634"/>
                </a:lnTo>
                <a:lnTo>
                  <a:pt x="2260282" y="102083"/>
                </a:lnTo>
                <a:lnTo>
                  <a:pt x="2421731" y="147860"/>
                </a:lnTo>
                <a:lnTo>
                  <a:pt x="2583180" y="199691"/>
                </a:lnTo>
                <a:lnTo>
                  <a:pt x="2744628" y="256137"/>
                </a:lnTo>
                <a:lnTo>
                  <a:pt x="2906077" y="315629"/>
                </a:lnTo>
                <a:lnTo>
                  <a:pt x="3067526" y="376513"/>
                </a:lnTo>
                <a:lnTo>
                  <a:pt x="3228975" y="437099"/>
                </a:lnTo>
                <a:lnTo>
                  <a:pt x="3390423" y="495701"/>
                </a:lnTo>
                <a:lnTo>
                  <a:pt x="3551872" y="550692"/>
                </a:lnTo>
                <a:lnTo>
                  <a:pt x="3713321" y="600543"/>
                </a:lnTo>
                <a:lnTo>
                  <a:pt x="3874770" y="643869"/>
                </a:lnTo>
                <a:lnTo>
                  <a:pt x="4036218" y="679465"/>
                </a:lnTo>
                <a:lnTo>
                  <a:pt x="4197667" y="706344"/>
                </a:lnTo>
                <a:lnTo>
                  <a:pt x="4359116" y="723757"/>
                </a:lnTo>
                <a:lnTo>
                  <a:pt x="4520565" y="731221"/>
                </a:lnTo>
                <a:lnTo>
                  <a:pt x="4682013" y="728528"/>
                </a:lnTo>
                <a:lnTo>
                  <a:pt x="4843462" y="715753"/>
                </a:lnTo>
                <a:lnTo>
                  <a:pt x="5004911" y="693252"/>
                </a:lnTo>
                <a:lnTo>
                  <a:pt x="5166360" y="661649"/>
                </a:lnTo>
                <a:lnTo>
                  <a:pt x="5327808" y="621822"/>
                </a:lnTo>
                <a:lnTo>
                  <a:pt x="5489257" y="574880"/>
                </a:lnTo>
                <a:lnTo>
                  <a:pt x="5650706" y="522125"/>
                </a:lnTo>
                <a:lnTo>
                  <a:pt x="5812155" y="465025"/>
                </a:lnTo>
                <a:lnTo>
                  <a:pt x="5973603" y="405165"/>
                </a:lnTo>
                <a:lnTo>
                  <a:pt x="6135052" y="344210"/>
                </a:lnTo>
                <a:lnTo>
                  <a:pt x="6296501" y="283853"/>
                </a:lnTo>
                <a:lnTo>
                  <a:pt x="6457950" y="225772"/>
                </a:lnTo>
                <a:lnTo>
                  <a:pt x="6619398" y="171581"/>
                </a:lnTo>
                <a:lnTo>
                  <a:pt x="6780847" y="122786"/>
                </a:lnTo>
                <a:lnTo>
                  <a:pt x="6942296" y="80742"/>
                </a:lnTo>
                <a:lnTo>
                  <a:pt x="7103745" y="46618"/>
                </a:lnTo>
                <a:lnTo>
                  <a:pt x="7265193" y="21363"/>
                </a:lnTo>
                <a:lnTo>
                  <a:pt x="7426642" y="5679"/>
                </a:lnTo>
                <a:lnTo>
                  <a:pt x="7588091" y="0"/>
                </a:lnTo>
                <a:lnTo>
                  <a:pt x="7749540" y="4486"/>
                </a:lnTo>
                <a:lnTo>
                  <a:pt x="7910988" y="19010"/>
                </a:lnTo>
                <a:lnTo>
                  <a:pt x="8072437" y="43171"/>
                </a:lnTo>
                <a:lnTo>
                  <a:pt x="8233886" y="76296"/>
                </a:lnTo>
                <a:lnTo>
                  <a:pt x="8395335" y="117464"/>
                </a:lnTo>
                <a:lnTo>
                  <a:pt x="8556783" y="165533"/>
                </a:lnTo>
                <a:lnTo>
                  <a:pt x="8718232" y="219165"/>
                </a:lnTo>
                <a:lnTo>
                  <a:pt x="8879681" y="276870"/>
                </a:lnTo>
                <a:lnTo>
                  <a:pt x="9041130" y="337045"/>
                </a:lnTo>
                <a:lnTo>
                  <a:pt x="9202578" y="398018"/>
                </a:lnTo>
                <a:lnTo>
                  <a:pt x="9364027" y="458094"/>
                </a:lnTo>
                <a:lnTo>
                  <a:pt x="9525476" y="515603"/>
                </a:lnTo>
                <a:lnTo>
                  <a:pt x="9686925" y="568948"/>
                </a:lnTo>
                <a:lnTo>
                  <a:pt x="9848373" y="616645"/>
                </a:lnTo>
                <a:lnTo>
                  <a:pt x="10009822" y="657371"/>
                </a:lnTo>
                <a:lnTo>
                  <a:pt x="10171271" y="689991"/>
                </a:lnTo>
                <a:lnTo>
                  <a:pt x="10332720" y="713601"/>
                </a:lnTo>
              </a:path>
            </a:pathLst>
          </a:cu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16052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03030"/>
                </a:solidFill>
                <a:latin typeface="Calibri"/>
              </a:rPr>
              <a:t>✗ FAIL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886200"/>
            <a:ext cx="128016" cy="128016"/>
          </a:xfrm>
          <a:prstGeom prst="ellipse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5669280"/>
            <a:ext cx="9966960" cy="7772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39" y="5669280"/>
            <a:ext cx="96926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Một thay đổi nhỏ có thể khiến xe lệch làn ở kịch bản hiếm ⇒ cần kiểm thử quy mô lớn, nhưng chạy hết thì quá đắt.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Phát biểu bài toán &amp; Tiêu chí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4/37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200400" cy="1828800"/>
          </a:xfrm>
          <a:prstGeom prst="roundRect">
            <a:avLst/>
          </a:prstGeom>
          <a:solidFill>
            <a:srgbClr val="EEF0F5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29260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INPUT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Đường = chuỗi điểm 2D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  R = {p₁,…,pₙ} ⊂ ℝ²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N thay đổi: 64–197 điểm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Chỉ hình học, không hành vi 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51560"/>
            <a:ext cx="2743200" cy="18288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2743200" cy="1828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B811B"/>
                </a:solidFill>
                <a:latin typeface="Calibri"/>
              </a:rPr>
              <a:t>SCORER fθ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R ↦ [0,1]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(xác suất FAIL)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474720" cy="182880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143000"/>
            <a:ext cx="32004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OUTPUT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Hoán vị π của n kịch bản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Sắp giảm dần theo điểm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• Mục tiêu: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73B"/>
                </a:solidFill>
                <a:latin typeface="Calibri"/>
              </a:rPr>
              <a:t>  π* = argmax APFD(π)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1965960"/>
            <a:ext cx="822960" cy="0"/>
          </a:xfrm>
          <a:prstGeom prst="line">
            <a:avLst/>
          </a:prstGeom>
          <a:ln w="33020">
            <a:solidFill>
              <a:srgbClr val="2337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60920" y="1965960"/>
            <a:ext cx="822959" cy="0"/>
          </a:xfrm>
          <a:prstGeom prst="line">
            <a:avLst/>
          </a:prstGeom>
          <a:ln w="33020">
            <a:solidFill>
              <a:srgbClr val="2337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45920" y="3246120"/>
            <a:ext cx="8869680" cy="64008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246120"/>
            <a:ext cx="8869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Success Criterion: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lỗi (FAIL) được xếp càng sớm càng tốt ⇒ APFD cao ⇒ tiết kiệm chi phí mô phỏng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Cho trước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Nhãn train y ∈ {0,1} (PASS/FAIL)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Cùng ngân sách cho mọi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63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03030"/>
                </a:solidFill>
                <a:latin typeface="Calibri"/>
              </a:rPr>
              <a:t>Khó khăn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Chỉ có hình học đường, không có phản ứng xe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Tập thi out-of-distribution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APFD (primary)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AUC (phụ), Rotation 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Vì sao cần ưu tiên kiểm thử?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5/37</a:t>
            </a:r>
          </a:p>
        </p:txBody>
      </p:sp>
      <p:pic>
        <p:nvPicPr>
          <p:cNvPr id="4" name="Picture 3" descr="gen_apf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80" y="1097280"/>
            <a:ext cx="639123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3373B"/>
                </a:solidFill>
                <a:latin typeface="Calibri"/>
              </a:rPr>
              <a:t>Trực giác: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64592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Xếp hạng </a:t>
            </a:r>
            <a:r>
              <a:rPr sz="1500" b="1" i="0">
                <a:solidFill>
                  <a:srgbClr val="2E7D32"/>
                </a:solidFill>
                <a:latin typeface="Calibri"/>
              </a:rPr>
              <a:t>tốt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⇒ lỗi dồn lên đầu ⇒ đường cong dốc đứng từ sớm.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Xếp hạng </a:t>
            </a:r>
            <a:r>
              <a:rPr sz="1500" b="1" i="0">
                <a:solidFill>
                  <a:srgbClr val="B03030"/>
                </a:solidFill>
                <a:latin typeface="Calibri"/>
              </a:rPr>
              <a:t>kém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⇒ lỗi nằm cuối hàng đợi ⇒ tốn nhiều giờ mô phỏng.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APFD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đo chính diện tích dưới đường cong này.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480560"/>
            <a:ext cx="4663440" cy="914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4480560"/>
            <a:ext cx="43891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956 kịch bản × mô phỏng vật lý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03030"/>
                </a:solidFill>
                <a:latin typeface="Calibri"/>
              </a:rPr>
              <a:t>⇒ nhiều giờ CPU nếu chạy hết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806440"/>
            <a:ext cx="1033272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0644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Ranking tốt cắt 50–80% chi phí testing — bài toán không phải “chạy nhanh hơn” mà là “chạy đúng thứ tự”.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Dataset: SensoDat (Birchler et al., MSR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6/37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Tổng quan — 3 split trên BeamNG.tech: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Train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– huấn luyện mô hình.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Test (SensoDat)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– đánh giá in-distribution.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Competition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– 956 kịch bản </a:t>
            </a:r>
            <a:r>
              <a:rPr sz="1400" b="1" i="0">
                <a:solidFill>
                  <a:srgbClr val="B03030"/>
                </a:solidFill>
                <a:latin typeface="Calibri"/>
              </a:rPr>
              <a:t>out-of-distribution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566928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188720"/>
                <a:gridCol w="10972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%FAIL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Dài (m)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28 804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38.4%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61–454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Test (SensoDat)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7 202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38.4%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76–433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Competition (OOD)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956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36.9%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129–229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gen_failrate_by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94960" cy="35842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212080"/>
            <a:ext cx="53949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8A979B"/>
                </a:solidFill>
                <a:latin typeface="Calibri"/>
              </a:rPr>
              <a:t>Competition có khoảng độ dài hẹp hơn (129–229m) ⇒ dịch phân phối (distribution shift).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Ví dụ kịch bản: hình dạng quyết định nhãn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7/37</a:t>
            </a:r>
          </a:p>
        </p:txBody>
      </p:sp>
      <p:pic>
        <p:nvPicPr>
          <p:cNvPr id="4" name="Picture 3" descr="real_road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852160" cy="3006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480560"/>
            <a:ext cx="5852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8A979B"/>
                </a:solidFill>
                <a:latin typeface="Calibri"/>
              </a:rPr>
              <a:t>Đường thật từ SensoDat test split  ·  </a:t>
            </a:r>
            <a:r>
              <a:rPr sz="1350" b="1" i="0">
                <a:solidFill>
                  <a:srgbClr val="2E7D32"/>
                </a:solidFill>
                <a:latin typeface="Calibri"/>
              </a:rPr>
              <a:t>PASS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 mượt, </a:t>
            </a:r>
            <a:r>
              <a:rPr sz="1350" b="1" i="0">
                <a:solidFill>
                  <a:srgbClr val="B03030"/>
                </a:solidFill>
                <a:latin typeface="Calibri"/>
              </a:rPr>
              <a:t>FAIL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 chicane gắt</a:t>
            </a:r>
          </a:p>
        </p:txBody>
      </p:sp>
      <p:pic>
        <p:nvPicPr>
          <p:cNvPr id="6" name="Picture 5" descr="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94960" cy="17865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971800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1">
                <a:solidFill>
                  <a:srgbClr val="8A979B"/>
                </a:solidFill>
                <a:latin typeface="Calibri"/>
              </a:rPr>
              <a:t>BeamNG.tech: trái PASS (trong làn) · phải FAIL (lệch làn)</a:t>
            </a:r>
          </a:p>
        </p:txBody>
      </p:sp>
      <p:pic>
        <p:nvPicPr>
          <p:cNvPr id="8" name="Picture 7" descr="gen_curvature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868" y="3337560"/>
            <a:ext cx="2902823" cy="1828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806440"/>
            <a:ext cx="1051560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06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⇒ Không có toạ độ (x, y) tuyệt đối nào quyết định nhãn — chỉ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hình dạng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. Gợi ý cho ràng buộc </a:t>
            </a:r>
            <a:r>
              <a:rPr sz="1500" b="1" i="0">
                <a:solidFill>
                  <a:srgbClr val="EB811B"/>
                </a:solidFill>
                <a:latin typeface="Calibri"/>
              </a:rPr>
              <a:t>bất biến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Công trình liên quan &amp; Khoảng trống nghiên cứu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Related Work: 3 hướng tiếp cận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8/37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3520440" cy="41605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380744"/>
            <a:ext cx="384048" cy="384048"/>
          </a:xfrm>
          <a:prstGeom prst="ellipse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Search-based / Diversity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2057400"/>
            <a:ext cx="3154680" cy="0"/>
          </a:xfrm>
          <a:prstGeom prst="line">
            <a:avLst/>
          </a:prstGeom>
          <a:ln w="12700">
            <a:solidFill>
              <a:srgbClr val="233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2194560"/>
            <a:ext cx="3154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Ý tưởng: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GA / heuristic chọn tập test đa dạng hành vi (SO-SDC-Prioritizer, Greedy-diversity).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 Ưu: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không cần nhãn, truyền thống SBST.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3154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03030"/>
                </a:solidFill>
                <a:latin typeface="Calibri"/>
              </a:rPr>
              <a:t>✗ Hạn chế: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đa dạng ≠ lộ lỗi; đặc trưng phụ thuộc khung.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188720"/>
            <a:ext cx="3520440" cy="4160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1380744"/>
            <a:ext cx="384048" cy="384048"/>
          </a:xfrm>
          <a:prstGeom prst="ellipse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37160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B811B"/>
                </a:solidFill>
                <a:latin typeface="Calibri"/>
              </a:rPr>
              <a:t>Feature-based 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07408" y="2057400"/>
            <a:ext cx="3154680" cy="0"/>
          </a:xfrm>
          <a:prstGeom prst="line">
            <a:avLst/>
          </a:prstGeom>
          <a:ln w="12700">
            <a:solidFill>
              <a:srgbClr val="EB81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07408" y="2194560"/>
            <a:ext cx="3154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Ý tưởng: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vài đặc trưng tay → classifier nhỏ → rank (ITEP4SDC: MLP 3 đặc trưng).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977639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 Ưu: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rẻ, dễ giải thích.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4617720"/>
            <a:ext cx="3154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03030"/>
                </a:solidFill>
                <a:latin typeface="Calibri"/>
              </a:rPr>
              <a:t>✗ Hạn chế: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ít đặc trưng, phụ thuộc khung, tinh chỉnh theo từng bench.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188720"/>
            <a:ext cx="3520440" cy="416052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9" y="13807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5" y="137160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Deep: GNN / CNN / Transformer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0455" y="2057400"/>
            <a:ext cx="3154680" cy="0"/>
          </a:xfrm>
          <a:prstGeom prst="line">
            <a:avLst/>
          </a:prstGeom>
          <a:ln w="1270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0455" y="2194560"/>
            <a:ext cx="3154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Ý tưởng: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học biểu diễn từ đồ thị đường / ảnh render / chuỗi điểm (GNN, ResNet, RoadFury).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5" y="3977639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 Ưu: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APFD cao nhất (RoadFury 0.804).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5" y="4617720"/>
            <a:ext cx="3154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03030"/>
                </a:solidFill>
                <a:latin typeface="Calibri"/>
              </a:rPr>
              <a:t>✗ Hạn chế: </a:t>
            </a:r>
            <a:r>
              <a:rPr sz="1300" b="0" i="0">
                <a:solidFill>
                  <a:srgbClr val="23373B"/>
                </a:solidFill>
                <a:latin typeface="Calibri"/>
              </a:rPr>
              <a:t>không bất biến — xoay / lấy mẫu là điểm trôi.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23560"/>
            <a:ext cx="10881360" cy="7772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⇒ Khoảng trống: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chưa phương pháp nào đảm bảo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Related Work: Tổng hợp &amp; Khoảng trống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9/37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85216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192024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APFD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Bất biến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0.493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0.533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ResNet-50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0.572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SO-SDC-Prioritizer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GA (TOSEM’23)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0.765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ITEP4SDC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MLP (ICST’25)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Greedy-diversity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heuristic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RoadFury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Transformer+SWA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SE2RoadNet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SE(2)-equiv.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✓ Δ=0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14300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Hai trục độc lập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4663440"/>
            <a:ext cx="3931920" cy="0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315200" y="1645919"/>
            <a:ext cx="0" cy="3017521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0" y="4709159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73B"/>
                </a:solidFill>
                <a:latin typeface="Calibri"/>
              </a:rPr>
              <a:t>APFD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199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73B"/>
                </a:solidFill>
                <a:latin typeface="Calibri"/>
              </a:rPr>
              <a:t>bất biến?</a:t>
            </a:r>
          </a:p>
        </p:txBody>
      </p:sp>
      <p:sp>
        <p:nvSpPr>
          <p:cNvPr id="10" name="Oval 9"/>
          <p:cNvSpPr/>
          <p:nvPr/>
        </p:nvSpPr>
        <p:spPr>
          <a:xfrm>
            <a:off x="7818119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59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19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19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5559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0" y="4389120"/>
            <a:ext cx="91440" cy="91440"/>
          </a:xfrm>
          <a:prstGeom prst="ellipse">
            <a:avLst/>
          </a:prstGeom>
          <a:solidFill>
            <a:srgbClr val="5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93192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7A82"/>
                </a:solidFill>
                <a:latin typeface="Calibri"/>
              </a:rPr>
              <a:t>prior: Δ &gt; 0 (phụ thuộc khung)</a:t>
            </a:r>
          </a:p>
        </p:txBody>
      </p:sp>
      <p:sp>
        <p:nvSpPr>
          <p:cNvPr id="18" name="Oval 17"/>
          <p:cNvSpPr/>
          <p:nvPr/>
        </p:nvSpPr>
        <p:spPr>
          <a:xfrm>
            <a:off x="10442448" y="1801367"/>
            <a:ext cx="146304" cy="146304"/>
          </a:xfrm>
          <a:prstGeom prst="ellipse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627631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B811B"/>
                </a:solidFill>
                <a:latin typeface="Calibri"/>
              </a:rPr>
              <a:t>SE2RoadNet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515600" y="2057400"/>
            <a:ext cx="0" cy="2240279"/>
          </a:xfrm>
          <a:prstGeom prst="line">
            <a:avLst/>
          </a:prstGeom>
          <a:ln w="2032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5715000"/>
            <a:ext cx="10881360" cy="7772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Khoảng trống: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cùng một con đường — chỉ khác hướng đặt hoặc số điểm lấy mẫu — không được làm điểm số thay đổi. Chưa method nào đảm bảo điều đó.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RoadFury: Phương pháp nền tảng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RoadFury: Pipeline nền tảng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10/37</a:t>
            </a:r>
          </a:p>
        </p:txBody>
      </p:sp>
      <p:pic>
        <p:nvPicPr>
          <p:cNvPr id="4" name="Picture 3" descr="fig_arch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15" y="960120"/>
            <a:ext cx="988848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RoadFury (chi tiết): mạnh, nhưng có điểm mù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11/37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Trích xuất đặc trưng (10 kênh)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669280" cy="3470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4846320"/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Kênh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Ý nghĩa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f₀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Chiều dài đoạn ‖pᵢ₊₁−pᵢ‖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f₁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Biến thiên góc tuyệt đối |Δθᵢ|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f₂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Độ cong Menger κᵢ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f₃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Biến thiên độ cong Δκᵢ (jerk)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f₄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Chiều dài cung tích luỹ s/L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f₅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sin θᵢ  (phụ thuộc khung)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f₆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cos θᵢ  (phụ thuộc khung)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f₇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3030"/>
                          </a:solidFill>
                          <a:latin typeface="Calibri"/>
                        </a:rPr>
                        <a:t>Hướng tuyệt đối θᵢ  (phụ thuộc khung)</a:t>
                      </a:r>
                    </a:p>
                  </a:txBody>
                  <a:tcPr anchor="ctr" marL="63500" marR="38100" marT="12700" marB="12700">
                    <a:solidFill>
                      <a:srgbClr val="F6E7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f₈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Độ lệch chuẩn cục bộ σ(κ)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f₉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373B"/>
                          </a:solidFill>
                          <a:latin typeface="Calibri"/>
                        </a:rPr>
                        <a:t>Gia tốc cong Δ²κᵢ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RoadTransformer (829K tham số)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Linear 10→128 + LayerNorm + GELU.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Token [CLS] + learned PE </a:t>
            </a:r>
            <a:r>
              <a:rPr sz="1350" b="1" i="0">
                <a:solidFill>
                  <a:srgbClr val="B03030"/>
                </a:solidFill>
                <a:latin typeface="Calibri"/>
              </a:rPr>
              <a:t>(vị trí tuyệt đối)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4 lớp Pre-LN Transformer, 8 heads, FFN 512.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B811B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Pool [CLS] → 128→64→1 → Sigmoid.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11880"/>
            <a:ext cx="5303520" cy="105156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3703320"/>
            <a:ext cx="5047488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2E7D32"/>
                </a:solidFill>
                <a:latin typeface="Calibri"/>
              </a:rPr>
              <a:t>Kết quả ICST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APFD = </a:t>
            </a:r>
            <a:r>
              <a:rPr sz="1350" b="1" i="0">
                <a:solidFill>
                  <a:srgbClr val="2E7D32"/>
                </a:solidFill>
                <a:latin typeface="Calibri"/>
              </a:rPr>
              <a:t>0.804 ± 0.012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, AUC 0.917 (30 trials, 956 test). Tốt nhất competition.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607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3/10 kênh và PE tuyệt đối phụ thuộc khung quy chiếu ⇒ APFD cao nhưng </a:t>
            </a:r>
            <a:r>
              <a:rPr sz="1400" b="1" i="0">
                <a:solidFill>
                  <a:srgbClr val="B03030"/>
                </a:solidFill>
                <a:latin typeface="Calibri"/>
              </a:rPr>
              <a:t>không có bảo chứng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 — đây là 2 điểm mù.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Từ RoadFury đến SE2RoadNet: Vá 2 điểm mù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12/37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97280"/>
            <a:ext cx="4114800" cy="1325880"/>
          </a:xfrm>
          <a:prstGeom prst="roundRect">
            <a:avLst/>
          </a:prstGeom>
          <a:solidFill>
            <a:srgbClr val="FBECEB"/>
          </a:solidFill>
          <a:ln w="1524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1234440"/>
            <a:ext cx="365760" cy="365760"/>
          </a:xfrm>
          <a:prstGeom prst="ellipse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07008"/>
            <a:ext cx="3749039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03030"/>
                </a:solidFill>
                <a:latin typeface="Calibri"/>
              </a:rPr>
              <a:t>✗ Nhạy phép xoay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23373B"/>
                </a:solidFill>
                <a:latin typeface="Calibri"/>
              </a:rPr>
              <a:t>cùng đường, xoay 30°/90° ⇒ điểm trôi (ITEP4SDC Δ=0.057)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097280"/>
            <a:ext cx="4114800" cy="1325880"/>
          </a:xfrm>
          <a:prstGeom prst="roundRect">
            <a:avLst/>
          </a:prstGeom>
          <a:solidFill>
            <a:srgbClr val="FBECEB"/>
          </a:solidFill>
          <a:ln w="1524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20840" y="1234440"/>
            <a:ext cx="365760" cy="365760"/>
          </a:xfrm>
          <a:prstGeom prst="ellipse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207008"/>
            <a:ext cx="3749039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03030"/>
                </a:solidFill>
                <a:latin typeface="Calibri"/>
              </a:rPr>
              <a:t>✗ Nhạy tần số lấy mẫu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23373B"/>
                </a:solidFill>
                <a:latin typeface="Calibri"/>
              </a:rPr>
              <a:t>cùng đường, N=64 vs 197 điểm ⇒ điểm đổi theo cách rời rạc hoá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063240"/>
            <a:ext cx="4114800" cy="109728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37490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✓ 7 kênh bất biến SE(2)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23373B"/>
                </a:solidFill>
                <a:latin typeface="Calibri"/>
              </a:rPr>
              <a:t>bỏ sin θ, cos θ, θ; chỉ giữ Δs, κ, dκ/ds…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063240"/>
            <a:ext cx="4114800" cy="109728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37490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✓ Attention bias theo Δs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23373B"/>
                </a:solidFill>
                <a:latin typeface="Calibri"/>
              </a:rPr>
              <a:t>thay PE tuyệt đối bằng hiệu số cung — bất biến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2468880"/>
            <a:ext cx="0" cy="548640"/>
          </a:xfrm>
          <a:prstGeom prst="line">
            <a:avLst/>
          </a:prstGeom>
          <a:ln w="3048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0" y="2578608"/>
            <a:ext cx="640080" cy="292608"/>
          </a:xfrm>
          <a:prstGeom prst="rect">
            <a:avLst/>
          </a:prstGeom>
          <a:solidFill>
            <a:srgbClr val="EB811B"/>
          </a:solidFill>
          <a:ln w="1270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578608"/>
            <a:ext cx="640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2468880"/>
            <a:ext cx="0" cy="548640"/>
          </a:xfrm>
          <a:prstGeom prst="line">
            <a:avLst/>
          </a:prstGeom>
          <a:ln w="3048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321040" y="2578608"/>
            <a:ext cx="640080" cy="292608"/>
          </a:xfrm>
          <a:prstGeom prst="rect">
            <a:avLst/>
          </a:prstGeom>
          <a:solidFill>
            <a:srgbClr val="EB811B"/>
          </a:solidFill>
          <a:ln w="1270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78608"/>
            <a:ext cx="640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526280"/>
            <a:ext cx="10058400" cy="1051560"/>
          </a:xfrm>
          <a:prstGeom prst="roundRect">
            <a:avLst/>
          </a:prstGeom>
          <a:solidFill>
            <a:srgbClr val="EEF0F5"/>
          </a:solidFill>
          <a:ln w="2032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97840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SE2RoadNet: Bất biến SE(2) bằng kiến trúc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B03030"/>
                </a:solidFill>
                <a:latin typeface="Calibri"/>
              </a:rPr>
              <a:t>Augmentation (xấp xỉ)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  ──(paradigm shift)──▶   </a:t>
            </a:r>
            <a:r>
              <a:rPr sz="1500" b="1" i="0">
                <a:solidFill>
                  <a:srgbClr val="2E7D32"/>
                </a:solidFill>
                <a:latin typeface="Calibri"/>
              </a:rPr>
              <a:t>ràng buộc kiến trúc (bảo chứng)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Mỗi điểm mù RoadFury → một thành phần SE2RoadNet: </a:t>
            </a:r>
            <a:r>
              <a:rPr sz="1350" b="1" i="0">
                <a:solidFill>
                  <a:srgbClr val="23373B"/>
                </a:solidFill>
                <a:latin typeface="Calibri"/>
              </a:rPr>
              <a:t>vá có chủ đích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, không refactor mù.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SE2RoadNet: Đề xuất của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SE2RoadNet: Tổng quan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13/37</a:t>
            </a:r>
          </a:p>
        </p:txBody>
      </p:sp>
      <p:pic>
        <p:nvPicPr>
          <p:cNvPr id="4" name="Picture 3" descr="fig_arch_se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387" y="960120"/>
            <a:ext cx="800874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Ý tưởng cốt lõi: Bất biến SE(2)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14/37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Định lý mục tiêu: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Mô hình f</a:t>
            </a:r>
            <a:r>
              <a:rPr sz="1000" b="0" i="0">
                <a:solidFill>
                  <a:srgbClr val="23373B"/>
                </a:solidFill>
                <a:latin typeface="Calibri"/>
              </a:rPr>
              <a:t>θ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phải thoả mãn,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bit-identical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, với mọi (R, t) ∈ SE(2):</a:t>
            </a:r>
          </a:p>
        </p:txBody>
      </p:sp>
      <p:pic>
        <p:nvPicPr>
          <p:cNvPr id="5" name="Picture 4" descr="fi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60" y="1463040"/>
            <a:ext cx="3855599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3373B"/>
                </a:solidFill>
                <a:latin typeface="Calibri"/>
              </a:rPr>
              <a:t>Xoay, tịnh tiến, hoặc đổi gốc toạ độ con đường ⇒ điểm số y nguyên.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788920"/>
            <a:ext cx="3383280" cy="146304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834639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3373B"/>
                </a:solidFill>
                <a:latin typeface="Calibri"/>
              </a:rPr>
              <a:t>Gốc 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3749039"/>
            <a:ext cx="2286000" cy="0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26080" y="3246120"/>
            <a:ext cx="0" cy="502919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3017520" y="3133496"/>
            <a:ext cx="2103120" cy="473211"/>
          </a:xfrm>
          <a:custGeom>
            <a:avLst/>
            <a:gdLst/>
            <a:ahLst/>
            <a:cxnLst/>
            <a:rect l="l" t="t" r="r" b="b"/>
            <a:pathLst>
              <a:path w="2103120" h="473211">
                <a:moveTo>
                  <a:pt x="0" y="430835"/>
                </a:moveTo>
                <a:lnTo>
                  <a:pt x="32861" y="403265"/>
                </a:lnTo>
                <a:lnTo>
                  <a:pt x="65722" y="376080"/>
                </a:lnTo>
                <a:lnTo>
                  <a:pt x="98583" y="349657"/>
                </a:lnTo>
                <a:lnTo>
                  <a:pt x="131445" y="324362"/>
                </a:lnTo>
                <a:lnTo>
                  <a:pt x="164306" y="300542"/>
                </a:lnTo>
                <a:lnTo>
                  <a:pt x="197167" y="278522"/>
                </a:lnTo>
                <a:lnTo>
                  <a:pt x="230028" y="258593"/>
                </a:lnTo>
                <a:lnTo>
                  <a:pt x="262890" y="241018"/>
                </a:lnTo>
                <a:lnTo>
                  <a:pt x="295751" y="226017"/>
                </a:lnTo>
                <a:lnTo>
                  <a:pt x="328612" y="213771"/>
                </a:lnTo>
                <a:lnTo>
                  <a:pt x="361473" y="204414"/>
                </a:lnTo>
                <a:lnTo>
                  <a:pt x="394335" y="198034"/>
                </a:lnTo>
                <a:lnTo>
                  <a:pt x="427196" y="194672"/>
                </a:lnTo>
                <a:lnTo>
                  <a:pt x="460057" y="194317"/>
                </a:lnTo>
                <a:lnTo>
                  <a:pt x="492918" y="196912"/>
                </a:lnTo>
                <a:lnTo>
                  <a:pt x="525780" y="202350"/>
                </a:lnTo>
                <a:lnTo>
                  <a:pt x="558641" y="210478"/>
                </a:lnTo>
                <a:lnTo>
                  <a:pt x="591502" y="221100"/>
                </a:lnTo>
                <a:lnTo>
                  <a:pt x="624363" y="233979"/>
                </a:lnTo>
                <a:lnTo>
                  <a:pt x="657225" y="248841"/>
                </a:lnTo>
                <a:lnTo>
                  <a:pt x="690086" y="265381"/>
                </a:lnTo>
                <a:lnTo>
                  <a:pt x="722947" y="283265"/>
                </a:lnTo>
                <a:lnTo>
                  <a:pt x="755808" y="302139"/>
                </a:lnTo>
                <a:lnTo>
                  <a:pt x="788670" y="321630"/>
                </a:lnTo>
                <a:lnTo>
                  <a:pt x="821531" y="341359"/>
                </a:lnTo>
                <a:lnTo>
                  <a:pt x="854392" y="360939"/>
                </a:lnTo>
                <a:lnTo>
                  <a:pt x="887253" y="379989"/>
                </a:lnTo>
                <a:lnTo>
                  <a:pt x="920115" y="398134"/>
                </a:lnTo>
                <a:lnTo>
                  <a:pt x="952976" y="415015"/>
                </a:lnTo>
                <a:lnTo>
                  <a:pt x="985837" y="430292"/>
                </a:lnTo>
                <a:lnTo>
                  <a:pt x="1018698" y="443655"/>
                </a:lnTo>
                <a:lnTo>
                  <a:pt x="1051560" y="454820"/>
                </a:lnTo>
                <a:lnTo>
                  <a:pt x="1084421" y="463542"/>
                </a:lnTo>
                <a:lnTo>
                  <a:pt x="1117282" y="469616"/>
                </a:lnTo>
                <a:lnTo>
                  <a:pt x="1150143" y="472878"/>
                </a:lnTo>
                <a:lnTo>
                  <a:pt x="1183005" y="473211"/>
                </a:lnTo>
                <a:lnTo>
                  <a:pt x="1215866" y="470545"/>
                </a:lnTo>
                <a:lnTo>
                  <a:pt x="1248727" y="464860"/>
                </a:lnTo>
                <a:lnTo>
                  <a:pt x="1281588" y="456184"/>
                </a:lnTo>
                <a:lnTo>
                  <a:pt x="1314450" y="444594"/>
                </a:lnTo>
                <a:lnTo>
                  <a:pt x="1347311" y="430215"/>
                </a:lnTo>
                <a:lnTo>
                  <a:pt x="1380172" y="413215"/>
                </a:lnTo>
                <a:lnTo>
                  <a:pt x="1413033" y="393808"/>
                </a:lnTo>
                <a:lnTo>
                  <a:pt x="1445895" y="372245"/>
                </a:lnTo>
                <a:lnTo>
                  <a:pt x="1478756" y="348813"/>
                </a:lnTo>
                <a:lnTo>
                  <a:pt x="1511617" y="323829"/>
                </a:lnTo>
                <a:lnTo>
                  <a:pt x="1544478" y="297634"/>
                </a:lnTo>
                <a:lnTo>
                  <a:pt x="1577340" y="270592"/>
                </a:lnTo>
                <a:lnTo>
                  <a:pt x="1610201" y="243077"/>
                </a:lnTo>
                <a:lnTo>
                  <a:pt x="1643062" y="215473"/>
                </a:lnTo>
                <a:lnTo>
                  <a:pt x="1675923" y="188165"/>
                </a:lnTo>
                <a:lnTo>
                  <a:pt x="1708785" y="161533"/>
                </a:lnTo>
                <a:lnTo>
                  <a:pt x="1741646" y="135946"/>
                </a:lnTo>
                <a:lnTo>
                  <a:pt x="1774507" y="111757"/>
                </a:lnTo>
                <a:lnTo>
                  <a:pt x="1807368" y="89294"/>
                </a:lnTo>
                <a:lnTo>
                  <a:pt x="1840230" y="68858"/>
                </a:lnTo>
                <a:lnTo>
                  <a:pt x="1873091" y="50719"/>
                </a:lnTo>
                <a:lnTo>
                  <a:pt x="1905952" y="35106"/>
                </a:lnTo>
                <a:lnTo>
                  <a:pt x="1938813" y="22211"/>
                </a:lnTo>
                <a:lnTo>
                  <a:pt x="1971675" y="12177"/>
                </a:lnTo>
                <a:lnTo>
                  <a:pt x="2004536" y="5105"/>
                </a:lnTo>
                <a:lnTo>
                  <a:pt x="2037397" y="1046"/>
                </a:lnTo>
                <a:lnTo>
                  <a:pt x="2070258" y="0"/>
                </a:lnTo>
                <a:lnTo>
                  <a:pt x="2103120" y="1922"/>
                </a:lnTo>
              </a:path>
            </a:pathLst>
          </a:custGeom>
          <a:noFill/>
          <a:ln w="3048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867911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Score = 0.8047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3383280" cy="146304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39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3373B"/>
                </a:solidFill>
                <a:latin typeface="Calibri"/>
              </a:rPr>
              <a:t>Xoay 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3749039"/>
            <a:ext cx="2286000" cy="0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58000" y="3246120"/>
            <a:ext cx="0" cy="502919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7114346" y="2858879"/>
            <a:ext cx="1886783" cy="1023293"/>
          </a:xfrm>
          <a:custGeom>
            <a:avLst/>
            <a:gdLst/>
            <a:ahLst/>
            <a:cxnLst/>
            <a:rect l="l" t="t" r="r" b="b"/>
            <a:pathLst>
              <a:path w="1886783" h="1023293">
                <a:moveTo>
                  <a:pt x="0" y="0"/>
                </a:moveTo>
                <a:lnTo>
                  <a:pt x="42895" y="3"/>
                </a:lnTo>
                <a:lnTo>
                  <a:pt x="85542" y="301"/>
                </a:lnTo>
                <a:lnTo>
                  <a:pt x="127700" y="1182"/>
                </a:lnTo>
                <a:lnTo>
                  <a:pt x="169132" y="2928"/>
                </a:lnTo>
                <a:lnTo>
                  <a:pt x="209616" y="5804"/>
                </a:lnTo>
                <a:lnTo>
                  <a:pt x="248944" y="10058"/>
                </a:lnTo>
                <a:lnTo>
                  <a:pt x="286927" y="15915"/>
                </a:lnTo>
                <a:lnTo>
                  <a:pt x="323397" y="23574"/>
                </a:lnTo>
                <a:lnTo>
                  <a:pt x="358213" y="33206"/>
                </a:lnTo>
                <a:lnTo>
                  <a:pt x="391258" y="44947"/>
                </a:lnTo>
                <a:lnTo>
                  <a:pt x="422446" y="58902"/>
                </a:lnTo>
                <a:lnTo>
                  <a:pt x="451720" y="75138"/>
                </a:lnTo>
                <a:lnTo>
                  <a:pt x="479054" y="93685"/>
                </a:lnTo>
                <a:lnTo>
                  <a:pt x="504455" y="114536"/>
                </a:lnTo>
                <a:lnTo>
                  <a:pt x="527961" y="137647"/>
                </a:lnTo>
                <a:lnTo>
                  <a:pt x="549638" y="162935"/>
                </a:lnTo>
                <a:lnTo>
                  <a:pt x="569587" y="190284"/>
                </a:lnTo>
                <a:lnTo>
                  <a:pt x="587933" y="219544"/>
                </a:lnTo>
                <a:lnTo>
                  <a:pt x="604827" y="250532"/>
                </a:lnTo>
                <a:lnTo>
                  <a:pt x="620447" y="283041"/>
                </a:lnTo>
                <a:lnTo>
                  <a:pt x="634989" y="316834"/>
                </a:lnTo>
                <a:lnTo>
                  <a:pt x="648666" y="351657"/>
                </a:lnTo>
                <a:lnTo>
                  <a:pt x="661707" y="387237"/>
                </a:lnTo>
                <a:lnTo>
                  <a:pt x="674352" y="423292"/>
                </a:lnTo>
                <a:lnTo>
                  <a:pt x="686844" y="459528"/>
                </a:lnTo>
                <a:lnTo>
                  <a:pt x="699431" y="495650"/>
                </a:lnTo>
                <a:lnTo>
                  <a:pt x="712359" y="531365"/>
                </a:lnTo>
                <a:lnTo>
                  <a:pt x="725869" y="566388"/>
                </a:lnTo>
                <a:lnTo>
                  <a:pt x="740191" y="600442"/>
                </a:lnTo>
                <a:lnTo>
                  <a:pt x="755544" y="633268"/>
                </a:lnTo>
                <a:lnTo>
                  <a:pt x="772128" y="664627"/>
                </a:lnTo>
                <a:lnTo>
                  <a:pt x="790125" y="694303"/>
                </a:lnTo>
                <a:lnTo>
                  <a:pt x="809691" y="722108"/>
                </a:lnTo>
                <a:lnTo>
                  <a:pt x="830960" y="747883"/>
                </a:lnTo>
                <a:lnTo>
                  <a:pt x="854037" y="771505"/>
                </a:lnTo>
                <a:lnTo>
                  <a:pt x="878996" y="792883"/>
                </a:lnTo>
                <a:lnTo>
                  <a:pt x="905883" y="811963"/>
                </a:lnTo>
                <a:lnTo>
                  <a:pt x="934710" y="828731"/>
                </a:lnTo>
                <a:lnTo>
                  <a:pt x="965460" y="843208"/>
                </a:lnTo>
                <a:lnTo>
                  <a:pt x="998083" y="855452"/>
                </a:lnTo>
                <a:lnTo>
                  <a:pt x="1032499" y="865560"/>
                </a:lnTo>
                <a:lnTo>
                  <a:pt x="1068599" y="873660"/>
                </a:lnTo>
                <a:lnTo>
                  <a:pt x="1106247" y="879917"/>
                </a:lnTo>
                <a:lnTo>
                  <a:pt x="1145280" y="884521"/>
                </a:lnTo>
                <a:lnTo>
                  <a:pt x="1185516" y="887694"/>
                </a:lnTo>
                <a:lnTo>
                  <a:pt x="1226748" y="889678"/>
                </a:lnTo>
                <a:lnTo>
                  <a:pt x="1268759" y="890734"/>
                </a:lnTo>
                <a:lnTo>
                  <a:pt x="1311315" y="891141"/>
                </a:lnTo>
                <a:lnTo>
                  <a:pt x="1354174" y="891186"/>
                </a:lnTo>
                <a:lnTo>
                  <a:pt x="1397091" y="891163"/>
                </a:lnTo>
                <a:lnTo>
                  <a:pt x="1439817" y="891367"/>
                </a:lnTo>
                <a:lnTo>
                  <a:pt x="1482109" y="892089"/>
                </a:lnTo>
                <a:lnTo>
                  <a:pt x="1523729" y="893611"/>
                </a:lnTo>
                <a:lnTo>
                  <a:pt x="1564451" y="896203"/>
                </a:lnTo>
                <a:lnTo>
                  <a:pt x="1604063" y="900118"/>
                </a:lnTo>
                <a:lnTo>
                  <a:pt x="1642372" y="905587"/>
                </a:lnTo>
                <a:lnTo>
                  <a:pt x="1679205" y="912814"/>
                </a:lnTo>
                <a:lnTo>
                  <a:pt x="1714414" y="921977"/>
                </a:lnTo>
                <a:lnTo>
                  <a:pt x="1747876" y="933221"/>
                </a:lnTo>
                <a:lnTo>
                  <a:pt x="1779499" y="946658"/>
                </a:lnTo>
                <a:lnTo>
                  <a:pt x="1809218" y="962363"/>
                </a:lnTo>
                <a:lnTo>
                  <a:pt x="1837000" y="980376"/>
                </a:lnTo>
                <a:lnTo>
                  <a:pt x="1862845" y="1000698"/>
                </a:lnTo>
                <a:lnTo>
                  <a:pt x="1886783" y="1023293"/>
                </a:lnTo>
              </a:path>
            </a:pathLst>
          </a:custGeom>
          <a:noFill/>
          <a:ln w="3048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67911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Score = 0.8047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434840"/>
            <a:ext cx="3383280" cy="146304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480559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3373B"/>
                </a:solidFill>
                <a:latin typeface="Calibri"/>
              </a:rPr>
              <a:t>Tịnh tiến +t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5394959"/>
            <a:ext cx="2286000" cy="0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26080" y="4892040"/>
            <a:ext cx="0" cy="502919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3246120" y="4779416"/>
            <a:ext cx="2103120" cy="473211"/>
          </a:xfrm>
          <a:custGeom>
            <a:avLst/>
            <a:gdLst/>
            <a:ahLst/>
            <a:cxnLst/>
            <a:rect l="l" t="t" r="r" b="b"/>
            <a:pathLst>
              <a:path w="2103120" h="473211">
                <a:moveTo>
                  <a:pt x="0" y="430835"/>
                </a:moveTo>
                <a:lnTo>
                  <a:pt x="32861" y="403265"/>
                </a:lnTo>
                <a:lnTo>
                  <a:pt x="65722" y="376080"/>
                </a:lnTo>
                <a:lnTo>
                  <a:pt x="98583" y="349657"/>
                </a:lnTo>
                <a:lnTo>
                  <a:pt x="131445" y="324362"/>
                </a:lnTo>
                <a:lnTo>
                  <a:pt x="164306" y="300542"/>
                </a:lnTo>
                <a:lnTo>
                  <a:pt x="197167" y="278522"/>
                </a:lnTo>
                <a:lnTo>
                  <a:pt x="230028" y="258593"/>
                </a:lnTo>
                <a:lnTo>
                  <a:pt x="262890" y="241018"/>
                </a:lnTo>
                <a:lnTo>
                  <a:pt x="295751" y="226017"/>
                </a:lnTo>
                <a:lnTo>
                  <a:pt x="328612" y="213771"/>
                </a:lnTo>
                <a:lnTo>
                  <a:pt x="361473" y="204414"/>
                </a:lnTo>
                <a:lnTo>
                  <a:pt x="394335" y="198034"/>
                </a:lnTo>
                <a:lnTo>
                  <a:pt x="427196" y="194672"/>
                </a:lnTo>
                <a:lnTo>
                  <a:pt x="460057" y="194317"/>
                </a:lnTo>
                <a:lnTo>
                  <a:pt x="492918" y="196912"/>
                </a:lnTo>
                <a:lnTo>
                  <a:pt x="525780" y="202350"/>
                </a:lnTo>
                <a:lnTo>
                  <a:pt x="558641" y="210478"/>
                </a:lnTo>
                <a:lnTo>
                  <a:pt x="591502" y="221100"/>
                </a:lnTo>
                <a:lnTo>
                  <a:pt x="624363" y="233979"/>
                </a:lnTo>
                <a:lnTo>
                  <a:pt x="657225" y="248841"/>
                </a:lnTo>
                <a:lnTo>
                  <a:pt x="690086" y="265381"/>
                </a:lnTo>
                <a:lnTo>
                  <a:pt x="722947" y="283265"/>
                </a:lnTo>
                <a:lnTo>
                  <a:pt x="755808" y="302139"/>
                </a:lnTo>
                <a:lnTo>
                  <a:pt x="788670" y="321630"/>
                </a:lnTo>
                <a:lnTo>
                  <a:pt x="821531" y="341359"/>
                </a:lnTo>
                <a:lnTo>
                  <a:pt x="854392" y="360939"/>
                </a:lnTo>
                <a:lnTo>
                  <a:pt x="887253" y="379989"/>
                </a:lnTo>
                <a:lnTo>
                  <a:pt x="920115" y="398134"/>
                </a:lnTo>
                <a:lnTo>
                  <a:pt x="952976" y="415015"/>
                </a:lnTo>
                <a:lnTo>
                  <a:pt x="985837" y="430292"/>
                </a:lnTo>
                <a:lnTo>
                  <a:pt x="1018698" y="443655"/>
                </a:lnTo>
                <a:lnTo>
                  <a:pt x="1051560" y="454820"/>
                </a:lnTo>
                <a:lnTo>
                  <a:pt x="1084421" y="463542"/>
                </a:lnTo>
                <a:lnTo>
                  <a:pt x="1117282" y="469616"/>
                </a:lnTo>
                <a:lnTo>
                  <a:pt x="1150143" y="472878"/>
                </a:lnTo>
                <a:lnTo>
                  <a:pt x="1183005" y="473211"/>
                </a:lnTo>
                <a:lnTo>
                  <a:pt x="1215866" y="470545"/>
                </a:lnTo>
                <a:lnTo>
                  <a:pt x="1248727" y="464860"/>
                </a:lnTo>
                <a:lnTo>
                  <a:pt x="1281588" y="456184"/>
                </a:lnTo>
                <a:lnTo>
                  <a:pt x="1314450" y="444594"/>
                </a:lnTo>
                <a:lnTo>
                  <a:pt x="1347311" y="430215"/>
                </a:lnTo>
                <a:lnTo>
                  <a:pt x="1380172" y="413215"/>
                </a:lnTo>
                <a:lnTo>
                  <a:pt x="1413033" y="393808"/>
                </a:lnTo>
                <a:lnTo>
                  <a:pt x="1445895" y="372245"/>
                </a:lnTo>
                <a:lnTo>
                  <a:pt x="1478756" y="348813"/>
                </a:lnTo>
                <a:lnTo>
                  <a:pt x="1511617" y="323829"/>
                </a:lnTo>
                <a:lnTo>
                  <a:pt x="1544478" y="297634"/>
                </a:lnTo>
                <a:lnTo>
                  <a:pt x="1577340" y="270592"/>
                </a:lnTo>
                <a:lnTo>
                  <a:pt x="1610201" y="243077"/>
                </a:lnTo>
                <a:lnTo>
                  <a:pt x="1643062" y="215473"/>
                </a:lnTo>
                <a:lnTo>
                  <a:pt x="1675923" y="188165"/>
                </a:lnTo>
                <a:lnTo>
                  <a:pt x="1708785" y="161533"/>
                </a:lnTo>
                <a:lnTo>
                  <a:pt x="1741646" y="135946"/>
                </a:lnTo>
                <a:lnTo>
                  <a:pt x="1774507" y="111757"/>
                </a:lnTo>
                <a:lnTo>
                  <a:pt x="1807368" y="89294"/>
                </a:lnTo>
                <a:lnTo>
                  <a:pt x="1840230" y="68858"/>
                </a:lnTo>
                <a:lnTo>
                  <a:pt x="1873091" y="50719"/>
                </a:lnTo>
                <a:lnTo>
                  <a:pt x="1905952" y="35106"/>
                </a:lnTo>
                <a:lnTo>
                  <a:pt x="1938813" y="22211"/>
                </a:lnTo>
                <a:lnTo>
                  <a:pt x="1971675" y="12177"/>
                </a:lnTo>
                <a:lnTo>
                  <a:pt x="2004536" y="5105"/>
                </a:lnTo>
                <a:lnTo>
                  <a:pt x="2037397" y="1046"/>
                </a:lnTo>
                <a:lnTo>
                  <a:pt x="2070258" y="0"/>
                </a:lnTo>
                <a:lnTo>
                  <a:pt x="2103120" y="1922"/>
                </a:lnTo>
              </a:path>
            </a:pathLst>
          </a:custGeom>
          <a:noFill/>
          <a:ln w="3048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513831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Score = 0.8047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34840"/>
            <a:ext cx="3383280" cy="146304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59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3373B"/>
                </a:solidFill>
                <a:latin typeface="Calibri"/>
              </a:rPr>
              <a:t>Đổi gốc toạ độ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0" y="5394959"/>
            <a:ext cx="2286000" cy="0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58000" y="4892040"/>
            <a:ext cx="0" cy="502919"/>
          </a:xfrm>
          <a:prstGeom prst="line">
            <a:avLst/>
          </a:prstGeom>
          <a:ln w="1270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949440" y="4779416"/>
            <a:ext cx="2103120" cy="473211"/>
          </a:xfrm>
          <a:custGeom>
            <a:avLst/>
            <a:gdLst/>
            <a:ahLst/>
            <a:cxnLst/>
            <a:rect l="l" t="t" r="r" b="b"/>
            <a:pathLst>
              <a:path w="2103120" h="473211">
                <a:moveTo>
                  <a:pt x="0" y="430835"/>
                </a:moveTo>
                <a:lnTo>
                  <a:pt x="32861" y="403265"/>
                </a:lnTo>
                <a:lnTo>
                  <a:pt x="65722" y="376080"/>
                </a:lnTo>
                <a:lnTo>
                  <a:pt x="98583" y="349657"/>
                </a:lnTo>
                <a:lnTo>
                  <a:pt x="131445" y="324362"/>
                </a:lnTo>
                <a:lnTo>
                  <a:pt x="164306" y="300542"/>
                </a:lnTo>
                <a:lnTo>
                  <a:pt x="197167" y="278522"/>
                </a:lnTo>
                <a:lnTo>
                  <a:pt x="230028" y="258593"/>
                </a:lnTo>
                <a:lnTo>
                  <a:pt x="262890" y="241018"/>
                </a:lnTo>
                <a:lnTo>
                  <a:pt x="295751" y="226017"/>
                </a:lnTo>
                <a:lnTo>
                  <a:pt x="328612" y="213771"/>
                </a:lnTo>
                <a:lnTo>
                  <a:pt x="361473" y="204414"/>
                </a:lnTo>
                <a:lnTo>
                  <a:pt x="394335" y="198034"/>
                </a:lnTo>
                <a:lnTo>
                  <a:pt x="427196" y="194672"/>
                </a:lnTo>
                <a:lnTo>
                  <a:pt x="460057" y="194317"/>
                </a:lnTo>
                <a:lnTo>
                  <a:pt x="492918" y="196912"/>
                </a:lnTo>
                <a:lnTo>
                  <a:pt x="525780" y="202350"/>
                </a:lnTo>
                <a:lnTo>
                  <a:pt x="558641" y="210478"/>
                </a:lnTo>
                <a:lnTo>
                  <a:pt x="591502" y="221100"/>
                </a:lnTo>
                <a:lnTo>
                  <a:pt x="624363" y="233979"/>
                </a:lnTo>
                <a:lnTo>
                  <a:pt x="657225" y="248841"/>
                </a:lnTo>
                <a:lnTo>
                  <a:pt x="690086" y="265381"/>
                </a:lnTo>
                <a:lnTo>
                  <a:pt x="722947" y="283265"/>
                </a:lnTo>
                <a:lnTo>
                  <a:pt x="755808" y="302139"/>
                </a:lnTo>
                <a:lnTo>
                  <a:pt x="788670" y="321630"/>
                </a:lnTo>
                <a:lnTo>
                  <a:pt x="821531" y="341359"/>
                </a:lnTo>
                <a:lnTo>
                  <a:pt x="854392" y="360939"/>
                </a:lnTo>
                <a:lnTo>
                  <a:pt x="887253" y="379989"/>
                </a:lnTo>
                <a:lnTo>
                  <a:pt x="920114" y="398134"/>
                </a:lnTo>
                <a:lnTo>
                  <a:pt x="952976" y="415015"/>
                </a:lnTo>
                <a:lnTo>
                  <a:pt x="985837" y="430292"/>
                </a:lnTo>
                <a:lnTo>
                  <a:pt x="1018698" y="443655"/>
                </a:lnTo>
                <a:lnTo>
                  <a:pt x="1051560" y="454820"/>
                </a:lnTo>
                <a:lnTo>
                  <a:pt x="1084421" y="463542"/>
                </a:lnTo>
                <a:lnTo>
                  <a:pt x="1117282" y="469616"/>
                </a:lnTo>
                <a:lnTo>
                  <a:pt x="1150143" y="472878"/>
                </a:lnTo>
                <a:lnTo>
                  <a:pt x="1183005" y="473211"/>
                </a:lnTo>
                <a:lnTo>
                  <a:pt x="1215866" y="470545"/>
                </a:lnTo>
                <a:lnTo>
                  <a:pt x="1248727" y="464860"/>
                </a:lnTo>
                <a:lnTo>
                  <a:pt x="1281588" y="456184"/>
                </a:lnTo>
                <a:lnTo>
                  <a:pt x="1314450" y="444594"/>
                </a:lnTo>
                <a:lnTo>
                  <a:pt x="1347311" y="430215"/>
                </a:lnTo>
                <a:lnTo>
                  <a:pt x="1380172" y="413215"/>
                </a:lnTo>
                <a:lnTo>
                  <a:pt x="1413033" y="393808"/>
                </a:lnTo>
                <a:lnTo>
                  <a:pt x="1445895" y="372245"/>
                </a:lnTo>
                <a:lnTo>
                  <a:pt x="1478756" y="348813"/>
                </a:lnTo>
                <a:lnTo>
                  <a:pt x="1511617" y="323829"/>
                </a:lnTo>
                <a:lnTo>
                  <a:pt x="1544478" y="297634"/>
                </a:lnTo>
                <a:lnTo>
                  <a:pt x="1577340" y="270592"/>
                </a:lnTo>
                <a:lnTo>
                  <a:pt x="1610201" y="243077"/>
                </a:lnTo>
                <a:lnTo>
                  <a:pt x="1643062" y="215473"/>
                </a:lnTo>
                <a:lnTo>
                  <a:pt x="1675923" y="188165"/>
                </a:lnTo>
                <a:lnTo>
                  <a:pt x="1708785" y="161533"/>
                </a:lnTo>
                <a:lnTo>
                  <a:pt x="1741646" y="135946"/>
                </a:lnTo>
                <a:lnTo>
                  <a:pt x="1774507" y="111757"/>
                </a:lnTo>
                <a:lnTo>
                  <a:pt x="1807368" y="89294"/>
                </a:lnTo>
                <a:lnTo>
                  <a:pt x="1840230" y="68858"/>
                </a:lnTo>
                <a:lnTo>
                  <a:pt x="1873091" y="50719"/>
                </a:lnTo>
                <a:lnTo>
                  <a:pt x="1905952" y="35106"/>
                </a:lnTo>
                <a:lnTo>
                  <a:pt x="1938813" y="22211"/>
                </a:lnTo>
                <a:lnTo>
                  <a:pt x="1971675" y="12177"/>
                </a:lnTo>
                <a:lnTo>
                  <a:pt x="2004536" y="5105"/>
                </a:lnTo>
                <a:lnTo>
                  <a:pt x="2037397" y="1046"/>
                </a:lnTo>
                <a:lnTo>
                  <a:pt x="2070258" y="0"/>
                </a:lnTo>
                <a:lnTo>
                  <a:pt x="2103120" y="1922"/>
                </a:lnTo>
              </a:path>
            </a:pathLst>
          </a:custGeom>
          <a:noFill/>
          <a:ln w="3048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513831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Score = 0.8047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493008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23373B"/>
                </a:solidFill>
                <a:latin typeface="Calibri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138928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23373B"/>
                </a:solidFill>
                <a:latin typeface="Calibri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160520"/>
            <a:ext cx="548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23373B"/>
                </a:solidFill>
                <a:latin typeface="Calibri"/>
              </a:rPr>
              <a:t>=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Bước 1: 7 kênh đặc trưng bất biến SE(2)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15/37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Chỉ giữ đại lượng nội tại của đường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1.  </a:t>
            </a:r>
            <a:r>
              <a:rPr sz="1400">
                <a:solidFill>
                  <a:srgbClr val="23373B"/>
                </a:solidFill>
                <a:latin typeface="Calibri"/>
              </a:rPr>
              <a:t>Δsᵢ – chiều dài đoạn i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2.  </a:t>
            </a:r>
            <a:r>
              <a:rPr sz="1400">
                <a:solidFill>
                  <a:srgbClr val="23373B"/>
                </a:solidFill>
                <a:latin typeface="Calibri"/>
              </a:rPr>
              <a:t>|Δθᵢ| – biến thiên góc tuyệt đối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3.  </a:t>
            </a:r>
            <a:r>
              <a:rPr sz="1400">
                <a:solidFill>
                  <a:srgbClr val="23373B"/>
                </a:solidFill>
                <a:latin typeface="Calibri"/>
              </a:rPr>
              <a:t>κᵢ = Δθᵢ/Δsᵢ – độ cong có dấu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4.  </a:t>
            </a:r>
            <a:r>
              <a:rPr sz="1400">
                <a:solidFill>
                  <a:srgbClr val="23373B"/>
                </a:solidFill>
                <a:latin typeface="Calibri"/>
              </a:rPr>
              <a:t>dκ/ds – đạo hàm độ cong (jerk hình học)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5.  </a:t>
            </a:r>
            <a:r>
              <a:rPr sz="1400">
                <a:solidFill>
                  <a:srgbClr val="23373B"/>
                </a:solidFill>
                <a:latin typeface="Calibri"/>
              </a:rPr>
              <a:t>d²κ/ds² – đạo hàm bậc 2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6.  </a:t>
            </a:r>
            <a:r>
              <a:rPr sz="1400">
                <a:solidFill>
                  <a:srgbClr val="23373B"/>
                </a:solidFill>
                <a:latin typeface="Calibri"/>
              </a:rPr>
              <a:t>s_norm = s/L ∈ [0,1] – chiều dài cung tương đối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EB811B"/>
                </a:solidFill>
                <a:latin typeface="Calibri"/>
              </a:rPr>
              <a:t>7.  </a:t>
            </a:r>
            <a:r>
              <a:rPr sz="1400">
                <a:solidFill>
                  <a:srgbClr val="23373B"/>
                </a:solidFill>
                <a:latin typeface="Calibri"/>
              </a:rPr>
              <a:t>σ_local(κ) – độ lệch chuẩn cục bộ (cửa sổ 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371600"/>
            <a:ext cx="4572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498079" y="1984941"/>
            <a:ext cx="4023360" cy="1151450"/>
          </a:xfrm>
          <a:custGeom>
            <a:avLst/>
            <a:gdLst/>
            <a:ahLst/>
            <a:cxnLst/>
            <a:rect l="l" t="t" r="r" b="b"/>
            <a:pathLst>
              <a:path w="4023360" h="1151450">
                <a:moveTo>
                  <a:pt x="0" y="575379"/>
                </a:moveTo>
                <a:lnTo>
                  <a:pt x="62865" y="490851"/>
                </a:lnTo>
                <a:lnTo>
                  <a:pt x="125730" y="408154"/>
                </a:lnTo>
                <a:lnTo>
                  <a:pt x="188595" y="329076"/>
                </a:lnTo>
                <a:lnTo>
                  <a:pt x="251460" y="255330"/>
                </a:lnTo>
                <a:lnTo>
                  <a:pt x="314325" y="188512"/>
                </a:lnTo>
                <a:lnTo>
                  <a:pt x="377190" y="130069"/>
                </a:lnTo>
                <a:lnTo>
                  <a:pt x="440055" y="81265"/>
                </a:lnTo>
                <a:lnTo>
                  <a:pt x="502920" y="43157"/>
                </a:lnTo>
                <a:lnTo>
                  <a:pt x="565785" y="16571"/>
                </a:lnTo>
                <a:lnTo>
                  <a:pt x="628650" y="2080"/>
                </a:lnTo>
                <a:lnTo>
                  <a:pt x="691515" y="0"/>
                </a:lnTo>
                <a:lnTo>
                  <a:pt x="754380" y="10376"/>
                </a:lnTo>
                <a:lnTo>
                  <a:pt x="817245" y="32981"/>
                </a:lnTo>
                <a:lnTo>
                  <a:pt x="880110" y="67328"/>
                </a:lnTo>
                <a:lnTo>
                  <a:pt x="942976" y="112673"/>
                </a:lnTo>
                <a:lnTo>
                  <a:pt x="1005840" y="168034"/>
                </a:lnTo>
                <a:lnTo>
                  <a:pt x="1068705" y="232213"/>
                </a:lnTo>
                <a:lnTo>
                  <a:pt x="1131570" y="303820"/>
                </a:lnTo>
                <a:lnTo>
                  <a:pt x="1194435" y="381306"/>
                </a:lnTo>
                <a:lnTo>
                  <a:pt x="1257301" y="462992"/>
                </a:lnTo>
                <a:lnTo>
                  <a:pt x="1320165" y="547112"/>
                </a:lnTo>
                <a:lnTo>
                  <a:pt x="1383030" y="631843"/>
                </a:lnTo>
                <a:lnTo>
                  <a:pt x="1445895" y="715353"/>
                </a:lnTo>
                <a:lnTo>
                  <a:pt x="1508760" y="795832"/>
                </a:lnTo>
                <a:lnTo>
                  <a:pt x="1571626" y="871539"/>
                </a:lnTo>
                <a:lnTo>
                  <a:pt x="1634490" y="940835"/>
                </a:lnTo>
                <a:lnTo>
                  <a:pt x="1697355" y="1002220"/>
                </a:lnTo>
                <a:lnTo>
                  <a:pt x="1760220" y="1054365"/>
                </a:lnTo>
                <a:lnTo>
                  <a:pt x="1823085" y="1096141"/>
                </a:lnTo>
                <a:lnTo>
                  <a:pt x="1885951" y="1126645"/>
                </a:lnTo>
                <a:lnTo>
                  <a:pt x="1948815" y="1145215"/>
                </a:lnTo>
                <a:lnTo>
                  <a:pt x="2011680" y="1151450"/>
                </a:lnTo>
                <a:lnTo>
                  <a:pt x="2074545" y="1145215"/>
                </a:lnTo>
                <a:lnTo>
                  <a:pt x="2137410" y="1126645"/>
                </a:lnTo>
                <a:lnTo>
                  <a:pt x="2200276" y="1096141"/>
                </a:lnTo>
                <a:lnTo>
                  <a:pt x="2263140" y="1054365"/>
                </a:lnTo>
                <a:lnTo>
                  <a:pt x="2326005" y="1002220"/>
                </a:lnTo>
                <a:lnTo>
                  <a:pt x="2388870" y="940835"/>
                </a:lnTo>
                <a:lnTo>
                  <a:pt x="2451735" y="871539"/>
                </a:lnTo>
                <a:lnTo>
                  <a:pt x="2514601" y="795832"/>
                </a:lnTo>
                <a:lnTo>
                  <a:pt x="2577465" y="715353"/>
                </a:lnTo>
                <a:lnTo>
                  <a:pt x="2640330" y="631843"/>
                </a:lnTo>
                <a:lnTo>
                  <a:pt x="2703195" y="547112"/>
                </a:lnTo>
                <a:lnTo>
                  <a:pt x="2766060" y="462992"/>
                </a:lnTo>
                <a:lnTo>
                  <a:pt x="2828926" y="381306"/>
                </a:lnTo>
                <a:lnTo>
                  <a:pt x="2891790" y="303820"/>
                </a:lnTo>
                <a:lnTo>
                  <a:pt x="2954655" y="232213"/>
                </a:lnTo>
                <a:lnTo>
                  <a:pt x="3017520" y="168034"/>
                </a:lnTo>
                <a:lnTo>
                  <a:pt x="3080385" y="112673"/>
                </a:lnTo>
                <a:lnTo>
                  <a:pt x="3143251" y="67328"/>
                </a:lnTo>
                <a:lnTo>
                  <a:pt x="3206115" y="32981"/>
                </a:lnTo>
                <a:lnTo>
                  <a:pt x="3268980" y="10376"/>
                </a:lnTo>
                <a:lnTo>
                  <a:pt x="3331845" y="0"/>
                </a:lnTo>
                <a:lnTo>
                  <a:pt x="3394710" y="2080"/>
                </a:lnTo>
                <a:lnTo>
                  <a:pt x="3457576" y="16571"/>
                </a:lnTo>
                <a:lnTo>
                  <a:pt x="3520440" y="43157"/>
                </a:lnTo>
                <a:lnTo>
                  <a:pt x="3583305" y="81265"/>
                </a:lnTo>
                <a:lnTo>
                  <a:pt x="3646170" y="130069"/>
                </a:lnTo>
                <a:lnTo>
                  <a:pt x="3709035" y="188512"/>
                </a:lnTo>
                <a:lnTo>
                  <a:pt x="3771901" y="255330"/>
                </a:lnTo>
                <a:lnTo>
                  <a:pt x="3834765" y="329076"/>
                </a:lnTo>
                <a:lnTo>
                  <a:pt x="3897630" y="408154"/>
                </a:lnTo>
                <a:lnTo>
                  <a:pt x="3960495" y="490851"/>
                </a:lnTo>
                <a:lnTo>
                  <a:pt x="4023360" y="575378"/>
                </a:lnTo>
              </a:path>
            </a:pathLst>
          </a:custGeom>
          <a:noFill/>
          <a:ln w="3810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59367" y="2336583"/>
            <a:ext cx="91440" cy="91440"/>
          </a:xfrm>
          <a:prstGeom prst="ellipse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62872" y="3027883"/>
            <a:ext cx="91440" cy="91440"/>
          </a:xfrm>
          <a:prstGeom prst="ellipse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6376" y="2853206"/>
            <a:ext cx="91440" cy="91440"/>
          </a:xfrm>
          <a:prstGeom prst="ellipse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291840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3373B"/>
                </a:solidFill>
                <a:latin typeface="Calibri"/>
              </a:rPr>
              <a:t>Δs,  κ,  dκ/ds, 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977639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8A979B"/>
                </a:solidFill>
                <a:latin typeface="Calibri"/>
              </a:rPr>
              <a:t>Đại lượng nội tại tính trên từng cặp điểm liền kề — không đổi khi xoay/tịnh tiến.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760720"/>
            <a:ext cx="9418320" cy="7772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5760720"/>
            <a:ext cx="9144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⇒ 0 kênh phụ thuộc khung quy chiếu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  (đã bỏ sin θ, cos θ, θ).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Bước 2: Kiến trúc SE2RoadNet (InvariantBlock ×6)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16/37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25880"/>
            <a:ext cx="3657600" cy="658368"/>
          </a:xfrm>
          <a:prstGeom prst="roundRect">
            <a:avLst/>
          </a:prstGeom>
          <a:solidFill>
            <a:srgbClr val="D6DEE0"/>
          </a:solidFill>
          <a:ln w="1778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3657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Linear 7→192 + LN + GELU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1984248"/>
            <a:ext cx="0" cy="274320"/>
          </a:xfrm>
          <a:prstGeom prst="line">
            <a:avLst/>
          </a:prstGeom>
          <a:ln w="2794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2258568"/>
            <a:ext cx="3657600" cy="658368"/>
          </a:xfrm>
          <a:prstGeom prst="roundRect">
            <a:avLst/>
          </a:prstGeom>
          <a:solidFill>
            <a:srgbClr val="D6DEE0"/>
          </a:solidFill>
          <a:ln w="1778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58568"/>
            <a:ext cx="3657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Concat token [CLS]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916935"/>
            <a:ext cx="0" cy="274321"/>
          </a:xfrm>
          <a:prstGeom prst="line">
            <a:avLst/>
          </a:prstGeom>
          <a:ln w="2794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88720" y="3191256"/>
            <a:ext cx="3657600" cy="658368"/>
          </a:xfrm>
          <a:prstGeom prst="roundRect">
            <a:avLst/>
          </a:prstGeom>
          <a:solidFill>
            <a:srgbClr val="FDF1E3"/>
          </a:solidFill>
          <a:ln w="1778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91256"/>
            <a:ext cx="3657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InvariantBlock ×6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3849624"/>
            <a:ext cx="0" cy="274320"/>
          </a:xfrm>
          <a:prstGeom prst="line">
            <a:avLst/>
          </a:prstGeom>
          <a:ln w="2794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88720" y="4123944"/>
            <a:ext cx="3657600" cy="658368"/>
          </a:xfrm>
          <a:prstGeom prst="roundRect">
            <a:avLst/>
          </a:prstGeom>
          <a:solidFill>
            <a:srgbClr val="D6DEE0"/>
          </a:solidFill>
          <a:ln w="1778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23944"/>
            <a:ext cx="3657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Pool theo [CLS]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4782312"/>
            <a:ext cx="0" cy="274319"/>
          </a:xfrm>
          <a:prstGeom prst="line">
            <a:avLst/>
          </a:prstGeom>
          <a:ln w="2794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88720" y="5056632"/>
            <a:ext cx="3657600" cy="658368"/>
          </a:xfrm>
          <a:prstGeom prst="roundRect">
            <a:avLst/>
          </a:prstGeom>
          <a:solidFill>
            <a:srgbClr val="EAF1EA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56632"/>
            <a:ext cx="3657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Head: LN → 64 →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55448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Mỗi điểm trên đường ⇒ một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token 192 chiều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Mỗi block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= MHA (8 heads) + FFN (512) + LayerNorm, với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relative-arclength bias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(Bước 3).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Pool [CLS] → 1 logit = xác suất FAIL.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572000"/>
            <a:ext cx="5760720" cy="118872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5" y="4663440"/>
            <a:ext cx="5504688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Quy mô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Tổng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2.11 M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tham số (~2.5× RoadFury) — vẫn nhẹ, train 24 phút.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Bước 3: Attention với bias hiệu số Δs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17/37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852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Vấn đề với PE tuyệt đối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85216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PE chuẩn (sin/cos của index i) khoá mô hình vào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vị trí tuyệt đối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của token. Xoay/cắt đường khác ⇒ index ứng arclength khác ⇒ vỡ bất biến.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5852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Giải pháp: relative-arclength RFF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852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Thêm bias vào ma trận attention, chỉ phụ thuộc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hiệu số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Δsᵢⱼ = sᵢ − sⱼ (bất biến tái tham số hoá):</a:t>
            </a:r>
          </a:p>
        </p:txBody>
      </p:sp>
      <p:pic>
        <p:nvPicPr>
          <p:cNvPr id="8" name="Picture 7" descr="fig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5212080" cy="6153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572000"/>
            <a:ext cx="5852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với ω ∈ ℝ</a:t>
            </a:r>
            <a:r>
              <a:rPr sz="900" b="0" i="0">
                <a:solidFill>
                  <a:srgbClr val="23373B"/>
                </a:solidFill>
                <a:latin typeface="Calibri"/>
              </a:rPr>
              <a:t>32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là tần số Fourier ngẫu nhiên (RFF) cố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188720"/>
            <a:ext cx="566928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188720"/>
            <a:ext cx="566928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188720"/>
            <a:ext cx="566928" cy="502920"/>
          </a:xfrm>
          <a:prstGeom prst="roundRect">
            <a:avLst/>
          </a:prstGeom>
          <a:solidFill>
            <a:srgbClr val="F9D9BA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188720"/>
            <a:ext cx="566928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19488" y="1188720"/>
            <a:ext cx="566928" cy="502920"/>
          </a:xfrm>
          <a:prstGeom prst="roundRect">
            <a:avLst/>
          </a:prstGeom>
          <a:solidFill>
            <a:srgbClr val="F9D9BA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1188720"/>
            <a:ext cx="566928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188720"/>
            <a:ext cx="56692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3373B"/>
                </a:solidFill>
                <a:latin typeface="Calibri"/>
              </a:rPr>
              <a:t>s6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1828800"/>
            <a:ext cx="1426464" cy="0"/>
          </a:xfrm>
          <a:prstGeom prst="line">
            <a:avLst/>
          </a:prstGeom>
          <a:ln w="22860">
            <a:solidFill>
              <a:srgbClr val="EB81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75320" y="190195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B811B"/>
                </a:solidFill>
                <a:latin typeface="Calibri"/>
              </a:rPr>
              <a:t>Δs = s₅ − s₃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331720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47304" y="2331720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6488" y="2331720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05672" y="2331720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2331720"/>
            <a:ext cx="329184" cy="329184"/>
          </a:xfrm>
          <a:prstGeom prst="rect">
            <a:avLst/>
          </a:prstGeom>
          <a:solidFill>
            <a:srgbClr val="FDF3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2331720"/>
            <a:ext cx="329184" cy="329184"/>
          </a:xfrm>
          <a:prstGeom prst="rect">
            <a:avLst/>
          </a:prstGeom>
          <a:solidFill>
            <a:srgbClr val="FDF8F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660903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7304" y="2660903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76488" y="2660903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05672" y="2660903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34856" y="2660903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40" y="2660903"/>
            <a:ext cx="329184" cy="329184"/>
          </a:xfrm>
          <a:prstGeom prst="rect">
            <a:avLst/>
          </a:prstGeom>
          <a:solidFill>
            <a:srgbClr val="FDF3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2990087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47304" y="2990087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6488" y="2990087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05672" y="2990087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856" y="2990087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64040" y="2990087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8120" y="3319272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3319272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6488" y="3319272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05672" y="3319272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34856" y="3319272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64040" y="3319272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3648456"/>
            <a:ext cx="329184" cy="329184"/>
          </a:xfrm>
          <a:prstGeom prst="rect">
            <a:avLst/>
          </a:prstGeom>
          <a:solidFill>
            <a:srgbClr val="FDF3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47304" y="3648456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76488" y="3648456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05672" y="3648456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34856" y="3648456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64040" y="3648456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18120" y="3977639"/>
            <a:ext cx="329184" cy="329184"/>
          </a:xfrm>
          <a:prstGeom prst="rect">
            <a:avLst/>
          </a:prstGeom>
          <a:solidFill>
            <a:srgbClr val="FDF8F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47304" y="3977639"/>
            <a:ext cx="329184" cy="329184"/>
          </a:xfrm>
          <a:prstGeom prst="rect">
            <a:avLst/>
          </a:prstGeom>
          <a:solidFill>
            <a:srgbClr val="FDF3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76488" y="3977639"/>
            <a:ext cx="329184" cy="329184"/>
          </a:xfrm>
          <a:prstGeom prst="rect">
            <a:avLst/>
          </a:prstGeom>
          <a:solidFill>
            <a:srgbClr val="FBEA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05672" y="3977639"/>
            <a:ext cx="329184" cy="329184"/>
          </a:xfrm>
          <a:prstGeom prst="rect">
            <a:avLst/>
          </a:prstGeom>
          <a:solidFill>
            <a:srgbClr val="F9DB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34856" y="3977639"/>
            <a:ext cx="329184" cy="329184"/>
          </a:xfrm>
          <a:prstGeom prst="rect">
            <a:avLst/>
          </a:prstGeom>
          <a:solidFill>
            <a:srgbClr val="F5C18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64040" y="3977639"/>
            <a:ext cx="329184" cy="329184"/>
          </a:xfrm>
          <a:prstGeom prst="rect">
            <a:avLst/>
          </a:prstGeom>
          <a:solidFill>
            <a:srgbClr val="EE93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57200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1">
                <a:solidFill>
                  <a:srgbClr val="8A979B"/>
                </a:solidFill>
                <a:latin typeface="Calibri"/>
              </a:rPr>
              <a:t>Heatmap: attention giảm theo |Δsᵢⱼ| — bias chỉ phụ thuộc hiệu số.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806440"/>
            <a:ext cx="1088136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806440"/>
            <a:ext cx="10607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Chi phí: </a:t>
            </a:r>
            <a:r>
              <a:rPr sz="1350" b="1" i="0">
                <a:solidFill>
                  <a:srgbClr val="23373B"/>
                </a:solidFill>
                <a:latin typeface="Calibri"/>
              </a:rPr>
              <a:t>O(B·L²·32) mỗi block — điểm tốn nhất (24 phút train). Cải tiến tương lai: RoPE-1D trên s_norm.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Bước 4: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18/37</a:t>
            </a:r>
          </a:p>
        </p:txBody>
      </p:sp>
      <p:pic>
        <p:nvPicPr>
          <p:cNvPr id="4" name="Picture 3" descr="gen_focal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74" y="1097280"/>
            <a:ext cx="580885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097280"/>
            <a:ext cx="5120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Vì sao Focal Loss?</a:t>
            </a:r>
          </a:p>
        </p:txBody>
      </p:sp>
      <p:pic>
        <p:nvPicPr>
          <p:cNvPr id="6" name="Picture 5" descr="fig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08760"/>
            <a:ext cx="4572000" cy="444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2148840"/>
            <a:ext cx="51206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FAIL chỉ ~30–40%; BCE thuần ⇒ model “đoán PASS hết”. Hệ số (1−p̂ₜ)^γ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down-weight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ca dễ,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up-weight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ca khó.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46120"/>
            <a:ext cx="5120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Cấu hình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3611880"/>
          <a:ext cx="5120640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AdamW (wd 1e-3)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5e-4 cosine + warmup 5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Batch / Epochs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384 / 80 (SWA từ 56)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bf16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Sampler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WeightedRandom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Wall-clock / Params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3373B"/>
                          </a:solidFill>
                          <a:latin typeface="Calibri"/>
                        </a:rPr>
                        <a:t>24.2 phút  ·  2.11 M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Đánh giá thực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Chỉ số đánh giá: APFD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19/37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852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Average Percentage of Faults Detected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Với hoán vị π trên n test (m là FAIL), TFᵢ là vị trí fault thứ i:</a:t>
            </a:r>
          </a:p>
        </p:txBody>
      </p:sp>
      <p:pic>
        <p:nvPicPr>
          <p:cNvPr id="5" name="Picture 4" descr="fi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5303520" cy="986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6616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Khoảng: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[0, 1], càng cao càng tốt.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8A979B"/>
                </a:solidFill>
                <a:latin typeface="Calibri"/>
              </a:rPr>
              <a:t>Ngẫu nhiên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≈ 0.5;  </a:t>
            </a:r>
            <a:r>
              <a:rPr sz="1500" b="1" i="0">
                <a:solidFill>
                  <a:srgbClr val="2E7D32"/>
                </a:solidFill>
                <a:latin typeface="Calibri"/>
              </a:rPr>
              <a:t>Lý tưởng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≈ 1.0.</a:t>
            </a:r>
          </a:p>
        </p:txBody>
      </p:sp>
      <p:pic>
        <p:nvPicPr>
          <p:cNvPr id="7" name="Picture 6" descr="gen_apf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394960" cy="3550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49240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8A979B"/>
                </a:solidFill>
                <a:latin typeface="Calibri"/>
              </a:rPr>
              <a:t>Ranking tốt ⇒ đường cong tăng dốc đứng từ đầu.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Giao thức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20/37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20440" cy="3931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520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3373B"/>
                </a:solidFill>
                <a:latin typeface="Calibri"/>
              </a:rPr>
              <a:t>1. Single-pass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920240"/>
            <a:ext cx="2606040" cy="0"/>
          </a:xfrm>
          <a:prstGeom prst="line">
            <a:avLst/>
          </a:prstGeom>
          <a:ln w="12700">
            <a:solidFill>
              <a:srgbClr val="233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14884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Xếp hạng 1 lần trên toàn</a:t>
            </a:r>
          </a:p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Competition split (956 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2900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APFD = 0.8047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188720"/>
            <a:ext cx="3520440" cy="39319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17320"/>
            <a:ext cx="3520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EB811B"/>
                </a:solidFill>
                <a:latin typeface="Calibri"/>
              </a:rPr>
              <a:t>2. Multi-trial (30 lần)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1920240"/>
            <a:ext cx="2606040" cy="0"/>
          </a:xfrm>
          <a:prstGeom prst="line">
            <a:avLst/>
          </a:prstGeom>
          <a:ln w="12700">
            <a:solidFill>
              <a:srgbClr val="EB81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8848" y="214884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Mỗi trial: lấy ngẫu nhiên</a:t>
            </a:r>
          </a:p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287/956 test → APFD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8888" y="342900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342900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0.8048 ± 0.0118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114800"/>
            <a:ext cx="3154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8A979B"/>
                </a:solidFill>
                <a:latin typeface="Calibri"/>
              </a:rPr>
              <a:t>loại “may rủi” do thứ tự cố định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188720"/>
            <a:ext cx="3520440" cy="3931920"/>
          </a:xfrm>
          <a:prstGeom prst="roundRect">
            <a:avLst/>
          </a:prstGeom>
          <a:solidFill>
            <a:srgbClr val="EAF1E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417320"/>
            <a:ext cx="3520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3. Rotation probe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86216" y="1920240"/>
            <a:ext cx="2606040" cy="0"/>
          </a:xfrm>
          <a:prstGeom prst="line">
            <a:avLst/>
          </a:prstGeom>
          <a:ln w="1270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1896" y="2148840"/>
            <a:ext cx="3154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Xoay toàn bộ split bằng</a:t>
            </a:r>
          </a:p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{0, 30, 60, 90, 180, −45}°</a:t>
            </a:r>
          </a:p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rồi đánh giá lại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31936" y="342900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3429000"/>
            <a:ext cx="2514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Δ = max − min APFD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41648" y="3154680"/>
            <a:ext cx="256032" cy="0"/>
          </a:xfrm>
          <a:prstGeom prst="line">
            <a:avLst/>
          </a:prstGeom>
          <a:ln w="3048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54696" y="3154680"/>
            <a:ext cx="256031" cy="0"/>
          </a:xfrm>
          <a:prstGeom prst="line">
            <a:avLst/>
          </a:prstGeom>
          <a:ln w="30480">
            <a:solidFill>
              <a:srgbClr val="5B7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5760720"/>
            <a:ext cx="1033272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6072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Ba lớp: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single-pass (điểm chính) → multi-trial (độ ổn định) → rotation probe (kiểm chứng bất biến).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Kết quả headline: Bất biến phép xoay Δ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21/37</a:t>
            </a:r>
          </a:p>
        </p:txBody>
      </p:sp>
      <p:pic>
        <p:nvPicPr>
          <p:cNvPr id="4" name="Picture 3" descr="gen_rotation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97789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097280"/>
          <a:ext cx="45720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Xoay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ITEP4SDC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SE2RoadNet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0.7810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+30°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0.7240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+60°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0.7518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+90°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0.7396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+180°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0.7334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−45°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0.7627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73B"/>
                          </a:solidFill>
                          <a:latin typeface="Calibri"/>
                        </a:rPr>
                        <a:t>0.8047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0.0570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3373B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4160520"/>
            <a:ext cx="4572000" cy="12344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4160520"/>
            <a:ext cx="429768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Không phải “trong sai số”: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6 góc xoay, APFD bằng nhau đến từng bit float (= 0) ⇒ pipeline 7 kênh trả vector pixel-identical sau xoay.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B811B"/>
                </a:solidFill>
                <a:latin typeface="Calibri"/>
              </a:rPr>
              <a:t>⇒ Lý thuyết được xác minh bằng thực nghiệm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, không cần nói “xấp xỉ”.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Bảng xếp hạng: so với 8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22/37</a:t>
            </a:r>
          </a:p>
        </p:txBody>
      </p:sp>
      <p:pic>
        <p:nvPicPr>
          <p:cNvPr id="4" name="Picture 3" descr="gen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583680" cy="344468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280160"/>
          <a:ext cx="4297680" cy="822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05840"/>
                <a:gridCol w="1005840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APFD</a:t>
                      </a:r>
                    </a:p>
                  </a:txBody>
                  <a:tcPr anchor="ctr" marL="63500" marR="38100" marT="12700" marB="12700">
                    <a:solidFill>
                      <a:srgbClr val="23373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73B"/>
                          </a:solidFill>
                          <a:latin typeface="Calibri"/>
                        </a:rPr>
                        <a:t>RoadFury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73B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73B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 marL="63500" marR="38100" marT="12700" marB="12700"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373B"/>
                          </a:solidFill>
                          <a:latin typeface="Calibri"/>
                        </a:rPr>
                        <a:t>SE2RoadNet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3373B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3373B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anchor="ctr" marL="63500" marR="38100" marT="12700" marB="12700">
                    <a:solidFill>
                      <a:srgbClr val="E7F1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2468880"/>
            <a:ext cx="4297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Đọc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834640"/>
            <a:ext cx="429768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SE2RoadNet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ngang APFD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baseline tốt nhất, nhưng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tăng AUC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(+0.017) và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thêm bảo chứng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Δ=0 mà không method nào có ⇒ cải thiện theo nghĩa </a:t>
            </a:r>
            <a:r>
              <a:rPr sz="1400" b="0" i="1">
                <a:solidFill>
                  <a:srgbClr val="23373B"/>
                </a:solidFill>
                <a:latin typeface="Calibri"/>
              </a:rPr>
              <a:t>Pareto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88136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07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Không đánh đổi: giữ APFD đỉnh, tăng AUC, và là phương pháp duy nhất bất biến SE(2) tuyệt đối.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Hạn chế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03320"/>
            <a:ext cx="2377440" cy="38100"/>
          </a:xfrm>
          <a:prstGeom prst="rect">
            <a:avLst/>
          </a:prstGeom>
          <a:solidFill>
            <a:srgbClr val="EB8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Hạn chế: nhìn thẳng vào điểm yếu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23/37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Về chỉ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AUC và APFD phân kỳ: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AUC cao hơn không kéo theo APFD cao hơn — phải lập luận cẩn thận metric nào quan trọng khi nào.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Listwise loss chưa tăng APFD trung bình: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chỉ giảm σ ⇒ đóng góp “ổn định”, không phải headline.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Trần APFD ở bench FAIL cao: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ví dụ 95% FAIL ⇒ APFD ≈ 0.52 là ceiling, không phải thất bại.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Về phương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Conformal an toàn còn dở: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v1 valid-nhưng-vô nghĩa, v2 informative-nhưng-invalid; cần v3 mới ship.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Dịch phân phối chưa đóng: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IRM / TENT chưa thu hẹp gap SensoDat→Competition (negative đã biết).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811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Bất biến lấy mẫu là xấp xỉ: </a:t>
            </a:r>
            <a:r>
              <a:rPr sz="1400" b="0" i="0">
                <a:solidFill>
                  <a:srgbClr val="B03030"/>
                </a:solidFill>
                <a:latin typeface="Calibri"/>
              </a:rPr>
              <a:t>resolution probe Δ ≈ 0.0012 (rất nhỏ) — chưa exact như phép xoay.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881360" cy="73152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07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3373B"/>
                </a:solidFill>
                <a:latin typeface="Calibri"/>
              </a:rPr>
              <a:t>Bất biến xoay là exact; các đảm bảo khác (resolution, conformal) vẫn đang hoàn thiện — báo cáo trung thực thay vì giấu.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24/37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349240" cy="2057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18872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 i="0">
                <a:solidFill>
                  <a:srgbClr val="F3CFA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Tổng quát hoá đa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Một công thức, 8+ benchmark công khai (OOB, SDC-Scissor, sdc-travel…) — APFD không tinh chỉnh theo từng bench.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349240" cy="2057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118872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 i="0">
                <a:solidFill>
                  <a:srgbClr val="F3CFA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An toàn có bảo chứng (Conformal 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Chặn dưới prefix-APFD vừa valid vừa non-vacuous; audit tỉ lệ vi phạm độ cong.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5349240" cy="2057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47472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 i="0">
                <a:solidFill>
                  <a:srgbClr val="F3CFA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Bất biến lấy mẫu exact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RoPE-1D trên s_norm thay RFF bias ⇒ rẻ hơn và tiến tới resolution-Δ =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29000"/>
            <a:ext cx="5349240" cy="2057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347472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 i="0">
                <a:solidFill>
                  <a:srgbClr val="F3CFA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SSL vật lý (physics-informed)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43400"/>
            <a:ext cx="48920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3373B"/>
                </a:solidFill>
                <a:latin typeface="Calibri"/>
              </a:rPr>
              <a:t>Pretext task gắn với độ cong/jerk để học biểu diễn nền — thay SSL hình học ngây thơ (chuyển kém).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⇒ Mục tiêu: từ một baseline bất biến cho SDC → </a:t>
            </a:r>
            <a:r>
              <a:rPr sz="1400" b="1" i="0">
                <a:solidFill>
                  <a:srgbClr val="23373B"/>
                </a:solidFill>
                <a:latin typeface="Calibri"/>
              </a:rPr>
              <a:t>công thức chung</a:t>
            </a:r>
            <a:r>
              <a:rPr sz="1400" b="0" i="0">
                <a:solidFill>
                  <a:srgbClr val="23373B"/>
                </a:solidFill>
                <a:latin typeface="Calibri"/>
              </a:rPr>
              <a:t> bất biến &amp; audit-readable cho mọi benchmark.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Tài liệu tham khảo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25/37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1.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C. Birchler, C. Rohrbach, T. Kehrer, S. Panichella.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SensoDat: Simulation-based Sensor Dataset of Self-driving Cars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MSR 2024.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2.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C. Birchler et al.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Single and Multi-objective Test Cases Prioritization for Self-driving Cars in Virtual Environments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ACM TOSEM 2023.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3.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ICST/SBFT Tool Competition — Self-Driving Car Testing (Cyber-Physical Systems)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2023–2025.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4.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G. Rothermel, R. Untch, C. Chu, M. Harrold.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Prioritizing Test Cases for Regression Testing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IEEE TSE 2001.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5.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A. Vaswani et al.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Attention Is All You Need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NeurIPS 2017.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6.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T.-Y. Lin et al.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Focal Loss for Dense Object Detection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ICCV 2017.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7.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P. Izmailov et al.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Averaging Weights Leads to Wider Optima and Better Generalization (SWA)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UAI 2018.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8.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T. Cohen, M. Welling.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Group Equivariant Convolutional Networks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ICML 2016.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9.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A. Rahimi, B. Recht.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Random Features for Large-Scale Kernel Machines (RFF)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NeurIPS 2007.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3373B"/>
                </a:solidFill>
                <a:latin typeface="Calibri"/>
              </a:rPr>
              <a:t>10. 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A. Angelopoulos, S. Bates. </a:t>
            </a:r>
            <a:r>
              <a:rPr sz="1350" b="0" i="1">
                <a:solidFill>
                  <a:srgbClr val="23373B"/>
                </a:solidFill>
                <a:latin typeface="Calibri"/>
              </a:rPr>
              <a:t>A Gentle Introduction to Conformal Prediction</a:t>
            </a:r>
            <a:r>
              <a:rPr sz="1350" b="0" i="0">
                <a:solidFill>
                  <a:srgbClr val="23373B"/>
                </a:solidFill>
                <a:latin typeface="Calibri"/>
              </a:rPr>
              <a:t>. 2021.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55448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3373B"/>
                </a:solidFill>
                <a:latin typeface="Calibri"/>
              </a:rPr>
              <a:t>Cảm ơn thầy đã lắng nghe!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EB811B"/>
                </a:solidFill>
                <a:latin typeface="Calibri"/>
              </a:rPr>
              <a:t>Q&amp;A — Questions &amp; Discussion</a:t>
            </a:r>
          </a:p>
        </p:txBody>
      </p:sp>
      <p:pic>
        <p:nvPicPr>
          <p:cNvPr id="4" name="Picture 3" descr="hcm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206240"/>
            <a:ext cx="1371600" cy="1371600"/>
          </a:xfrm>
          <a:prstGeom prst="rect">
            <a:avLst/>
          </a:prstGeom>
        </p:spPr>
      </p:pic>
      <p:pic>
        <p:nvPicPr>
          <p:cNvPr id="5" name="Picture 4" descr="ics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535" y="429768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4297680"/>
            <a:ext cx="12191695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Test Prioritization for Self-Driving Cars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SE2RoadNet — bất biến SE(2) bằng kiến trúc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Trần Chí Nguyên · Huỳnh Trung Kiệt · Đào Sỹ Duy Minh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University of Science, VNU-HCM · ICST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Backup: APFD — ví dụ tính 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26/37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373B"/>
                </a:solidFill>
                <a:latin typeface="Calibri"/>
              </a:rPr>
              <a:t>Giả sử n = 5 test, m = 2 FAIL. Hai cách xếp hạng: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Xếp tốt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 (FAIL ở vị trí 1, 2)</a:t>
            </a:r>
          </a:p>
        </p:txBody>
      </p:sp>
      <p:pic>
        <p:nvPicPr>
          <p:cNvPr id="6" name="Picture 5" descr="fi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86000"/>
            <a:ext cx="4572000" cy="81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B03030"/>
                </a:solidFill>
                <a:latin typeface="Calibri"/>
              </a:rPr>
              <a:t>Xếp kém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  (FAIL ở vị trí 4, 5)</a:t>
            </a:r>
          </a:p>
        </p:txBody>
      </p:sp>
      <p:pic>
        <p:nvPicPr>
          <p:cNvPr id="8" name="Picture 7" descr="fig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4572000" cy="81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4572000"/>
            <a:ext cx="9966960" cy="91440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4572000"/>
            <a:ext cx="96926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Cùng một tập lỗi — chỉ khác thứ tự — APFD chênh nhau 4 lần. Đó là toàn bộ giá trị của test prioritization.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Backup: Multi-trial protocol (vì sao 30 lần?)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27/37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APFD single-pass nhạy với thứ tự cố định của tập test ⇒ một con số dễ “may rủi”.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Mỗi trial: lấy ngẫu nhiên max(50, 0.3·|test|) = 287/956 test, tính APFD độc lập.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Báo cáo APFD ± σ qua 30 trials, seed = 42.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σ thường là con số xuất bản quan trọng hơn mean (đo độ ổn định của ranking).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846320"/>
            <a:ext cx="6675120" cy="82296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4846320"/>
            <a:ext cx="640080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SE2RoadNet: 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0.8048 ± 0.0118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  (mean ± σ, 30 trials)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Backup: AUC vs APFD — vì sao tách bạch?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28/37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94960" cy="11887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3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280160"/>
            <a:ext cx="5138928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3373B"/>
                </a:solidFill>
                <a:latin typeface="Calibri"/>
              </a:rPr>
              <a:t>AUC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đo khả năng phân loại PASS/FAIL trên từng cặp — không quan tâm thứ hạng tuyệt đối.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11887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5936" y="1280160"/>
            <a:ext cx="5138928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B811B"/>
                </a:solidFill>
                <a:latin typeface="Calibri"/>
              </a:rPr>
              <a:t>APFD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73B"/>
                </a:solidFill>
                <a:latin typeface="Calibri"/>
              </a:rPr>
              <a:t>đo tốc độ lộ lỗi theo thứ tự chạy — chính là cái competition tối ưu.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Trong gần như mọi thí nghiệm của nhóm, AUC và APFD phân kỳ: tăng AUC không đảm bảo tăng APFD.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SE2RoadNet tăng AUC (0.917 → 0.934) trong khi APFD giữ đỉnh (≈ 0.805).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B811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3373B"/>
                </a:solidFill>
                <a:latin typeface="Calibri"/>
              </a:rPr>
              <a:t>⇒ Khi báo cáo phải nói rõ metric nào đang được tối ưu cho tình huống nào.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881360" cy="77724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Không gộp AUC và APFD thành “một điểm tốt hơn” — chúng đo hai thứ khác nhau.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Backup: Resolution probe (bất biến lấy mẫu)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29/37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Lấy cùng một con đường, resample ở N ∈ {64, …, 197} điểm rồi đánh giá lại.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Đo Δ = max − min APFD qua các mức N.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Kết quả: Δ ≈ 0.0012 — rất nhỏ nhưng chưa exact như phép xoay (Δ = 0).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Lý do: bias RFF theo Δs là gần-bất-biến tái tham số hoá, không tuyệt đối ⇒ hướng RoPE-1D.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10515600" cy="82296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102412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3373B"/>
                </a:solidFill>
                <a:latin typeface="Calibri"/>
              </a:rPr>
              <a:t>Phép xoay: Δ = 0 exact (bằng kiến trúc). Lấy mẫu: Δ ≈ 0.0012 (gần như, đang tiến tới exact).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0"/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Backup: Chi phí ở quy mô lớn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419088"/>
            <a:ext cx="1005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8A979B"/>
                </a:solidFill>
                <a:latin typeface="Calibri"/>
              </a:rPr>
              <a:t>30/37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Inference: 1 forward pass/đường, batch (n, 7, 197) ⇒ chấm cả tập trong vài giây GPU.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Chi phí thật nằm ở mô phỏng vật lý của các test được chọn — không phải ở scorer.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Ranking tốt cắt 50–80% số kịch bản cần chạy mô phỏng ⇒ tiết kiệm nhiều giờ CPU.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B811B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23373B"/>
                </a:solidFill>
                <a:latin typeface="Calibri"/>
              </a:rPr>
              <a:t>Train một lần: 24.2 phút (Kaggle), 2.11 M tham số ⇒ tái lập rẻ.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29200"/>
            <a:ext cx="10881360" cy="822960"/>
          </a:xfrm>
          <a:prstGeom prst="roundRect">
            <a:avLst/>
          </a:prstGeom>
          <a:solidFill>
            <a:srgbClr val="FDF1E3"/>
          </a:solidFill>
          <a:ln w="15240">
            <a:solidFill>
              <a:srgbClr val="EB8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1">
                <a:solidFill>
                  <a:srgbClr val="23373B"/>
                </a:solidFill>
                <a:latin typeface="Calibri"/>
              </a:rPr>
              <a:t>“The best simulation is the one you never run.”</a:t>
            </a:r>
            <a:r>
              <a:rPr sz="1500" b="1" i="0">
                <a:solidFill>
                  <a:srgbClr val="23373B"/>
                </a:solidFill>
                <a:latin typeface="Calibri"/>
              </a:rPr>
              <a:t> — scorer rẻ, ngân sách dồn cho các test có khả năng lộ lỗi cao nhất.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