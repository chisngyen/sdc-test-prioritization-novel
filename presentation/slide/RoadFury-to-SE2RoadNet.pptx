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0" autoCompressPictures="0" embedTrueTypeFonts="1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embeddedFontLst>
    <p:embeddedFont>
      <p:font typeface="Be Vietnam Pro"/>
      <p:regular r:id="rId9001"/>
      <p:bold r:id="rId9002"/>
      <p:italic r:id="rId9003"/>
      <p:boldItalic r:id="rId9004"/>
    </p:embeddedFont>
    <p:embeddedFont>
      <p:font typeface="JetBrains Mono"/>
      <p:regular r:id="rId9005"/>
      <p:bold r:id="rId9006"/>
      <p:italic r:id="rId9007"/>
      <p:boldItalic r:id="rId900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9001" Type="http://schemas.openxmlformats.org/officeDocument/2006/relationships/font" Target="fonts/font1.fntdata"/><Relationship Id="rId9002" Type="http://schemas.openxmlformats.org/officeDocument/2006/relationships/font" Target="fonts/font2.fntdata"/><Relationship Id="rId9003" Type="http://schemas.openxmlformats.org/officeDocument/2006/relationships/font" Target="fonts/font3.fntdata"/><Relationship Id="rId9004" Type="http://schemas.openxmlformats.org/officeDocument/2006/relationships/font" Target="fonts/font4.fntdata"/><Relationship Id="rId9005" Type="http://schemas.openxmlformats.org/officeDocument/2006/relationships/font" Target="fonts/font5.fntdata"/><Relationship Id="rId9006" Type="http://schemas.openxmlformats.org/officeDocument/2006/relationships/font" Target="fonts/font6.fntdata"/><Relationship Id="rId9007" Type="http://schemas.openxmlformats.org/officeDocument/2006/relationships/font" Target="fonts/font7.fntdata"/><Relationship Id="rId9008" Type="http://schemas.openxmlformats.org/officeDocument/2006/relationships/font" Target="fonts/font8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hcmus.edu.vn" TargetMode="External"/><Relationship Id="rId3" Type="http://schemas.openxmlformats.org/officeDocument/2006/relationships/hyperlink" Target="https://conf.researchr.org/home/icst-2026" TargetMode="External"/><Relationship Id="rId4" Type="http://schemas.openxmlformats.org/officeDocument/2006/relationships/hyperlink" Target="https://drive.google.com/file/d/1JC0NY3qfW-if9cM74Zi3d0VaTcA-1el_/view?usp=sharing" TargetMode="External"/><Relationship Id="rId5" Type="http://schemas.openxmlformats.org/officeDocument/2006/relationships/hyperlink" Target="https://www.facebook.com/reel/1528755028625867" TargetMode="External"/><Relationship Id="rId6" Type="http://schemas.openxmlformats.org/officeDocument/2006/relationships/hyperlink" Target="https://github.com/christianbirchler-org/sensodat" TargetMode="External"/><Relationship Id="rId7" Type="http://schemas.openxmlformats.org/officeDocument/2006/relationships/hyperlink" Target="https://www.beamng.tech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536575"/>
            <a:ext cx="431423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8BA0A2"/>
                </a:solidFill>
                <a:latin typeface="JetBrains Mono"/>
              </a:rPr>
              <a:t>UNIVERSITY OF SCIENCE · VNU-HCM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421037"/>
            <a:ext cx="118618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THE SELF-DRIVING CAR TESTING COMPETITION · ICST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681387"/>
            <a:ext cx="11861800" cy="94107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 spc="-150">
                <a:solidFill>
                  <a:srgbClr val="F6F4EF"/>
                </a:solidFill>
                <a:latin typeface="Be Vietnam Pro"/>
              </a:rPr>
              <a:t>RoadFury </a:t>
            </a:r>
            <a:r>
              <a:rPr sz="4600" b="1" i="0" spc="-150">
                <a:solidFill>
                  <a:srgbClr val="E0772B"/>
                </a:solidFill>
                <a:latin typeface="Be Vietnam Pro"/>
              </a:rPr>
              <a:t>→</a:t>
            </a:r>
            <a:r>
              <a:rPr sz="4600" b="1" i="0" spc="-150">
                <a:solidFill>
                  <a:srgbClr val="F6F4EF"/>
                </a:solidFill>
                <a:latin typeface="Be Vietnam Pro"/>
              </a:rPr>
              <a:t> SE2RoadNet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462437"/>
            <a:ext cx="9779000" cy="38925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C3CDCE"/>
                </a:solidFill>
                <a:latin typeface="Be Vietnam Pro"/>
              </a:rPr>
              <a:t>Ưu tiên kiểm thử xe tự lái — bất biến SE(2) bằng kiến trúc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5561509"/>
            <a:ext cx="7747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TÓM TẮT ĐỀ TÀI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5859959"/>
            <a:ext cx="6959600" cy="49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C3CDCE"/>
                </a:solidFill>
                <a:latin typeface="Be Vietnam Pro"/>
              </a:rPr>
              <a:t>Xếp hạng kịch bản kiểm thử SDC để </a:t>
            </a:r>
            <a:r>
              <a:rPr sz="1250" b="1" i="0">
                <a:solidFill>
                  <a:srgbClr val="F6F4EF"/>
                </a:solidFill>
                <a:latin typeface="Be Vietnam Pro"/>
              </a:rPr>
              <a:t>lộ lỗi sớm</a:t>
            </a:r>
            <a:r>
              <a:rPr sz="1250" b="0" i="0">
                <a:solidFill>
                  <a:srgbClr val="C3CDCE"/>
                </a:solidFill>
                <a:latin typeface="Be Vietnam Pro"/>
              </a:rPr>
              <a:t>; mô hình bất biến phép xoay / lấy mẫu bằng </a:t>
            </a:r>
            <a:r>
              <a:rPr sz="1250" b="1" i="0">
                <a:solidFill>
                  <a:srgbClr val="F6F4EF"/>
                </a:solidFill>
                <a:latin typeface="Be Vietnam Pro"/>
              </a:rPr>
              <a:t>ràng buộc kiến trúc</a:t>
            </a:r>
            <a:r>
              <a:rPr sz="1250" b="0" i="0">
                <a:solidFill>
                  <a:srgbClr val="C3CDCE"/>
                </a:solidFill>
                <a:latin typeface="Be Vietnam Pro"/>
              </a:rPr>
              <a:t>, không bằng augmentation.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58325" y="5561509"/>
            <a:ext cx="3013075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NHÓM THỰC HIỆN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58325" y="5872659"/>
            <a:ext cx="3013075" cy="243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3CDCE"/>
                </a:solidFill>
                <a:latin typeface="Be Vietnam Pro"/>
              </a:rPr>
              <a:t>Trần Chí Nguyên · 23102244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58325" y="6116439"/>
            <a:ext cx="3013075" cy="243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3CDCE"/>
                </a:solidFill>
                <a:latin typeface="Be Vietnam Pro"/>
              </a:rPr>
              <a:t>Huỳnh Trung Kiệt · 23122039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58325" y="6360220"/>
            <a:ext cx="3013075" cy="243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3CDCE"/>
                </a:solidFill>
                <a:latin typeface="Be Vietnam Pro"/>
              </a:rPr>
              <a:t>Đào Sỹ Duy Minh · 23122041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0" y="406400"/>
            <a:ext cx="12065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MỤC LỤC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41350"/>
            <a:ext cx="12065000" cy="4705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pc="-25">
                <a:solidFill>
                  <a:srgbClr val="23373B"/>
                </a:solidFill>
                <a:latin typeface="Be Vietnam Pro"/>
              </a:rPr>
              <a:t>Nội dung chính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0000" y="1968500"/>
            <a:ext cx="5988645" cy="4127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3373B"/>
                </a:solidFill>
                <a:latin typeface="Be Vietnam Pro"/>
              </a:rPr>
              <a:t>Bối cảnh, bài toán &amp; công trình liên quan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0000" y="2724150"/>
            <a:ext cx="6381055" cy="4127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3373B"/>
                </a:solidFill>
                <a:latin typeface="Be Vietnam Pro"/>
              </a:rPr>
              <a:t>RoadFury: phương pháp nền tảng của nhóm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70000" y="3479800"/>
            <a:ext cx="4887020" cy="4127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E0772B"/>
                </a:solidFill>
                <a:latin typeface="Be Vietnam Pro"/>
              </a:rPr>
              <a:t>SE2RoadNet: đề xuất của nhóm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70000" y="4241800"/>
            <a:ext cx="3636863" cy="4127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3373B"/>
                </a:solidFill>
                <a:latin typeface="Be Vietnam Pro"/>
              </a:rPr>
              <a:t>Đánh giá thực nghiệm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70000" y="4997450"/>
            <a:ext cx="4316512" cy="4127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3373B"/>
                </a:solidFill>
                <a:latin typeface="Be Vietnam Pro"/>
              </a:rPr>
              <a:t>Hạn chế &amp; hướng phát triển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" y="6369050"/>
            <a:ext cx="12065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6E"/>
                </a:solidFill>
                <a:latin typeface="JetBrains Mono"/>
              </a:rPr>
              <a:t>+ 5 slide Backup cho Q&amp;A: APFD ví dụ tay · Multi-trial · AUC vs APFD · Resolution probe · Chi phí quy mô lớn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355600"/>
            <a:ext cx="11861800" cy="2330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150">
                <a:solidFill>
                  <a:srgbClr val="6B8082"/>
                </a:solidFill>
                <a:latin typeface="JetBrains Mono"/>
              </a:rPr>
              <a:t>ROADFURY → SE2ROADNET</a:t>
            </a:r>
            <a:r>
              <a:rPr sz="1100" b="0" i="0" spc="150">
                <a:solidFill>
                  <a:srgbClr val="6B8082"/>
                </a:solidFill>
                <a:latin typeface="JetBrains Mono"/>
              </a:rPr>
              <a:t> </a:t>
            </a:r>
            <a:r>
              <a:rPr sz="1100" b="0" i="0" spc="150">
                <a:solidFill>
                  <a:srgbClr val="6B8082"/>
                </a:solidFill>
                <a:latin typeface="JetBrains Mono"/>
              </a:rPr>
              <a:t>01 /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463502"/>
            <a:ext cx="11861800" cy="288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250">
                <a:solidFill>
                  <a:srgbClr val="E0772B"/>
                </a:solidFill>
                <a:latin typeface="JetBrains Mono"/>
              </a:rPr>
              <a:t>PHẦN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698452"/>
            <a:ext cx="11861800" cy="13131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 spc="-150">
                <a:solidFill>
                  <a:srgbClr val="F6F4EF"/>
                </a:solidFill>
                <a:latin typeface="Be Vietnam Pro"/>
              </a:rPr>
              <a:t>Bài toán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130973"/>
            <a:ext cx="8191500" cy="3079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DAEB0"/>
                </a:solidFill>
                <a:latin typeface="Be Vietnam Pro"/>
              </a:rPr>
              <a:t>Bối cảnh · phát biểu · bộ dữ liệu · công trình liên quan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0" y="406400"/>
            <a:ext cx="12065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BÀI TOÁN ·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41350"/>
            <a:ext cx="12065000" cy="4705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pc="-25">
                <a:solidFill>
                  <a:srgbClr val="23373B"/>
                </a:solidFill>
                <a:latin typeface="Be Vietnam Pro"/>
              </a:rPr>
              <a:t>Bối cảnh: Kiểm thử Self-Driving Car trong mô phỏng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850" y="1892399"/>
            <a:ext cx="3890466" cy="3079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C3E6B"/>
                </a:solidFill>
                <a:latin typeface="Be Vietnam Pro"/>
              </a:rPr>
              <a:t>Hàng ngàn kịch bản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850" y="2254349"/>
            <a:ext cx="3103066" cy="10349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C4C50"/>
                </a:solidFill>
                <a:latin typeface="Be Vietnam Pro"/>
              </a:rPr>
              <a:t>Sinh tự động các con đường (AmbieGen, Frenetic...) trên </a:t>
            </a:r>
            <a:r>
              <a:rPr sz="1300" b="1" i="0">
                <a:solidFill>
                  <a:srgbClr val="3C4C50"/>
                </a:solidFill>
                <a:latin typeface="Be Vietnam Pro"/>
              </a:rPr>
              <a:t>BeamNG.tech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. Mỗi đường = một bài kiểm thử giữ làn.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95316" y="1892399"/>
            <a:ext cx="3890466" cy="3079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0772B"/>
                </a:solidFill>
                <a:latin typeface="Be Vietnam Pro"/>
              </a:rPr>
              <a:t>Mô phỏng tốn kém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95316" y="2254349"/>
            <a:ext cx="3103066" cy="5232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C4C50"/>
                </a:solidFill>
                <a:latin typeface="Be Vietnam Pro"/>
              </a:rPr>
              <a:t>Mỗi kịch bản chạy vật lý thời gian thực ⇒ </a:t>
            </a:r>
            <a:r>
              <a:rPr sz="1300" b="1" i="0">
                <a:solidFill>
                  <a:srgbClr val="3C4C50"/>
                </a:solidFill>
                <a:latin typeface="Be Vietnam Pro"/>
              </a:rPr>
              <a:t>nhiều giờ CPU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 cho toàn tập.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85783" y="1892399"/>
            <a:ext cx="3890466" cy="3079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E7D5B"/>
                </a:solidFill>
                <a:latin typeface="Be Vietnam Pro"/>
              </a:rPr>
              <a:t>Phải ưu tiên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85783" y="2254349"/>
            <a:ext cx="3103066" cy="77910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C4C50"/>
                </a:solidFill>
                <a:latin typeface="Be Vietnam Pro"/>
              </a:rPr>
              <a:t>Xếp thứ tự để </a:t>
            </a:r>
            <a:r>
              <a:rPr sz="1300" b="1" i="0">
                <a:solidFill>
                  <a:srgbClr val="3C4C50"/>
                </a:solidFill>
                <a:latin typeface="Be Vietnam Pro"/>
              </a:rPr>
              <a:t>lỗi lộ sớm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 ⇒ chỉ cần chạy phần đầu hàng đợi đã lộ phần lớn lỗi, tiết kiệm chi phí mô phỏng.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350" y="5314752"/>
            <a:ext cx="11671300" cy="2330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B6E"/>
                </a:solidFill>
                <a:latin typeface="JetBrains Mono"/>
              </a:rPr>
              <a:t>Một con đường giữ làn: xe có thể đi đúng làn (PASS) hoặc lệch ra ngoài (FAIL)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" y="6350000"/>
            <a:ext cx="12065000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772B"/>
                </a:solidFill>
                <a:latin typeface="Be Vietnam Pro"/>
              </a:rPr>
              <a:t>Takeaway: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 Một thay đổi nhỏ có thể khiến xe lệch làn ở kịch bản hiếm ⇒ cần kiểm thử quy mô lớn, nhưng chạy hết thì quá đắt.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0" y="406400"/>
            <a:ext cx="12065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BÀI TOÁN ·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41350"/>
            <a:ext cx="12065000" cy="4705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pc="-25">
                <a:solidFill>
                  <a:srgbClr val="23373B"/>
                </a:solidFill>
                <a:latin typeface="Be Vietnam Pro"/>
              </a:rPr>
              <a:t>Phát biểu bài toán &amp; Tiêu chí đánh giá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9450" y="1339850"/>
            <a:ext cx="3894634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00">
                <a:solidFill>
                  <a:srgbClr val="23373B"/>
                </a:solidFill>
                <a:latin typeface="JetBrains Mono"/>
              </a:rPr>
              <a:t>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9450" y="1625600"/>
            <a:ext cx="3107234" cy="51300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C4C50"/>
                </a:solidFill>
                <a:latin typeface="Be Vietnam Pro"/>
              </a:rPr>
              <a:t>Đường = chuỗi điểm 2D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3373B"/>
                </a:solidFill>
                <a:latin typeface="JetBrains Mono"/>
              </a:rPr>
              <a:t>R = {p1,...,pN} ⊂ R²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9450" y="2174081"/>
            <a:ext cx="3894634" cy="2587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E"/>
                </a:solidFill>
                <a:latin typeface="Be Vietnam Pro"/>
              </a:rPr>
              <a:t>N thay đổi: 64-197 điểm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9450" y="2472531"/>
            <a:ext cx="3894634" cy="2587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E"/>
                </a:solidFill>
                <a:latin typeface="Be Vietnam Pro"/>
              </a:rPr>
              <a:t>Chỉ hình học, không có hành vi xe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6817" y="1339850"/>
            <a:ext cx="3894634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00">
                <a:solidFill>
                  <a:srgbClr val="2E7D5B"/>
                </a:solidFill>
                <a:latin typeface="JetBrains Mono"/>
              </a:rPr>
              <a:t>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6817" y="1625600"/>
            <a:ext cx="3894634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C4C50"/>
                </a:solidFill>
                <a:latin typeface="Be Vietnam Pro"/>
              </a:rPr>
              <a:t>Hoán vị π của n kịch bản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6817" y="1941116"/>
            <a:ext cx="3894634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C4C50"/>
                </a:solidFill>
                <a:latin typeface="Be Vietnam Pro"/>
              </a:rPr>
              <a:t>Sắp giảm dần theo điểm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400" y="3094831"/>
            <a:ext cx="11760200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D5B"/>
                </a:solidFill>
                <a:latin typeface="Be Vietnam Pro"/>
              </a:rPr>
              <a:t>Success Criterion: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 lỗi (FAIL) được xếp càng sớm càng tốt ⇒ APFD cao ⇒ tiết kiệm chi phí mô phỏng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750" y="3753247"/>
            <a:ext cx="4212134" cy="28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C3E6B"/>
                </a:solidFill>
                <a:latin typeface="Be Vietnam Pro"/>
              </a:rPr>
              <a:t>Cho trước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750" y="4064397"/>
            <a:ext cx="4212134" cy="2587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C4C50"/>
                </a:solidFill>
                <a:latin typeface="Be Vietnam Pro"/>
              </a:rPr>
              <a:t>Nhãn train y ∈ {0,1} (PASS/FAIL)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750" y="4370784"/>
            <a:ext cx="4212134" cy="2587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C4C50"/>
                </a:solidFill>
                <a:latin typeface="Be Vietnam Pro"/>
              </a:rPr>
              <a:t>Cùng ngân sách cho mọi tool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384" y="3753247"/>
            <a:ext cx="4212134" cy="28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5483F"/>
                </a:solidFill>
                <a:latin typeface="Be Vietnam Pro"/>
              </a:rPr>
              <a:t>Khó khăn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384" y="4064397"/>
            <a:ext cx="3424734" cy="4889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C4C50"/>
                </a:solidFill>
                <a:latin typeface="Be Vietnam Pro"/>
              </a:rPr>
              <a:t>Chỉ có hình học đường, không có phản ứng xe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384" y="4600972"/>
            <a:ext cx="4212134" cy="2587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C4C50"/>
                </a:solidFill>
                <a:latin typeface="Be Vietnam Pro"/>
              </a:rPr>
              <a:t>Tập thử out-of-distribution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2017" y="3753247"/>
            <a:ext cx="4212134" cy="28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0772B"/>
                </a:solidFill>
                <a:latin typeface="Be Vietnam Pro"/>
              </a:rPr>
              <a:t>Metric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2017" y="4064397"/>
            <a:ext cx="4212134" cy="2587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C4C50"/>
                </a:solidFill>
                <a:latin typeface="Be Vietnam Pro"/>
              </a:rPr>
              <a:t>APFD (primary)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2017" y="4370784"/>
            <a:ext cx="4212134" cy="2587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C4C50"/>
                </a:solidFill>
                <a:latin typeface="Be Vietnam Pro"/>
              </a:rPr>
              <a:t>AUC (phụ), Rotation 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0" y="406400"/>
            <a:ext cx="12065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BÀI TOÁN ·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41350"/>
            <a:ext cx="12065000" cy="4705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pc="-25">
                <a:solidFill>
                  <a:srgbClr val="23373B"/>
                </a:solidFill>
                <a:latin typeface="Be Vietnam Pro"/>
              </a:rPr>
              <a:t>Vì sao cần ưu tiên kiểm thử?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850" y="1333500"/>
            <a:ext cx="6870998" cy="28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3373B"/>
                </a:solidFill>
                <a:latin typeface="Be Vietnam Pro"/>
              </a:rPr>
              <a:t>Đường cong APFD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61498" y="1162050"/>
            <a:ext cx="5511502" cy="28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0772B"/>
                </a:solidFill>
                <a:latin typeface="Be Vietnam Pro"/>
              </a:rPr>
              <a:t>Trực giác: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61498" y="1511300"/>
            <a:ext cx="4724102" cy="55308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D5B"/>
                </a:solidFill>
                <a:latin typeface="Be Vietnam Pro"/>
              </a:rPr>
              <a:t>•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Xếp hạng </a:t>
            </a:r>
            <a:r>
              <a:rPr sz="1300" b="1" i="0">
                <a:solidFill>
                  <a:srgbClr val="2E7D5B"/>
                </a:solidFill>
                <a:latin typeface="Be Vietnam Pro"/>
              </a:rPr>
              <a:t>tốt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 ⇒ lỗi dồn lên đầu ⇒ đường cong dốc đứng từ sớm.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61498" y="2120900"/>
            <a:ext cx="4724102" cy="55308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B5483F"/>
                </a:solidFill>
                <a:latin typeface="Be Vietnam Pro"/>
              </a:rPr>
              <a:t>•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Xếp hạng </a:t>
            </a:r>
            <a:r>
              <a:rPr sz="1300" b="1" i="0">
                <a:solidFill>
                  <a:srgbClr val="B5483F"/>
                </a:solidFill>
                <a:latin typeface="Be Vietnam Pro"/>
              </a:rPr>
              <a:t>kém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 ⇒ lỗi nằm cuối hàng đợi ⇒ tốn nhiều giờ mô phỏng.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61498" y="2730500"/>
            <a:ext cx="5511502" cy="3054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C6B6E"/>
                </a:solidFill>
                <a:latin typeface="Be Vietnam Pro"/>
              </a:rPr>
              <a:t>•</a:t>
            </a:r>
            <a:r>
              <a:rPr sz="1300" b="1" i="0">
                <a:solidFill>
                  <a:srgbClr val="3C4C50"/>
                </a:solidFill>
                <a:latin typeface="Be Vietnam Pro"/>
              </a:rPr>
              <a:t>APFD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 đo chính diện tích dưới đường cong này.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9298" y="5308600"/>
            <a:ext cx="4368502" cy="51498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C4C50"/>
                </a:solidFill>
                <a:latin typeface="Be Vietnam Pro"/>
              </a:rPr>
              <a:t>956 kịch bản × mô phỏng vật lý ⇒ </a:t>
            </a:r>
            <a:r>
              <a:rPr sz="1300" b="1" i="0">
                <a:solidFill>
                  <a:srgbClr val="B5483F"/>
                </a:solidFill>
                <a:latin typeface="Be Vietnam Pro"/>
              </a:rPr>
              <a:t>nhiều giờ CPU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 nếu chạy hết.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140450"/>
            <a:ext cx="11277600" cy="4832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772B"/>
                </a:solidFill>
                <a:latin typeface="Be Vietnam Pro"/>
              </a:rPr>
              <a:t>Takeaway: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 Ranking tốt dồn lỗi lên đầu hàng đợi ⇒ tiết kiệm phần lớn chi phí mô phỏng — bài toán không phải "chạy nhanh hơn" mà là "chạy đúng thứ tự".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0" y="406400"/>
            <a:ext cx="12065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BÀI TOÁN ·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41350"/>
            <a:ext cx="12065000" cy="4705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pc="-25">
                <a:solidFill>
                  <a:srgbClr val="23373B"/>
                </a:solidFill>
                <a:latin typeface="Be Vietnam Pro"/>
              </a:rPr>
              <a:t>Dataset: SensoDat </a:t>
            </a:r>
            <a:r>
              <a:rPr sz="1300" b="1" i="0" spc="-25">
                <a:solidFill>
                  <a:srgbClr val="5C6B6E"/>
                </a:solidFill>
                <a:latin typeface="Be Vietnam Pro"/>
              </a:rPr>
              <a:t>(Birchler et al., MSR 2024 [1])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181100"/>
            <a:ext cx="5115123" cy="5232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C4C50"/>
                </a:solidFill>
                <a:latin typeface="Be Vietnam Pro"/>
              </a:rPr>
              <a:t>Bộ dữ liệu công khai các kịch bản SDC sinh tự động trên BeamNG.tech, chia 3 split: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6973" y="1346200"/>
            <a:ext cx="6403777" cy="28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3373B"/>
                </a:solidFill>
                <a:latin typeface="Be Vietnam Pro"/>
              </a:rPr>
              <a:t>Đường càng dài ⇒ càng dễ FAIL </a:t>
            </a:r>
            <a:r>
              <a:rPr sz="1100" b="0" i="0">
                <a:solidFill>
                  <a:srgbClr val="5C6B6E"/>
                </a:solidFill>
                <a:latin typeface="Be Vietnam Pro"/>
              </a:rPr>
              <a:t>(dữ liệu thật)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" y="6350000"/>
            <a:ext cx="12065000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772B"/>
                </a:solidFill>
                <a:latin typeface="Be Vietnam Pro"/>
              </a:rPr>
              <a:t>Takeaway: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 Competition có khoảng độ dài </a:t>
            </a:r>
            <a:r>
              <a:rPr sz="1300" b="0" i="1">
                <a:solidFill>
                  <a:srgbClr val="23373B"/>
                </a:solidFill>
                <a:latin typeface="Be Vietnam Pro"/>
              </a:rPr>
              <a:t>hẹp hơn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 (129-229m) ⇒ dịch phân phối (distribution shift).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55600"/>
            <a:ext cx="121666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BÀI TOÁN ·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0550"/>
            <a:ext cx="12166600" cy="4705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pc="-25">
                <a:solidFill>
                  <a:srgbClr val="23373B"/>
                </a:solidFill>
                <a:latin typeface="Be Vietnam Pro"/>
              </a:rPr>
              <a:t>Ví dụ kịch bản: hình dạng quyết định nhãn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250" y="1270000"/>
            <a:ext cx="4373959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3373B"/>
                </a:solidFill>
                <a:latin typeface="Be Vietnam Pro"/>
              </a:rPr>
              <a:t>Hình dạng đường (SensoDat)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250" y="3441303"/>
            <a:ext cx="3586559" cy="40475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C6B6E"/>
                </a:solidFill>
                <a:latin typeface="Be Vietnam Pro"/>
              </a:rPr>
              <a:t>Đường thật từ SensoDat · </a:t>
            </a:r>
            <a:r>
              <a:rPr sz="1050" b="1" i="1">
                <a:solidFill>
                  <a:srgbClr val="2E7D5B"/>
                </a:solidFill>
                <a:latin typeface="Be Vietnam Pro"/>
              </a:rPr>
              <a:t>PASS</a:t>
            </a:r>
            <a:r>
              <a:rPr sz="1050" b="0" i="1">
                <a:solidFill>
                  <a:srgbClr val="5C6B6E"/>
                </a:solidFill>
                <a:latin typeface="Be Vietnam Pro"/>
              </a:rPr>
              <a:t> mượt, </a:t>
            </a:r>
            <a:r>
              <a:rPr sz="1050" b="1" i="1">
                <a:solidFill>
                  <a:srgbClr val="B5483F"/>
                </a:solidFill>
                <a:latin typeface="Be Vietnam Pro"/>
              </a:rPr>
              <a:t>FAIL</a:t>
            </a:r>
            <a:r>
              <a:rPr sz="1050" b="0" i="1">
                <a:solidFill>
                  <a:srgbClr val="5C6B6E"/>
                </a:solidFill>
                <a:latin typeface="Be Vietnam Pro"/>
              </a:rPr>
              <a:t> chicane gắt.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2709" y="1270000"/>
            <a:ext cx="4194770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3373B"/>
                </a:solidFill>
                <a:latin typeface="Be Vietnam Pro"/>
              </a:rPr>
              <a:t>Xe trong làn (BeamNG.tech)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2709" y="2744887"/>
            <a:ext cx="3407370" cy="40475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C6B6E"/>
                </a:solidFill>
                <a:latin typeface="Be Vietnam Pro"/>
              </a:rPr>
              <a:t>Mô phỏng BeamNG.tech: trái </a:t>
            </a:r>
            <a:r>
              <a:rPr sz="1050" b="1" i="1">
                <a:solidFill>
                  <a:srgbClr val="2E7D5B"/>
                </a:solidFill>
                <a:latin typeface="Be Vietnam Pro"/>
              </a:rPr>
              <a:t>PASS</a:t>
            </a:r>
            <a:r>
              <a:rPr sz="1050" b="0" i="1">
                <a:solidFill>
                  <a:srgbClr val="5C6B6E"/>
                </a:solidFill>
                <a:latin typeface="Be Vietnam Pro"/>
              </a:rPr>
              <a:t> (trong làn) · phải </a:t>
            </a:r>
            <a:r>
              <a:rPr sz="1050" b="1" i="1">
                <a:solidFill>
                  <a:srgbClr val="B5483F"/>
                </a:solidFill>
                <a:latin typeface="Be Vietnam Pro"/>
              </a:rPr>
              <a:t>FAIL</a:t>
            </a:r>
            <a:r>
              <a:rPr sz="1050" b="0" i="1">
                <a:solidFill>
                  <a:srgbClr val="5C6B6E"/>
                </a:solidFill>
                <a:latin typeface="Be Vietnam Pro"/>
              </a:rPr>
              <a:t> (lệch làn).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2980" y="1270000"/>
            <a:ext cx="4194770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3373B"/>
                </a:solidFill>
                <a:latin typeface="Be Vietnam Pro"/>
              </a:rPr>
              <a:t>FAIL tập trung ở đường "xoắn" hơn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2980" y="3733602"/>
            <a:ext cx="4194770" cy="21812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C6B6E"/>
                </a:solidFill>
                <a:latin typeface="Be Vietnam Pro"/>
              </a:rPr>
              <a:t>Tổng độ đổi hướng (radian) — FAIL lệch phải.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00" y="6388100"/>
            <a:ext cx="12166600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3373B"/>
                </a:solidFill>
                <a:latin typeface="Be Vietnam Pro"/>
              </a:rPr>
              <a:t>⇒ Không có tọa độ (x,y) tuyệt đối nào quyết định nhãn — chỉ </a:t>
            </a:r>
            <a:r>
              <a:rPr sz="1300" b="1" i="0">
                <a:solidFill>
                  <a:srgbClr val="23373B"/>
                </a:solidFill>
                <a:latin typeface="Be Vietnam Pro"/>
              </a:rPr>
              <a:t>hình dạng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. Gợi ý cho ràng buộc </a:t>
            </a:r>
            <a:r>
              <a:rPr sz="1300" b="1" i="0">
                <a:solidFill>
                  <a:srgbClr val="23373B"/>
                </a:solidFill>
                <a:latin typeface="Be Vietnam Pro"/>
              </a:rPr>
              <a:t>bất biến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0" y="406400"/>
            <a:ext cx="12065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CÔNG TRÌNH LIÊN QUAN ·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41350"/>
            <a:ext cx="12065000" cy="4705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pc="-25">
                <a:solidFill>
                  <a:srgbClr val="23373B"/>
                </a:solidFill>
                <a:latin typeface="Be Vietnam Pro"/>
              </a:rPr>
              <a:t>Related Work: 3 hướng tiếp cận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8550" y="1417340"/>
            <a:ext cx="3173809" cy="28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C3E6B"/>
                </a:solidFill>
                <a:latin typeface="Be Vietnam Pro"/>
              </a:rPr>
              <a:t>Search-based / Diversity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7550" y="1765300"/>
            <a:ext cx="3289300" cy="7350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3C4C50"/>
                </a:solidFill>
                <a:latin typeface="Be Vietnam Pro"/>
              </a:rPr>
              <a:t>Ý tưởng: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GA / heuristic chọn tập test </a:t>
            </a:r>
            <a:r>
              <a:rPr sz="1250" b="0" i="1">
                <a:solidFill>
                  <a:srgbClr val="3C4C50"/>
                </a:solidFill>
                <a:latin typeface="Be Vietnam Pro"/>
              </a:rPr>
              <a:t>đa dạng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hành vi (SO-SDC-Prioritizer, Greedy-diversity).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7550" y="2555875"/>
            <a:ext cx="3289300" cy="49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7D5B"/>
                </a:solidFill>
                <a:latin typeface="Be Vietnam Pro"/>
              </a:rPr>
              <a:t>✓ Ưu:</a:t>
            </a:r>
            <a:r>
              <a:rPr sz="1250" b="0" i="0">
                <a:solidFill>
                  <a:srgbClr val="2E7D5B"/>
                </a:solidFill>
                <a:latin typeface="Be Vietnam Pro"/>
              </a:rPr>
              <a:t> không cần nhãn, truyền thống SBST.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7550" y="3108325"/>
            <a:ext cx="3289300" cy="49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5483F"/>
                </a:solidFill>
                <a:latin typeface="Be Vietnam Pro"/>
              </a:rPr>
              <a:t>✗ Hạn chế:</a:t>
            </a:r>
            <a:r>
              <a:rPr sz="1250" b="0" i="0">
                <a:solidFill>
                  <a:srgbClr val="B5483F"/>
                </a:solidFill>
                <a:latin typeface="Be Vietnam Pro"/>
              </a:rPr>
              <a:t> đa dạng ≠ lộ lỗi; đặc trưng phụ thuộc khung.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83150" y="1417340"/>
            <a:ext cx="2561233" cy="28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5A33F"/>
                </a:solidFill>
                <a:latin typeface="Be Vietnam Pro"/>
              </a:rPr>
              <a:t>Feature-based 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2150" y="1765300"/>
            <a:ext cx="3289300" cy="7350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3C4C50"/>
                </a:solidFill>
                <a:latin typeface="Be Vietnam Pro"/>
              </a:rPr>
              <a:t>Ý tưởng: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vài đặc trưng đường (góc, chiều dài) → mạng chuỗi gọn → rank (ITS4SDC: bi-LSTM, ICST'25).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2150" y="2555875"/>
            <a:ext cx="4076700" cy="2587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7D5B"/>
                </a:solidFill>
                <a:latin typeface="Be Vietnam Pro"/>
              </a:rPr>
              <a:t>✓ Ưu:</a:t>
            </a:r>
            <a:r>
              <a:rPr sz="1250" b="0" i="0">
                <a:solidFill>
                  <a:srgbClr val="2E7D5B"/>
                </a:solidFill>
                <a:latin typeface="Be Vietnam Pro"/>
              </a:rPr>
              <a:t> rẻ, dễ giải thích.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2150" y="2870200"/>
            <a:ext cx="3289300" cy="49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5483F"/>
                </a:solidFill>
                <a:latin typeface="Be Vietnam Pro"/>
              </a:rPr>
              <a:t>✗ Hạn chế:</a:t>
            </a:r>
            <a:r>
              <a:rPr sz="1250" b="0" i="0">
                <a:solidFill>
                  <a:srgbClr val="B5483F"/>
                </a:solidFill>
                <a:latin typeface="Be Vietnam Pro"/>
              </a:rPr>
              <a:t> ít đặc trưng, phụ thuộc khung, tinh chỉnh theo từng bench.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7750" y="1377950"/>
            <a:ext cx="2908300" cy="497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E7D5B"/>
                </a:solidFill>
                <a:latin typeface="Be Vietnam Pro"/>
              </a:rPr>
              <a:t>Deep: GNN / CNN / Transformer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6750" y="1899841"/>
            <a:ext cx="3289300" cy="7350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3C4C50"/>
                </a:solidFill>
                <a:latin typeface="Be Vietnam Pro"/>
              </a:rPr>
              <a:t>Ý tưởng: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học biểu diễn từ đồ thị đường / ảnh render / chuỗi điểm (GNN, ResNet, RoadFury).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6750" y="2690416"/>
            <a:ext cx="4076700" cy="2587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7D5B"/>
                </a:solidFill>
                <a:latin typeface="Be Vietnam Pro"/>
              </a:rPr>
              <a:t>✓ Ưu:</a:t>
            </a:r>
            <a:r>
              <a:rPr sz="1250" b="0" i="0">
                <a:solidFill>
                  <a:srgbClr val="2E7D5B"/>
                </a:solidFill>
                <a:latin typeface="Be Vietnam Pro"/>
              </a:rPr>
              <a:t> APFD cao nhất (RoadFury 0.804).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6750" y="3004741"/>
            <a:ext cx="3289300" cy="49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5483F"/>
                </a:solidFill>
                <a:latin typeface="Be Vietnam Pro"/>
              </a:rPr>
              <a:t>✗ Hạn chế:</a:t>
            </a:r>
            <a:r>
              <a:rPr sz="1250" b="0" i="0">
                <a:solidFill>
                  <a:srgbClr val="B5483F"/>
                </a:solidFill>
                <a:latin typeface="Be Vietnam Pro"/>
              </a:rPr>
              <a:t> </a:t>
            </a:r>
            <a:r>
              <a:rPr sz="1250" b="0" i="1">
                <a:solidFill>
                  <a:srgbClr val="B5483F"/>
                </a:solidFill>
                <a:latin typeface="Be Vietnam Pro"/>
              </a:rPr>
              <a:t>không bất biến</a:t>
            </a:r>
            <a:r>
              <a:rPr sz="1250" b="0" i="0">
                <a:solidFill>
                  <a:srgbClr val="B5483F"/>
                </a:solidFill>
                <a:latin typeface="Be Vietnam Pro"/>
              </a:rPr>
              <a:t> — xoay / lấy mẫu là điểm trôi.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940175"/>
            <a:ext cx="11277600" cy="47688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772B"/>
                </a:solidFill>
                <a:latin typeface="Be Vietnam Pro"/>
              </a:rPr>
              <a:t>Khoảng trống: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 chưa phương pháp nào </a:t>
            </a:r>
            <a:r>
              <a:rPr sz="1300" b="0" i="1">
                <a:solidFill>
                  <a:srgbClr val="23373B"/>
                </a:solidFill>
                <a:latin typeface="Be Vietnam Pro"/>
              </a:rPr>
              <a:t>đảm bảo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 bất biến với phép xoay / tần số lấy mẫu — tất cả dựa vào augmentation (xấp xỉ) hoặc đặc trưng phụ thuộc khung.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0" y="406400"/>
            <a:ext cx="12065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CÔNG TRÌNH LIÊN QUAN ·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41350"/>
            <a:ext cx="12065000" cy="4705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pc="-25">
                <a:solidFill>
                  <a:srgbClr val="23373B"/>
                </a:solidFill>
                <a:latin typeface="Be Vietnam Pro"/>
              </a:rPr>
              <a:t>Related Work: Tổng hợp &amp; Khoảng trống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2150" y="5441950"/>
            <a:ext cx="5767090" cy="41814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6E"/>
                </a:solidFill>
                <a:latin typeface="Be Vietnam Pro"/>
              </a:rPr>
              <a:t>APFD trên 956 test OOD (30 trials). Các baseline tái lập trong cùng harness; RoadFury &amp; SE2RoadNet là của nhóm.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1840" y="1371600"/>
            <a:ext cx="5434310" cy="28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3373B"/>
                </a:solidFill>
                <a:latin typeface="Be Vietnam Pro"/>
              </a:rPr>
              <a:t>Hai trục độc lập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1840" y="5397500"/>
            <a:ext cx="4646910" cy="4362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C4C50"/>
                </a:solidFill>
                <a:latin typeface="Be Vietnam Pro"/>
              </a:rPr>
              <a:t>SE2RoadNet thêm một </a:t>
            </a:r>
            <a:r>
              <a:rPr sz="1100" b="0" i="1">
                <a:solidFill>
                  <a:srgbClr val="3C4C50"/>
                </a:solidFill>
                <a:latin typeface="Be Vietnam Pro"/>
              </a:rPr>
              <a:t>trục đảm bảo mới</a:t>
            </a:r>
            <a:r>
              <a:rPr sz="1100" b="0" i="0">
                <a:solidFill>
                  <a:srgbClr val="3C4C50"/>
                </a:solidFill>
                <a:latin typeface="Be Vietnam Pro"/>
              </a:rPr>
              <a:t> chứ không chỉ tăng APFD.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46800"/>
            <a:ext cx="11277600" cy="47688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772B"/>
                </a:solidFill>
                <a:latin typeface="Be Vietnam Pro"/>
              </a:rPr>
              <a:t>Khoảng trống: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 cùng một con đường — chỉ khác hướng đặt hoặc số điểm lấy mẫu — không được làm điểm số thay đổi. Chưa method nào đảm bảo điều đó.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355600"/>
            <a:ext cx="11861800" cy="2330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150">
                <a:solidFill>
                  <a:srgbClr val="6B8082"/>
                </a:solidFill>
                <a:latin typeface="JetBrains Mono"/>
              </a:rPr>
              <a:t>ROADFURY → SE2ROADNET</a:t>
            </a:r>
            <a:r>
              <a:rPr sz="1100" b="0" i="0" spc="150">
                <a:solidFill>
                  <a:srgbClr val="6B8082"/>
                </a:solidFill>
                <a:latin typeface="JetBrains Mono"/>
              </a:rPr>
              <a:t>02 /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463502"/>
            <a:ext cx="11861800" cy="288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250">
                <a:solidFill>
                  <a:srgbClr val="E0772B"/>
                </a:solidFill>
                <a:latin typeface="JetBrains Mono"/>
              </a:rPr>
              <a:t>PHẦN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698452"/>
            <a:ext cx="11861800" cy="13131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 spc="-150">
                <a:solidFill>
                  <a:srgbClr val="F6F4EF"/>
                </a:solidFill>
                <a:latin typeface="Be Vietnam Pro"/>
              </a:rPr>
              <a:t>RoadFury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130973"/>
            <a:ext cx="8191500" cy="3079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DAEB0"/>
                </a:solidFill>
                <a:latin typeface="Be Vietnam Pro"/>
              </a:rPr>
              <a:t>Phương pháp nền tảng của nhóm: Transformer + SWA + Focal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0" y="355600"/>
            <a:ext cx="12065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ROADFURY ·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590550"/>
            <a:ext cx="12065000" cy="4705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pc="-25">
                <a:solidFill>
                  <a:srgbClr val="23373B"/>
                </a:solidFill>
                <a:latin typeface="Be Vietnam Pro"/>
              </a:rPr>
              <a:t>RoadFury: Pipeline nền tảng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" y="6413500"/>
            <a:ext cx="12065000" cy="243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6E"/>
                </a:solidFill>
                <a:latin typeface="Be Vietnam Pro"/>
              </a:rPr>
              <a:t>Chuẩn hoá &amp; trích đặc trưng → RoadTransformer → SWA → inference (chấm điểm, sắp xếp giảm dần). </a:t>
            </a:r>
            <a:r>
              <a:rPr sz="1200" b="0" i="0">
                <a:solidFill>
                  <a:srgbClr val="23373B"/>
                </a:solidFill>
                <a:latin typeface="Be Vietnam Pro"/>
              </a:rPr>
              <a:t>Chi tiết 2 điểm mù ở slide kế.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0" y="406400"/>
            <a:ext cx="12065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ROADFURY ·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41350"/>
            <a:ext cx="12065000" cy="4705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pc="-25">
                <a:solidFill>
                  <a:srgbClr val="23373B"/>
                </a:solidFill>
                <a:latin typeface="Be Vietnam Pro"/>
              </a:rPr>
              <a:t>RoadFury (chi tiet): mạnh, nhưng có điểm mù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850" y="1384300"/>
            <a:ext cx="5994400" cy="3079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E7CA6"/>
                </a:solidFill>
                <a:latin typeface="Be Vietnam Pro"/>
              </a:rPr>
              <a:t>Trích xuất đặc trưng (10 kênh)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850" y="5050631"/>
            <a:ext cx="59944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6E"/>
                </a:solidFill>
                <a:latin typeface="JetBrains Mono"/>
              </a:rPr>
              <a:t>Z-norm ⇒ ma trận (197 × 10).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94450" y="1384300"/>
            <a:ext cx="5969000" cy="3079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C3E6B"/>
                </a:solidFill>
                <a:latin typeface="Be Vietnam Pro"/>
              </a:rPr>
              <a:t>RoadTransformer (829K tham số)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94450" y="1739900"/>
            <a:ext cx="5969000" cy="31718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C3E6B"/>
                </a:solidFill>
                <a:latin typeface="Be Vietnam Pro"/>
              </a:rPr>
              <a:t>·</a:t>
            </a:r>
            <a:r>
              <a:rPr sz="1350" b="0" i="0">
                <a:solidFill>
                  <a:srgbClr val="3C4C50"/>
                </a:solidFill>
                <a:latin typeface="Be Vietnam Pro"/>
              </a:rPr>
              <a:t>Linear 10→128 + LayerNorm + GELU.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94450" y="2111375"/>
            <a:ext cx="5969000" cy="31718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C3E6B"/>
                </a:solidFill>
                <a:latin typeface="Be Vietnam Pro"/>
              </a:rPr>
              <a:t>·</a:t>
            </a:r>
            <a:r>
              <a:rPr sz="1350" b="0" i="0">
                <a:solidFill>
                  <a:srgbClr val="3C4C50"/>
                </a:solidFill>
                <a:latin typeface="Be Vietnam Pro"/>
              </a:rPr>
              <a:t>Token [CLS] + learned PE </a:t>
            </a:r>
            <a:r>
              <a:rPr sz="1350" b="1" i="0">
                <a:solidFill>
                  <a:srgbClr val="B5483F"/>
                </a:solidFill>
                <a:latin typeface="Be Vietnam Pro"/>
              </a:rPr>
              <a:t>(vị trí tuyệt đối)</a:t>
            </a:r>
            <a:r>
              <a:rPr sz="1350" b="0" i="0">
                <a:solidFill>
                  <a:srgbClr val="3C4C50"/>
                </a:solidFill>
                <a:latin typeface="Be Vietnam Pro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94450" y="2482850"/>
            <a:ext cx="5969000" cy="31718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C3E6B"/>
                </a:solidFill>
                <a:latin typeface="Be Vietnam Pro"/>
              </a:rPr>
              <a:t>·</a:t>
            </a:r>
            <a:r>
              <a:rPr sz="1350" b="0" i="0">
                <a:solidFill>
                  <a:srgbClr val="3C4C50"/>
                </a:solidFill>
                <a:latin typeface="Be Vietnam Pro"/>
              </a:rPr>
              <a:t>4 lớp Pre-LN Transformer, 8 heads, FFN 512.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94450" y="2854325"/>
            <a:ext cx="5969000" cy="31718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C3E6B"/>
                </a:solidFill>
                <a:latin typeface="Be Vietnam Pro"/>
              </a:rPr>
              <a:t>·</a:t>
            </a:r>
            <a:r>
              <a:rPr sz="1350" b="0" i="0">
                <a:solidFill>
                  <a:srgbClr val="3C4C50"/>
                </a:solidFill>
                <a:latin typeface="Be Vietnam Pro"/>
              </a:rPr>
              <a:t>Pool [CLS] → 128→64→1 → Sigmoid.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4950" y="4975027"/>
            <a:ext cx="561975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00">
                <a:solidFill>
                  <a:srgbClr val="2E7D5B"/>
                </a:solidFill>
                <a:latin typeface="JetBrains Mono"/>
              </a:rPr>
              <a:t>KẾT QUẢ ICST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4950" y="5260777"/>
            <a:ext cx="4832350" cy="6041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3373B"/>
                </a:solidFill>
                <a:latin typeface="Be Vietnam Pro"/>
              </a:rPr>
              <a:t>APFD = </a:t>
            </a:r>
            <a:r>
              <a:rPr sz="1700" b="1" i="0">
                <a:solidFill>
                  <a:srgbClr val="2E7D5B"/>
                </a:solidFill>
                <a:latin typeface="Be Vietnam Pro"/>
              </a:rPr>
              <a:t>0.804 ± 0.012</a:t>
            </a:r>
            <a:r>
              <a:rPr sz="1350" b="0" i="0">
                <a:solidFill>
                  <a:srgbClr val="23373B"/>
                </a:solidFill>
                <a:latin typeface="Be Vietnam Pro"/>
              </a:rPr>
              <a:t>, AUC 0.917 (30 trials, 956 test). </a:t>
            </a:r>
            <a:r>
              <a:rPr sz="1350" b="1" i="0">
                <a:solidFill>
                  <a:srgbClr val="2E7D5B"/>
                </a:solidFill>
                <a:latin typeface="Be Vietnam Pro"/>
              </a:rPr>
              <a:t>Tốt nhất competition.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" y="6350000"/>
            <a:ext cx="12065000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772B"/>
                </a:solidFill>
                <a:latin typeface="Be Vietnam Pro"/>
              </a:rPr>
              <a:t>Takeaway: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 3/10 kênh và PE tuyệt đối phụ thuộc khung quy chiếu ⇒ APFD cao nhưng </a:t>
            </a:r>
            <a:r>
              <a:rPr sz="1300" b="0" i="1">
                <a:solidFill>
                  <a:srgbClr val="23373B"/>
                </a:solidFill>
                <a:latin typeface="Be Vietnam Pro"/>
              </a:rPr>
              <a:t>không có bảo chứng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 — đây là 2 điểm mù.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0" y="406400"/>
            <a:ext cx="12065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ROADFURY → SE2ROADNET ·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41350"/>
            <a:ext cx="12065000" cy="4705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pc="-25">
                <a:solidFill>
                  <a:srgbClr val="23373B"/>
                </a:solidFill>
                <a:latin typeface="Be Vietnam Pro"/>
              </a:rPr>
              <a:t>Từ RoadFury đến SE2RoadNet: Vá 2 điểm mù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1200" y="1885950"/>
            <a:ext cx="5975350" cy="28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5483F"/>
                </a:solidFill>
                <a:latin typeface="Be Vietnam Pro"/>
              </a:rPr>
              <a:t>✗</a:t>
            </a:r>
            <a:r>
              <a:rPr sz="1400" b="1" i="0">
                <a:solidFill>
                  <a:srgbClr val="B5483F"/>
                </a:solidFill>
                <a:latin typeface="Be Vietnam Pro"/>
              </a:rPr>
              <a:t> Nhạy phép xoay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1200" y="2171700"/>
            <a:ext cx="5975350" cy="243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6E"/>
                </a:solidFill>
                <a:latin typeface="Be Vietnam Pro"/>
              </a:rPr>
              <a:t>Cùng đường, xoay 30°/90° ⇒ điểm trồi (ITS4SDC Δ=0.057).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1200" y="4075509"/>
            <a:ext cx="5975350" cy="28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E7D5B"/>
                </a:solidFill>
                <a:latin typeface="Be Vietnam Pro"/>
              </a:rPr>
              <a:t>✓</a:t>
            </a:r>
            <a:r>
              <a:rPr sz="1400" b="1" i="0">
                <a:solidFill>
                  <a:srgbClr val="2E7D5B"/>
                </a:solidFill>
                <a:latin typeface="Be Vietnam Pro"/>
              </a:rPr>
              <a:t> 7 kênh bất biến SE(2)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1200" y="4361259"/>
            <a:ext cx="5975350" cy="243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C4C50"/>
                </a:solidFill>
                <a:latin typeface="Be Vietnam Pro"/>
              </a:rPr>
              <a:t>Bỏ sinθ, cosθ, θ; chỉ giữ Δs, κ, dκ/ds...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26200" y="1885950"/>
            <a:ext cx="5975350" cy="28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5483F"/>
                </a:solidFill>
                <a:latin typeface="Be Vietnam Pro"/>
              </a:rPr>
              <a:t>✗</a:t>
            </a:r>
            <a:r>
              <a:rPr sz="1400" b="1" i="0">
                <a:solidFill>
                  <a:srgbClr val="B5483F"/>
                </a:solidFill>
                <a:latin typeface="Be Vietnam Pro"/>
              </a:rPr>
              <a:t> Nhạy tần số lấy mẫu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6200" y="2171700"/>
            <a:ext cx="5975350" cy="243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6E"/>
                </a:solidFill>
                <a:latin typeface="Be Vietnam Pro"/>
              </a:rPr>
              <a:t>Cùng đường, N=64 vs 197 điểm ⇒ điểm đổi theo cách rời rạc hóa.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6200" y="4075509"/>
            <a:ext cx="5975350" cy="28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E7D5B"/>
                </a:solidFill>
                <a:latin typeface="Be Vietnam Pro"/>
              </a:rPr>
              <a:t>✓</a:t>
            </a:r>
            <a:r>
              <a:rPr sz="1400" b="1" i="0">
                <a:solidFill>
                  <a:srgbClr val="2E7D5B"/>
                </a:solidFill>
                <a:latin typeface="Be Vietnam Pro"/>
              </a:rPr>
              <a:t> Attention bias theo Δs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6200" y="4361259"/>
            <a:ext cx="5975350" cy="243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C4C50"/>
                </a:solidFill>
                <a:latin typeface="Be Vietnam Pro"/>
              </a:rPr>
              <a:t>Thay PE tuyệt đối bằng hiệu số cung — bất biến tại tham số hóa.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1520" y="5522020"/>
            <a:ext cx="4957961" cy="3079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spc="-15">
                <a:solidFill>
                  <a:srgbClr val="FFFFFF"/>
                </a:solidFill>
                <a:latin typeface="Be Vietnam Pro"/>
              </a:rPr>
              <a:t>SE2RoadNet: Bất biến SE(2) bằng kiến trúc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68414" y="5826820"/>
            <a:ext cx="7344172" cy="28886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B5483F"/>
                </a:solidFill>
                <a:latin typeface="Be Vietnam Pro"/>
              </a:rPr>
              <a:t>Augmentation (xấp xỉ)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 </a:t>
            </a:r>
            <a:r>
              <a:rPr sz="1300" b="1" i="0">
                <a:solidFill>
                  <a:srgbClr val="E0772B"/>
                </a:solidFill>
                <a:latin typeface="JetBrains Mono"/>
              </a:rPr>
              <a:t>· paradigm shift →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 </a:t>
            </a:r>
            <a:r>
              <a:rPr sz="1300" b="1" i="0">
                <a:solidFill>
                  <a:srgbClr val="2E7D5B"/>
                </a:solidFill>
                <a:latin typeface="Be Vietnam Pro"/>
              </a:rPr>
              <a:t>ràng buộc kiến trúc (bảo chứng)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00" y="6356350"/>
            <a:ext cx="12065000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3373B"/>
                </a:solidFill>
                <a:latin typeface="Be Vietnam Pro"/>
              </a:rPr>
              <a:t>Mỗi điểm mù RoadFury → một thành phần SE2RoadNet: </a:t>
            </a:r>
            <a:r>
              <a:rPr sz="1300" b="1" i="0">
                <a:solidFill>
                  <a:srgbClr val="E0772B"/>
                </a:solidFill>
                <a:latin typeface="Be Vietnam Pro"/>
              </a:rPr>
              <a:t>vá có chủ đích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, không refactor mù.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355600"/>
            <a:ext cx="11861800" cy="2330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150">
                <a:solidFill>
                  <a:srgbClr val="6B8082"/>
                </a:solidFill>
                <a:latin typeface="JetBrains Mono"/>
              </a:rPr>
              <a:t>ROADFURY → SE2ROADNET</a:t>
            </a:r>
            <a:r>
              <a:rPr sz="1100" b="0" i="0" spc="150">
                <a:solidFill>
                  <a:srgbClr val="6B8082"/>
                </a:solidFill>
                <a:latin typeface="JetBrains Mono"/>
              </a:rPr>
              <a:t>03 /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463502"/>
            <a:ext cx="11861800" cy="288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250">
                <a:solidFill>
                  <a:srgbClr val="E0772B"/>
                </a:solidFill>
                <a:latin typeface="JetBrains Mono"/>
              </a:rPr>
              <a:t>PHẦN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698452"/>
            <a:ext cx="11861800" cy="13131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 spc="-150">
                <a:solidFill>
                  <a:srgbClr val="F6F4EF"/>
                </a:solidFill>
                <a:latin typeface="Be Vietnam Pro"/>
              </a:rPr>
              <a:t>SE2RoadNet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130973"/>
            <a:ext cx="8191500" cy="3079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DAEB0"/>
                </a:solidFill>
                <a:latin typeface="Be Vietnam Pro"/>
              </a:rPr>
              <a:t>Đề xuất của nhóm: bất biến SE(2) bằng kiến trúc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0" y="355600"/>
            <a:ext cx="12065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SE2ROADNET ·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590550"/>
            <a:ext cx="12065000" cy="4705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pc="-25">
                <a:solidFill>
                  <a:srgbClr val="23373B"/>
                </a:solidFill>
                <a:latin typeface="Be Vietnam Pro"/>
              </a:rPr>
              <a:t>SE2RoadNet: Tổng quan kiến trúc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" y="6413500"/>
            <a:ext cx="12065000" cy="243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6E"/>
                </a:solidFill>
                <a:latin typeface="Be Vietnam Pro"/>
              </a:rPr>
              <a:t>7 kênh bất biến → InvariantBlock×6 (bias theo Δs) → pool → Failure Score. </a:t>
            </a:r>
            <a:r>
              <a:rPr sz="1200" b="1" i="0">
                <a:solidFill>
                  <a:srgbClr val="2E7CA6"/>
                </a:solidFill>
                <a:latin typeface="Be Vietnam Pro"/>
              </a:rPr>
              <a:t>Rotation probe: ΔAPFD = 0.0000.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0" y="355600"/>
            <a:ext cx="12065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SE2ROADNET ·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590550"/>
            <a:ext cx="12065000" cy="4705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pc="-25">
                <a:solidFill>
                  <a:srgbClr val="23373B"/>
                </a:solidFill>
                <a:latin typeface="Be Vietnam Pro"/>
              </a:rPr>
              <a:t>Ý tưởng cốt lõi: Bất biến SE(2)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300" y="1162050"/>
            <a:ext cx="11626850" cy="3002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3373B"/>
                </a:solidFill>
                <a:latin typeface="Be Vietnam Pro"/>
              </a:rPr>
              <a:t>Định lý mục tiêu: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 Mô hình f</a:t>
            </a:r>
            <a:r>
              <a:rPr sz="1080" b="0" i="0">
                <a:solidFill>
                  <a:srgbClr val="3C4C50"/>
                </a:solidFill>
                <a:latin typeface="Be Vietnam Pro"/>
              </a:rPr>
              <a:t>θ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 phải thỏa mãn, </a:t>
            </a:r>
            <a:r>
              <a:rPr sz="1300" b="1" i="0">
                <a:solidFill>
                  <a:srgbClr val="E0772B"/>
                </a:solidFill>
                <a:latin typeface="Be Vietnam Pro"/>
              </a:rPr>
              <a:t>bit-identical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, với mọi (R,t) ∈ SE(2):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4800" y="1945084"/>
            <a:ext cx="11626850" cy="243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C6B6E"/>
                </a:solidFill>
                <a:latin typeface="Be Vietnam Pro"/>
              </a:rPr>
              <a:t>Xoay, tịnh tiến, hoặc đổi gốc tọa độ con đường ⇒ điểm số y nguyên.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" y="6400800"/>
            <a:ext cx="12065000" cy="2587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0772B"/>
                </a:solidFill>
                <a:latin typeface="Be Vietnam Pro"/>
              </a:rPr>
              <a:t>Takeaway:</a:t>
            </a:r>
            <a:r>
              <a:rPr sz="1250" b="0" i="0">
                <a:solidFill>
                  <a:srgbClr val="23373B"/>
                </a:solidFill>
                <a:latin typeface="Be Vietnam Pro"/>
              </a:rPr>
              <a:t> Một con đường, bốn phép biến đổi SE(2), </a:t>
            </a:r>
            <a:r>
              <a:rPr sz="1250" b="1" i="0">
                <a:solidFill>
                  <a:srgbClr val="23373B"/>
                </a:solidFill>
                <a:latin typeface="Be Vietnam Pro"/>
              </a:rPr>
              <a:t>cùng một điểm số</a:t>
            </a:r>
            <a:r>
              <a:rPr sz="1250" b="0" i="0">
                <a:solidFill>
                  <a:srgbClr val="23373B"/>
                </a:solidFill>
                <a:latin typeface="Be Vietnam Pro"/>
              </a:rPr>
              <a:t> — bất biến là tính chất của kiến trúc, không phải của data augmentation.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0" y="406400"/>
            <a:ext cx="12065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SE2ROADNET ·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41350"/>
            <a:ext cx="12065000" cy="4705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pc="-25">
                <a:solidFill>
                  <a:srgbClr val="23373B"/>
                </a:solidFill>
                <a:latin typeface="Be Vietnam Pro"/>
              </a:rPr>
              <a:t>Bước 1: 7 kênh đặc trưng bất biến SE(2)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0250" y="1397000"/>
            <a:ext cx="6766520" cy="3079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C3E6B"/>
                </a:solidFill>
                <a:latin typeface="Be Vietnam Pro"/>
              </a:rPr>
              <a:t>Chỉ giữ đại lượng nội tại của đường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0250" y="1727200"/>
            <a:ext cx="6766520" cy="32521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C3E6B"/>
                </a:solidFill>
                <a:latin typeface="JetBrains Mono"/>
              </a:rPr>
              <a:t>1.</a:t>
            </a:r>
            <a:r>
              <a:rPr sz="1350" b="0" i="0">
                <a:solidFill>
                  <a:srgbClr val="3C4C50"/>
                </a:solidFill>
                <a:latin typeface="Be Vietnam Pro"/>
              </a:rPr>
              <a:t> </a:t>
            </a:r>
            <a:r>
              <a:rPr sz="1350" b="0" i="0">
                <a:solidFill>
                  <a:srgbClr val="3C4C50"/>
                </a:solidFill>
                <a:latin typeface="Be Vietnam Pro"/>
              </a:rPr>
              <a:t>Δs</a:t>
            </a:r>
            <a:r>
              <a:rPr sz="1120" b="0" i="0">
                <a:solidFill>
                  <a:srgbClr val="3C4C50"/>
                </a:solidFill>
                <a:latin typeface="Be Vietnam Pro"/>
              </a:rPr>
              <a:t>i</a:t>
            </a:r>
            <a:r>
              <a:rPr sz="1350" b="0" i="0">
                <a:solidFill>
                  <a:srgbClr val="3C4C50"/>
                </a:solidFill>
                <a:latin typeface="Be Vietnam Pro"/>
              </a:rPr>
              <a:t> — chiều dài đoạn </a:t>
            </a:r>
            <a:r>
              <a:rPr sz="1350" b="0" i="1">
                <a:solidFill>
                  <a:srgbClr val="3C4C50"/>
                </a:solidFill>
                <a:latin typeface="Be Vietnam Pro"/>
              </a:rPr>
              <a:t>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0250" y="2062262"/>
            <a:ext cx="6766520" cy="32521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C3E6B"/>
                </a:solidFill>
                <a:latin typeface="JetBrains Mono"/>
              </a:rPr>
              <a:t>2.</a:t>
            </a:r>
            <a:r>
              <a:rPr sz="1350" b="0" i="0">
                <a:solidFill>
                  <a:srgbClr val="3C4C50"/>
                </a:solidFill>
                <a:latin typeface="Be Vietnam Pro"/>
              </a:rPr>
              <a:t> </a:t>
            </a:r>
            <a:r>
              <a:rPr sz="1350" b="0" i="0">
                <a:solidFill>
                  <a:srgbClr val="3C4C50"/>
                </a:solidFill>
                <a:latin typeface="Be Vietnam Pro"/>
              </a:rPr>
              <a:t>|Δθ</a:t>
            </a:r>
            <a:r>
              <a:rPr sz="1120" b="0" i="0">
                <a:solidFill>
                  <a:srgbClr val="3C4C50"/>
                </a:solidFill>
                <a:latin typeface="Be Vietnam Pro"/>
              </a:rPr>
              <a:t>i</a:t>
            </a:r>
            <a:r>
              <a:rPr sz="1350" b="0" i="0">
                <a:solidFill>
                  <a:srgbClr val="3C4C50"/>
                </a:solidFill>
                <a:latin typeface="Be Vietnam Pro"/>
              </a:rPr>
              <a:t>| — biến thiên góc </a:t>
            </a:r>
            <a:r>
              <a:rPr sz="1350" b="0" i="1">
                <a:solidFill>
                  <a:srgbClr val="3C4C50"/>
                </a:solidFill>
                <a:latin typeface="Be Vietnam Pro"/>
              </a:rPr>
              <a:t>tuyệt đối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0250" y="2397323"/>
            <a:ext cx="6766520" cy="32521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C3E6B"/>
                </a:solidFill>
                <a:latin typeface="JetBrains Mono"/>
              </a:rPr>
              <a:t>3.</a:t>
            </a:r>
            <a:r>
              <a:rPr sz="1350" b="0" i="0">
                <a:solidFill>
                  <a:srgbClr val="3C4C50"/>
                </a:solidFill>
                <a:latin typeface="Be Vietnam Pro"/>
              </a:rPr>
              <a:t> </a:t>
            </a:r>
            <a:r>
              <a:rPr sz="1350" b="0" i="0">
                <a:solidFill>
                  <a:srgbClr val="3C4C50"/>
                </a:solidFill>
                <a:latin typeface="Be Vietnam Pro"/>
              </a:rPr>
              <a:t>κ</a:t>
            </a:r>
            <a:r>
              <a:rPr sz="1120" b="0" i="0">
                <a:solidFill>
                  <a:srgbClr val="3C4C50"/>
                </a:solidFill>
                <a:latin typeface="Be Vietnam Pro"/>
              </a:rPr>
              <a:t>i</a:t>
            </a:r>
            <a:r>
              <a:rPr sz="1350" b="0" i="0">
                <a:solidFill>
                  <a:srgbClr val="3C4C50"/>
                </a:solidFill>
                <a:latin typeface="Be Vietnam Pro"/>
              </a:rPr>
              <a:t> = Δθ</a:t>
            </a:r>
            <a:r>
              <a:rPr sz="1120" b="0" i="0">
                <a:solidFill>
                  <a:srgbClr val="3C4C50"/>
                </a:solidFill>
                <a:latin typeface="Be Vietnam Pro"/>
              </a:rPr>
              <a:t>i</a:t>
            </a:r>
            <a:r>
              <a:rPr sz="1350" b="0" i="0">
                <a:solidFill>
                  <a:srgbClr val="3C4C50"/>
                </a:solidFill>
                <a:latin typeface="Be Vietnam Pro"/>
              </a:rPr>
              <a:t>/Δs</a:t>
            </a:r>
            <a:r>
              <a:rPr sz="1120" b="0" i="0">
                <a:solidFill>
                  <a:srgbClr val="3C4C50"/>
                </a:solidFill>
                <a:latin typeface="Be Vietnam Pro"/>
              </a:rPr>
              <a:t>i</a:t>
            </a:r>
            <a:r>
              <a:rPr sz="1350" b="0" i="0">
                <a:solidFill>
                  <a:srgbClr val="3C4C50"/>
                </a:solidFill>
                <a:latin typeface="Be Vietnam Pro"/>
              </a:rPr>
              <a:t> — độ cong có dấu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0250" y="2732385"/>
            <a:ext cx="6766520" cy="2913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C3E6B"/>
                </a:solidFill>
                <a:latin typeface="JetBrains Mono"/>
              </a:rPr>
              <a:t>4.</a:t>
            </a:r>
            <a:r>
              <a:rPr sz="1350" b="0" i="0">
                <a:solidFill>
                  <a:srgbClr val="3C4C50"/>
                </a:solidFill>
                <a:latin typeface="Be Vietnam Pro"/>
              </a:rPr>
              <a:t> </a:t>
            </a:r>
            <a:r>
              <a:rPr sz="1350" b="0" i="0">
                <a:solidFill>
                  <a:srgbClr val="3C4C50"/>
                </a:solidFill>
                <a:latin typeface="Be Vietnam Pro"/>
              </a:rPr>
              <a:t>dκ/ds — đạo hàm độ cong (jerk hình học)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0250" y="3033613"/>
            <a:ext cx="6766520" cy="2913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C3E6B"/>
                </a:solidFill>
                <a:latin typeface="JetBrains Mono"/>
              </a:rPr>
              <a:t>5.</a:t>
            </a:r>
            <a:r>
              <a:rPr sz="1350" b="0" i="0">
                <a:solidFill>
                  <a:srgbClr val="3C4C50"/>
                </a:solidFill>
                <a:latin typeface="Be Vietnam Pro"/>
              </a:rPr>
              <a:t> </a:t>
            </a:r>
            <a:r>
              <a:rPr sz="1350" b="0" i="0">
                <a:solidFill>
                  <a:srgbClr val="3C4C50"/>
                </a:solidFill>
                <a:latin typeface="Be Vietnam Pro"/>
              </a:rPr>
              <a:t>d²κ/ds² — đạo hàm bậc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0250" y="3334841"/>
            <a:ext cx="6766520" cy="2913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C3E6B"/>
                </a:solidFill>
                <a:latin typeface="JetBrains Mono"/>
              </a:rPr>
              <a:t>6.</a:t>
            </a:r>
            <a:r>
              <a:rPr sz="1350" b="0" i="0">
                <a:solidFill>
                  <a:srgbClr val="3C4C50"/>
                </a:solidFill>
                <a:latin typeface="Be Vietnam Pro"/>
              </a:rPr>
              <a:t> </a:t>
            </a:r>
            <a:r>
              <a:rPr sz="1350" b="0" i="0">
                <a:solidFill>
                  <a:srgbClr val="3C4C50"/>
                </a:solidFill>
                <a:latin typeface="Be Vietnam Pro"/>
              </a:rPr>
              <a:t>s_norm = s/L ∈ [0,1] — chiều dài cung tương đối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250" y="3636070"/>
            <a:ext cx="6766520" cy="2913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C3E6B"/>
                </a:solidFill>
                <a:latin typeface="JetBrains Mono"/>
              </a:rPr>
              <a:t>7.</a:t>
            </a:r>
            <a:r>
              <a:rPr sz="1350" b="0" i="0">
                <a:solidFill>
                  <a:srgbClr val="3C4C50"/>
                </a:solidFill>
                <a:latin typeface="Be Vietnam Pro"/>
              </a:rPr>
              <a:t> </a:t>
            </a:r>
            <a:r>
              <a:rPr sz="1350" b="0" i="0">
                <a:solidFill>
                  <a:srgbClr val="3C4C50"/>
                </a:solidFill>
                <a:latin typeface="Be Vietnam Pro"/>
              </a:rPr>
              <a:t>σ_local(κ) — độ lệch chuẩn cục bộ (cửa sổ 11)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0250" y="5711825"/>
            <a:ext cx="6766520" cy="3013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0772B"/>
                </a:solidFill>
                <a:latin typeface="Be Vietnam Pro"/>
              </a:rPr>
              <a:t>⇒ </a:t>
            </a:r>
            <a:r>
              <a:rPr sz="1500" b="1" i="0">
                <a:solidFill>
                  <a:srgbClr val="E0772B"/>
                </a:solidFill>
                <a:latin typeface="Be Vietnam Pro"/>
              </a:rPr>
              <a:t>0</a:t>
            </a:r>
            <a:r>
              <a:rPr sz="1350" b="1" i="0">
                <a:solidFill>
                  <a:srgbClr val="E0772B"/>
                </a:solidFill>
                <a:latin typeface="Be Vietnam Pro"/>
              </a:rPr>
              <a:t> kênh phụ thuộc khung quy chiếu (đã bỏ sinθ, cosθ, θ).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4670" y="5549900"/>
            <a:ext cx="4384080" cy="472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C6B6E"/>
                </a:solidFill>
                <a:latin typeface="Be Vietnam Pro"/>
              </a:rPr>
              <a:t>Các đại lượng nội tại tính trên từng cặp điểm liền kề — không thay đổi khi xoay/tịnh tiến.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00" y="6356350"/>
            <a:ext cx="12065000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772B"/>
                </a:solidFill>
                <a:latin typeface="Be Vietnam Pro"/>
              </a:rPr>
              <a:t>Takeaway: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 Bất biến SE(2) được đảm bảo từ khâu đặc trưng — trước khi mô hình học.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0" y="406400"/>
            <a:ext cx="12065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SE2ROADNET ·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41350"/>
            <a:ext cx="12065000" cy="4705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pc="-25">
                <a:solidFill>
                  <a:srgbClr val="23373B"/>
                </a:solidFill>
                <a:latin typeface="Be Vietnam Pro"/>
              </a:rPr>
              <a:t>Bước 2: Kiến trúc SE2RoadNet (InvariantBlock ×6)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37943" y="2627908"/>
            <a:ext cx="4457799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C4C50"/>
                </a:solidFill>
                <a:latin typeface="Be Vietnam Pro"/>
              </a:rPr>
              <a:t>Mỗi điểm trên đường ⇒ một </a:t>
            </a:r>
            <a:r>
              <a:rPr sz="1300" b="1" i="0">
                <a:solidFill>
                  <a:srgbClr val="3C4C50"/>
                </a:solidFill>
                <a:latin typeface="Be Vietnam Pro"/>
              </a:rPr>
              <a:t>token 192 chiều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37943" y="3047008"/>
            <a:ext cx="8233668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C4C50"/>
                </a:solidFill>
                <a:latin typeface="Be Vietnam Pro"/>
              </a:rPr>
              <a:t>Mỗi block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 = MHA (8 heads) + FFN (512) + LayerNorm, với </a:t>
            </a:r>
            <a:r>
              <a:rPr sz="1300" b="1" i="0">
                <a:solidFill>
                  <a:srgbClr val="3C4C50"/>
                </a:solidFill>
                <a:latin typeface="Be Vietnam Pro"/>
              </a:rPr>
              <a:t>relative-arclength bias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 (Bước 3).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37943" y="3466108"/>
            <a:ext cx="3810496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C4C50"/>
                </a:solidFill>
                <a:latin typeface="Be Vietnam Pro"/>
              </a:rPr>
              <a:t>Pool [CLS] → 1 logit = xác suất FAIL.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19600" y="4075708"/>
            <a:ext cx="7969250" cy="2330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100">
                <a:solidFill>
                  <a:srgbClr val="2E7D5B"/>
                </a:solidFill>
                <a:latin typeface="JetBrains Mono"/>
              </a:rPr>
              <a:t>QUY MÔ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19600" y="4342408"/>
            <a:ext cx="7969250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C4C50"/>
                </a:solidFill>
                <a:latin typeface="Be Vietnam Pro"/>
              </a:rPr>
              <a:t>Tổng </a:t>
            </a:r>
            <a:r>
              <a:rPr sz="1300" b="1" i="0">
                <a:solidFill>
                  <a:srgbClr val="2E7D5B"/>
                </a:solidFill>
                <a:latin typeface="Be Vietnam Pro"/>
              </a:rPr>
              <a:t>2.11 M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 tham số (~2.5× RoadFury) — vẫn nhẹ, train 24 phút.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" y="6356350"/>
            <a:ext cx="12065000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772B"/>
                </a:solidFill>
                <a:latin typeface="Be Vietnam Pro"/>
              </a:rPr>
              <a:t>Takeaway: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 Một Transformer bất biến nhẹ — token hóa từng điểm đường, 6 InvariantBlock, đầu ra xác suất FAIL.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0" y="355600"/>
            <a:ext cx="12065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SE2ROADNET ·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590550"/>
            <a:ext cx="12065000" cy="4705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pc="-25">
                <a:solidFill>
                  <a:srgbClr val="23373B"/>
                </a:solidFill>
                <a:latin typeface="Be Vietnam Pro"/>
              </a:rPr>
              <a:t>Bước 3: Attention với bias hiệu số Δs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2150" y="1282700"/>
            <a:ext cx="5965329" cy="28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5483F"/>
                </a:solidFill>
                <a:latin typeface="Be Vietnam Pro"/>
              </a:rPr>
              <a:t>Vấn đề với PE tuyệt đối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2150" y="1587500"/>
            <a:ext cx="5177929" cy="7626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C4C50"/>
                </a:solidFill>
                <a:latin typeface="Be Vietnam Pro"/>
              </a:rPr>
              <a:t>PE chuẩn (sin/cos của index i) khóa mô hình vào </a:t>
            </a:r>
            <a:r>
              <a:rPr sz="1300" b="1" i="0">
                <a:solidFill>
                  <a:srgbClr val="3C4C50"/>
                </a:solidFill>
                <a:latin typeface="Be Vietnam Pro"/>
              </a:rPr>
              <a:t>vị trí tuyệt đối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 của token. Xoay/cắt đường khác ⇒ index ứng với arclength khác ⇒ vỡ bất biến.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2150" y="3536355"/>
            <a:ext cx="5965329" cy="28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E7D5B"/>
                </a:solidFill>
                <a:latin typeface="Be Vietnam Pro"/>
              </a:rPr>
              <a:t>Giải pháp: relative-arclength RFF bias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2150" y="3866555"/>
            <a:ext cx="5177929" cy="57769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C4C50"/>
                </a:solidFill>
                <a:latin typeface="Be Vietnam Pro"/>
              </a:rPr>
              <a:t>Thêm bias vào ma trận attention, chỉ phụ thuộc </a:t>
            </a:r>
            <a:r>
              <a:rPr sz="1300" b="1" i="0">
                <a:solidFill>
                  <a:srgbClr val="3C4C50"/>
                </a:solidFill>
                <a:latin typeface="Be Vietnam Pro"/>
              </a:rPr>
              <a:t>hiệu số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 Δs</a:t>
            </a:r>
            <a:r>
              <a:rPr sz="1080" b="0" i="0">
                <a:solidFill>
                  <a:srgbClr val="3C4C50"/>
                </a:solidFill>
                <a:latin typeface="Be Vietnam Pro"/>
              </a:rPr>
              <a:t>ij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 = s</a:t>
            </a:r>
            <a:r>
              <a:rPr sz="1080" b="0" i="0">
                <a:solidFill>
                  <a:srgbClr val="3C4C50"/>
                </a:solidFill>
                <a:latin typeface="Be Vietnam Pro"/>
              </a:rPr>
              <a:t>i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 − s</a:t>
            </a:r>
            <a:r>
              <a:rPr sz="1080" b="0" i="0">
                <a:solidFill>
                  <a:srgbClr val="3C4C50"/>
                </a:solidFill>
                <a:latin typeface="Be Vietnam Pro"/>
              </a:rPr>
              <a:t>j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 (bất biến tại tham số hóa):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2150" y="5093196"/>
            <a:ext cx="5965329" cy="243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6E"/>
                </a:solidFill>
                <a:latin typeface="Be Vietnam Pro"/>
              </a:rPr>
              <a:t>với ω ∈ R³² là tần số Fourier ngẫu nhiên (RFF) cố định.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779" y="4622602"/>
            <a:ext cx="5286871" cy="44924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5C6B6E"/>
                </a:solidFill>
                <a:latin typeface="Be Vietnam Pro"/>
              </a:rPr>
              <a:t>Heatmap: attention giảm theo |Δs</a:t>
            </a:r>
            <a:r>
              <a:rPr sz="919" b="0" i="1">
                <a:solidFill>
                  <a:srgbClr val="5C6B6E"/>
                </a:solidFill>
                <a:latin typeface="Be Vietnam Pro"/>
              </a:rPr>
              <a:t>ij</a:t>
            </a:r>
            <a:r>
              <a:rPr sz="1100" b="0" i="1">
                <a:solidFill>
                  <a:srgbClr val="5C6B6E"/>
                </a:solidFill>
                <a:latin typeface="Be Vietnam Pro"/>
              </a:rPr>
              <a:t>| — bias chỉ phụ thuộc hiệu số, không bao giờ i,j riêng lẻ.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" y="6400800"/>
            <a:ext cx="12065000" cy="2587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0772B"/>
                </a:solidFill>
                <a:latin typeface="Be Vietnam Pro"/>
              </a:rPr>
              <a:t>Chi phí:</a:t>
            </a:r>
            <a:r>
              <a:rPr sz="1250" b="0" i="0">
                <a:solidFill>
                  <a:srgbClr val="23373B"/>
                </a:solidFill>
                <a:latin typeface="Be Vietnam Pro"/>
              </a:rPr>
              <a:t> O(B · L² · 32) mỗi block — điểm tốn nhất (24 phút train). </a:t>
            </a:r>
            <a:r>
              <a:rPr sz="1250" b="1" i="0">
                <a:solidFill>
                  <a:srgbClr val="23373B"/>
                </a:solidFill>
                <a:latin typeface="Be Vietnam Pro"/>
              </a:rPr>
              <a:t>Cải tiến tương lai:</a:t>
            </a:r>
            <a:r>
              <a:rPr sz="1250" b="0" i="0">
                <a:solidFill>
                  <a:srgbClr val="23373B"/>
                </a:solidFill>
                <a:latin typeface="Be Vietnam Pro"/>
              </a:rPr>
              <a:t> RoPE-1D trên s_norm.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0" y="406400"/>
            <a:ext cx="12065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SE2ROADNET ·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41350"/>
            <a:ext cx="12065000" cy="4705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pc="-25">
                <a:solidFill>
                  <a:srgbClr val="23373B"/>
                </a:solidFill>
                <a:latin typeface="Be Vietnam Pro"/>
              </a:rPr>
              <a:t>Buớc 4: Huấn luyện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850" y="1371600"/>
            <a:ext cx="6134695" cy="2759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3373B"/>
                </a:solidFill>
                <a:latin typeface="Be Vietnam Pro"/>
              </a:rPr>
              <a:t>Focal Loss (γ=1.5): dồn sức học ca khó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09345" y="1358900"/>
            <a:ext cx="5879505" cy="2759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0772B"/>
                </a:solidFill>
                <a:latin typeface="Be Vietnam Pro"/>
              </a:rPr>
              <a:t>Vì sao Focal Loss?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09345" y="2089150"/>
            <a:ext cx="5092105" cy="472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C4C50"/>
                </a:solidFill>
                <a:latin typeface="Be Vietnam Pro"/>
              </a:rPr>
              <a:t>FAIL chỉ ~30–40%; BCE thuần ⇒ model "đoán PASS hết". Hệ số (1 − p̂_t)ᴳ </a:t>
            </a:r>
            <a:r>
              <a:rPr sz="1200" b="0" i="1">
                <a:solidFill>
                  <a:srgbClr val="3C4C50"/>
                </a:solidFill>
                <a:latin typeface="Be Vietnam Pro"/>
              </a:rPr>
              <a:t>down-weight</a:t>
            </a:r>
            <a:r>
              <a:rPr sz="1200" b="0" i="0">
                <a:solidFill>
                  <a:srgbClr val="3C4C50"/>
                </a:solidFill>
                <a:latin typeface="Be Vietnam Pro"/>
              </a:rPr>
              <a:t> ca dễ, </a:t>
            </a:r>
            <a:r>
              <a:rPr sz="1200" b="0" i="1">
                <a:solidFill>
                  <a:srgbClr val="3C4C50"/>
                </a:solidFill>
                <a:latin typeface="Be Vietnam Pro"/>
              </a:rPr>
              <a:t>up-weight</a:t>
            </a:r>
            <a:r>
              <a:rPr sz="1200" b="0" i="0">
                <a:solidFill>
                  <a:srgbClr val="3C4C50"/>
                </a:solidFill>
                <a:latin typeface="Be Vietnam Pro"/>
              </a:rPr>
              <a:t> ca khó.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09345" y="2997200"/>
            <a:ext cx="5879505" cy="2759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C3E6B"/>
                </a:solidFill>
                <a:latin typeface="Be Vietnam Pro"/>
              </a:rPr>
              <a:t>Cấu hình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" y="6356350"/>
            <a:ext cx="12065000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772B"/>
                </a:solidFill>
                <a:latin typeface="Be Vietnam Pro"/>
              </a:rPr>
              <a:t>Takeaway: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 Focal γ=1.5 + WeightedRandom ép model đầu tư vào ca FAIL hiếm mà không đổi siêu tham số.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355600"/>
            <a:ext cx="11861800" cy="2330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150">
                <a:solidFill>
                  <a:srgbClr val="6B8082"/>
                </a:solidFill>
                <a:latin typeface="JetBrains Mono"/>
              </a:rPr>
              <a:t>ROADFURY → SE2ROADNET</a:t>
            </a:r>
            <a:r>
              <a:rPr sz="1100" b="0" i="0" spc="150">
                <a:solidFill>
                  <a:srgbClr val="6B8082"/>
                </a:solidFill>
                <a:latin typeface="JetBrains Mono"/>
              </a:rPr>
              <a:t>04 /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558554"/>
            <a:ext cx="11861800" cy="288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250">
                <a:solidFill>
                  <a:srgbClr val="E0772B"/>
                </a:solidFill>
                <a:latin typeface="JetBrains Mono"/>
              </a:rPr>
              <a:t>PHẦN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844304"/>
            <a:ext cx="11861800" cy="94107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 spc="-100">
                <a:solidFill>
                  <a:srgbClr val="F6F4EF"/>
                </a:solidFill>
                <a:latin typeface="Be Vietnam Pro"/>
              </a:rPr>
              <a:t>Đánh giá thực nghiệm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026396"/>
            <a:ext cx="8191500" cy="32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spc="50">
                <a:solidFill>
                  <a:srgbClr val="9DAEB0"/>
                </a:solidFill>
                <a:latin typeface="JetBrains Mono"/>
              </a:rPr>
              <a:t>APFD · giao thức · bất biến Δ=0 · leaderboard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0" y="406400"/>
            <a:ext cx="12065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ĐÁNH GIÁ ·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41350"/>
            <a:ext cx="12065000" cy="4705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pc="-25">
                <a:solidFill>
                  <a:srgbClr val="23373B"/>
                </a:solidFill>
                <a:latin typeface="Be Vietnam Pro"/>
              </a:rPr>
              <a:t>Chỉ số APFD &amp; Giao thức đánh giá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850" y="1346200"/>
            <a:ext cx="6908800" cy="2759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3373B"/>
                </a:solidFill>
                <a:latin typeface="Be Vietnam Pro"/>
              </a:rPr>
              <a:t>Average Percentage of Faults Detected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850" y="1670050"/>
            <a:ext cx="6908800" cy="274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C4C50"/>
                </a:solidFill>
                <a:latin typeface="Be Vietnam Pro"/>
              </a:rPr>
              <a:t>Với hoán vị π trên n test (m là FAIL), TF</a:t>
            </a:r>
            <a:r>
              <a:rPr sz="1000" b="0" i="0">
                <a:solidFill>
                  <a:srgbClr val="3C4C50"/>
                </a:solidFill>
                <a:latin typeface="Be Vietnam Pro"/>
              </a:rPr>
              <a:t>i</a:t>
            </a:r>
            <a:r>
              <a:rPr sz="1200" b="0" i="0">
                <a:solidFill>
                  <a:srgbClr val="3C4C50"/>
                </a:solidFill>
                <a:latin typeface="Be Vietnam Pro"/>
              </a:rPr>
              <a:t> là vị trí fault thứ i: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850" y="2614910"/>
            <a:ext cx="6908800" cy="243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C4C50"/>
                </a:solidFill>
                <a:latin typeface="Be Vietnam Pro"/>
              </a:rPr>
              <a:t>Khoảng [0,1], càng cao càng tốt. Ngẫu nhiên ~ 0.5; Lý tưởng ~ 1.0.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26250" y="3734495"/>
            <a:ext cx="5130800" cy="22669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C4C50"/>
                </a:solidFill>
                <a:latin typeface="Be Vietnam Pro"/>
              </a:rPr>
              <a:t>Ranking tốt ⇒ đường cong dốc đứng từ đầu.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9450" y="4387850"/>
            <a:ext cx="3983534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C3E6B"/>
                </a:solidFill>
                <a:latin typeface="Be Vietnam Pro"/>
              </a:rPr>
              <a:t>1. Single-pass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450" y="4705350"/>
            <a:ext cx="3196134" cy="472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C4C50"/>
                </a:solidFill>
                <a:latin typeface="Be Vietnam Pro"/>
              </a:rPr>
              <a:t>Xếp hạng 1 lần trên toàn Competition split (956 test)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8684" y="4387850"/>
            <a:ext cx="3983534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772B"/>
                </a:solidFill>
                <a:latin typeface="Be Vietnam Pro"/>
              </a:rPr>
              <a:t>2. Multi-trial (30 lần)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8684" y="4692650"/>
            <a:ext cx="3196134" cy="472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C4C50"/>
                </a:solidFill>
                <a:latin typeface="Be Vietnam Pro"/>
              </a:rPr>
              <a:t>Mỗi trial: lấy ngẫu nhiên 287/956 test → APFD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8684" y="5811540"/>
            <a:ext cx="3983534" cy="22669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B6E"/>
                </a:solidFill>
                <a:latin typeface="Be Vietnam Pro"/>
              </a:rPr>
              <a:t>loại "may rủi" do thứ tự cố định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7917" y="4387850"/>
            <a:ext cx="3983534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D5B"/>
                </a:solidFill>
                <a:latin typeface="Be Vietnam Pro"/>
              </a:rPr>
              <a:t>3. Rotation probe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7917" y="4705350"/>
            <a:ext cx="3196134" cy="472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C4C50"/>
                </a:solidFill>
                <a:latin typeface="Be Vietnam Pro"/>
              </a:rPr>
              <a:t>Xoay toàn bộ split bằng {0,30,60,90,180,−45}° rồi đánh giá lại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00" y="6356350"/>
            <a:ext cx="12065000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772B"/>
                </a:solidFill>
                <a:latin typeface="Be Vietnam Pro"/>
              </a:rPr>
              <a:t>Takeaway: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 Ba lớp: single-pass (điểm chính) → multi-trial (độ ổn định) → rotation probe (kiểm chứng bất biến).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0" y="406400"/>
            <a:ext cx="12065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ĐÁNH GIÁ ·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41350"/>
            <a:ext cx="12065000" cy="4705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pc="-25">
                <a:solidFill>
                  <a:srgbClr val="23373B"/>
                </a:solidFill>
                <a:latin typeface="Be Vietnam Pro"/>
              </a:rPr>
              <a:t>Kết quả headline: Bất biến phép xoay Δ =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2150" y="1320800"/>
            <a:ext cx="7001173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3373B"/>
                </a:solidFill>
                <a:latin typeface="Be Vietnam Pro"/>
              </a:rPr>
              <a:t>Xoay đường ⇒ baseline trôi điểm, SE2RoadNet bất biến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82173" y="4032250"/>
            <a:ext cx="5019377" cy="2759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E7D5B"/>
                </a:solidFill>
                <a:latin typeface="Be Vietnam Pro"/>
              </a:rPr>
              <a:t>Không phải "trong sai số"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82173" y="4330700"/>
            <a:ext cx="4231977" cy="701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C4C50"/>
                </a:solidFill>
                <a:latin typeface="Be Vietnam Pro"/>
              </a:rPr>
              <a:t>6 góc xoay, APFD bằng nhau </a:t>
            </a:r>
            <a:r>
              <a:rPr sz="1200" b="1" i="0">
                <a:solidFill>
                  <a:srgbClr val="3C4C50"/>
                </a:solidFill>
                <a:latin typeface="Be Vietnam Pro"/>
              </a:rPr>
              <a:t>đến từng bit float</a:t>
            </a:r>
            <a:r>
              <a:rPr sz="1200" b="0" i="0">
                <a:solidFill>
                  <a:srgbClr val="3C4C50"/>
                </a:solidFill>
                <a:latin typeface="Be Vietnam Pro"/>
              </a:rPr>
              <a:t> (=0, không phải ~10⁻³): pipeline 7 kênh trả vector </a:t>
            </a:r>
            <a:r>
              <a:rPr sz="1200" b="0" i="1">
                <a:solidFill>
                  <a:srgbClr val="3C4C50"/>
                </a:solidFill>
                <a:latin typeface="Be Vietnam Pro"/>
              </a:rPr>
              <a:t>pixel-identical</a:t>
            </a:r>
            <a:r>
              <a:rPr sz="1200" b="0" i="0">
                <a:solidFill>
                  <a:srgbClr val="3C4C50"/>
                </a:solidFill>
                <a:latin typeface="Be Vietnam Pro"/>
              </a:rPr>
              <a:t> sau xoay ⇒ logit y nguyên.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" y="6350000"/>
            <a:ext cx="12065000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772B"/>
                </a:solidFill>
                <a:latin typeface="Be Vietnam Pro"/>
              </a:rPr>
              <a:t>⇒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 Lý thuyết được xác minh bằng thực nghiệm, không cần nói "xấp xỉ".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0" y="406400"/>
            <a:ext cx="12065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ĐÁNH GIÁ ·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41350"/>
            <a:ext cx="12065000" cy="4705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pc="-25">
                <a:solidFill>
                  <a:srgbClr val="23373B"/>
                </a:solidFill>
                <a:latin typeface="Be Vietnam Pro"/>
              </a:rPr>
              <a:t>Bảng xếp hạng: so với 8 baselines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850" y="1333500"/>
            <a:ext cx="6863854" cy="2587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3373B"/>
                </a:solidFill>
                <a:latin typeface="Be Vietnam Pro"/>
              </a:rPr>
              <a:t>Bảng xếp hạng APFD </a:t>
            </a:r>
            <a:r>
              <a:rPr sz="1050" b="0" i="0">
                <a:solidFill>
                  <a:srgbClr val="5C6B6E"/>
                </a:solidFill>
                <a:latin typeface="JetBrains Mono"/>
              </a:rPr>
              <a:t>(956 test OOD, 30 trials)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51204" y="3565128"/>
            <a:ext cx="5137646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D5B"/>
                </a:solidFill>
                <a:latin typeface="Be Vietnam Pro"/>
              </a:rPr>
              <a:t>Đọc bảng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51204" y="3869928"/>
            <a:ext cx="4350246" cy="750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C4C50"/>
                </a:solidFill>
                <a:latin typeface="Be Vietnam Pro"/>
              </a:rPr>
              <a:t>SE2RoadNet </a:t>
            </a:r>
            <a:r>
              <a:rPr sz="1250" b="1" i="0">
                <a:solidFill>
                  <a:srgbClr val="3C4C50"/>
                </a:solidFill>
                <a:latin typeface="Be Vietnam Pro"/>
              </a:rPr>
              <a:t>ngang APFD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baseline tốt nhất, nhưng </a:t>
            </a:r>
            <a:r>
              <a:rPr sz="1250" b="1" i="0">
                <a:solidFill>
                  <a:srgbClr val="3C4C50"/>
                </a:solidFill>
                <a:latin typeface="Be Vietnam Pro"/>
              </a:rPr>
              <a:t>tăng AUC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(+0.017) và </a:t>
            </a:r>
            <a:r>
              <a:rPr sz="1250" b="1" i="0">
                <a:solidFill>
                  <a:srgbClr val="3C4C50"/>
                </a:solidFill>
                <a:latin typeface="Be Vietnam Pro"/>
              </a:rPr>
              <a:t>thêm bảo chứng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Δ=0 mà không method nào có ⇒ cải thiện theo nghĩa </a:t>
            </a:r>
            <a:r>
              <a:rPr sz="1250" b="0" i="1">
                <a:solidFill>
                  <a:srgbClr val="3C4C50"/>
                </a:solidFill>
                <a:latin typeface="Be Vietnam Pro"/>
              </a:rPr>
              <a:t>Pareto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67054" y="5779294"/>
            <a:ext cx="4718546" cy="41140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C6B6E"/>
                </a:solidFill>
                <a:latin typeface="Be Vietnam Pro"/>
              </a:rPr>
              <a:t>LLM zero-shot &amp; Greedy-diversity: baseline nhóm tái lập trong cùng harness.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" y="6356350"/>
            <a:ext cx="12065000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772B"/>
                </a:solidFill>
                <a:latin typeface="Be Vietnam Pro"/>
              </a:rPr>
              <a:t>Không đánh đổi: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 giữ APFD đỉnh, tăng AUC, và là phương pháp duy nhất bất biến SE(2) tuyệt đối.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0" y="406400"/>
            <a:ext cx="12065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ĐÁNH GIÁ ·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41350"/>
            <a:ext cx="12065000" cy="4705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pc="-25">
                <a:solidFill>
                  <a:srgbClr val="23373B"/>
                </a:solidFill>
                <a:latin typeface="Be Vietnam Pro"/>
              </a:rPr>
              <a:t>AUC vs APFD: vì sao tách bạch?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850" y="1390650"/>
            <a:ext cx="5207000" cy="53308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C3E6B"/>
                </a:solidFill>
                <a:latin typeface="Be Vietnam Pro"/>
              </a:rPr>
              <a:t>AUC</a:t>
            </a:r>
            <a:r>
              <a:rPr sz="1350" b="0" i="0">
                <a:solidFill>
                  <a:srgbClr val="3C4C50"/>
                </a:solidFill>
                <a:latin typeface="Be Vietnam Pro"/>
              </a:rPr>
              <a:t> đo </a:t>
            </a:r>
            <a:r>
              <a:rPr sz="1350" b="0" i="1">
                <a:solidFill>
                  <a:srgbClr val="3C4C50"/>
                </a:solidFill>
                <a:latin typeface="Be Vietnam Pro"/>
              </a:rPr>
              <a:t>khả năng phân loại</a:t>
            </a:r>
            <a:r>
              <a:rPr sz="1350" b="0" i="0">
                <a:solidFill>
                  <a:srgbClr val="3C4C50"/>
                </a:solidFill>
                <a:latin typeface="Be Vietnam Pro"/>
              </a:rPr>
              <a:t> PASS/FAIL trên </a:t>
            </a:r>
            <a:r>
              <a:rPr sz="1350" b="0" i="1">
                <a:solidFill>
                  <a:srgbClr val="3C4C50"/>
                </a:solidFill>
                <a:latin typeface="Be Vietnam Pro"/>
              </a:rPr>
              <a:t>từng cặp</a:t>
            </a:r>
            <a:r>
              <a:rPr sz="1350" b="0" i="0">
                <a:solidFill>
                  <a:srgbClr val="3C4C50"/>
                </a:solidFill>
                <a:latin typeface="Be Vietnam Pro"/>
              </a:rPr>
              <a:t> — không quan tâm thứ hạng tuyệt đối.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81750" y="1390650"/>
            <a:ext cx="5207000" cy="53308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0772B"/>
                </a:solidFill>
                <a:latin typeface="Be Vietnam Pro"/>
              </a:rPr>
              <a:t>APFD</a:t>
            </a:r>
            <a:r>
              <a:rPr sz="1350" b="0" i="0">
                <a:solidFill>
                  <a:srgbClr val="3C4C50"/>
                </a:solidFill>
                <a:latin typeface="Be Vietnam Pro"/>
              </a:rPr>
              <a:t> đo </a:t>
            </a:r>
            <a:r>
              <a:rPr sz="1350" b="0" i="1">
                <a:solidFill>
                  <a:srgbClr val="3C4C50"/>
                </a:solidFill>
                <a:latin typeface="Be Vietnam Pro"/>
              </a:rPr>
              <a:t>tốc độ lộ lỗi theo thứ tự chạy</a:t>
            </a:r>
            <a:r>
              <a:rPr sz="1350" b="0" i="0">
                <a:solidFill>
                  <a:srgbClr val="3C4C50"/>
                </a:solidFill>
                <a:latin typeface="Be Vietnam Pro"/>
              </a:rPr>
              <a:t> — chính là cái Competition tối ưu.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3524250"/>
            <a:ext cx="1054100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772B"/>
                </a:solidFill>
                <a:latin typeface="Be Vietnam Pro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" y="3524250"/>
            <a:ext cx="6096000" cy="51498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C4C50"/>
                </a:solidFill>
                <a:latin typeface="Be Vietnam Pro"/>
              </a:rPr>
              <a:t>Trong gần như mọi thí nghiệm của nhóm, AUC và APFD </a:t>
            </a:r>
            <a:r>
              <a:rPr sz="1300" b="1" i="0">
                <a:solidFill>
                  <a:srgbClr val="3C4C50"/>
                </a:solidFill>
                <a:latin typeface="Be Vietnam Pro"/>
              </a:rPr>
              <a:t>phân kỳ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: tăng AUC không đảm bảo tăng APFD.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4197350"/>
            <a:ext cx="1054100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772B"/>
                </a:solidFill>
                <a:latin typeface="Be Vietnam Pro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4700" y="4197350"/>
            <a:ext cx="6785570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C4C50"/>
                </a:solidFill>
                <a:latin typeface="Be Vietnam Pro"/>
              </a:rPr>
              <a:t>SE2RoadNet tăng AUC (0.917 → 0.934) trong khi APFD giữ đỉnh (~0.805).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000" y="4622800"/>
            <a:ext cx="1035248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772B"/>
                </a:solidFill>
                <a:latin typeface="Be Vietnam Pro"/>
              </a:rPr>
              <a:t>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5848" y="4622800"/>
            <a:ext cx="6641604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6242A"/>
                </a:solidFill>
                <a:latin typeface="Be Vietnam Pro"/>
              </a:rPr>
              <a:t>Khi báo cáo phải nói rõ </a:t>
            </a:r>
            <a:r>
              <a:rPr sz="1300" b="0" i="1">
                <a:solidFill>
                  <a:srgbClr val="16242A"/>
                </a:solidFill>
                <a:latin typeface="Be Vietnam Pro"/>
              </a:rPr>
              <a:t>metric nào</a:t>
            </a:r>
            <a:r>
              <a:rPr sz="1300" b="0" i="0">
                <a:solidFill>
                  <a:srgbClr val="16242A"/>
                </a:solidFill>
                <a:latin typeface="Be Vietnam Pro"/>
              </a:rPr>
              <a:t> đang được tối ưu cho tình huống nào.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4650" y="5822950"/>
            <a:ext cx="5207000" cy="22669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B6E"/>
                </a:solidFill>
                <a:latin typeface="Be Vietnam Pro"/>
              </a:rPr>
              <a:t>AUC tăng, APFD gần như phẳng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" y="6356350"/>
            <a:ext cx="12065000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772B"/>
                </a:solidFill>
                <a:latin typeface="Be Vietnam Pro"/>
              </a:rPr>
              <a:t>Takeaway: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 Không gộp AUC và APFD thành "một điểm tốt hơn" — chúng đo hai thứ khác nhau.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355600"/>
            <a:ext cx="11861800" cy="2330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150">
                <a:solidFill>
                  <a:srgbClr val="6B8082"/>
                </a:solidFill>
                <a:latin typeface="JetBrains Mono"/>
              </a:rPr>
              <a:t>ROADFURY → SE2ROADNET</a:t>
            </a:r>
            <a:r>
              <a:rPr sz="1100" b="0" i="0" spc="150">
                <a:solidFill>
                  <a:srgbClr val="6B8082"/>
                </a:solidFill>
                <a:latin typeface="JetBrains Mono"/>
              </a:rPr>
              <a:t>05 /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290762"/>
            <a:ext cx="11861800" cy="288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250">
                <a:solidFill>
                  <a:srgbClr val="E0772B"/>
                </a:solidFill>
                <a:latin typeface="JetBrains Mono"/>
              </a:rPr>
              <a:t>PHẦN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582862"/>
            <a:ext cx="11074400" cy="145923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spc="-100">
                <a:solidFill>
                  <a:srgbClr val="F6F4EF"/>
                </a:solidFill>
                <a:latin typeface="Be Vietnam Pro"/>
              </a:rPr>
              <a:t>Hạn chế &amp;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spc="-100">
                <a:solidFill>
                  <a:srgbClr val="F6F4EF"/>
                </a:solidFill>
                <a:latin typeface="Be Vietnam Pro"/>
              </a:rPr>
              <a:t>Hướng phát triển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303712"/>
            <a:ext cx="8191500" cy="3079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DAEB0"/>
                </a:solidFill>
                <a:latin typeface="Be Vietnam Pro"/>
              </a:rPr>
              <a:t>nhìn thẳng điểm yếu · bốn hướng mở rộng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0" y="406400"/>
            <a:ext cx="12065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HẠN CHẾ ·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41350"/>
            <a:ext cx="12065000" cy="4705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pc="-25">
                <a:solidFill>
                  <a:srgbClr val="23373B"/>
                </a:solidFill>
                <a:latin typeface="Be Vietnam Pro"/>
              </a:rPr>
              <a:t>Hạn chế: nhìn thẳng vào điểm yếu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0250" y="1384300"/>
            <a:ext cx="5943600" cy="3079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3373B"/>
                </a:solidFill>
                <a:latin typeface="Be Vietnam Pro"/>
              </a:rPr>
              <a:t>Về chỉ số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0250" y="1752600"/>
            <a:ext cx="5156200" cy="49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5483F"/>
                </a:solidFill>
                <a:latin typeface="Be Vietnam Pro"/>
              </a:rPr>
              <a:t>AUC và APFD phân kỳ: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AUC cao hơn không kéo theo APFD cao hơn — phải lập luận cẩn thận metric nào quan trọng khi nào.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0250" y="2343150"/>
            <a:ext cx="5156200" cy="49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5483F"/>
                </a:solidFill>
                <a:latin typeface="Be Vietnam Pro"/>
              </a:rPr>
              <a:t>Listwise loss chưa tăng APFD trung bình: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chỉ giảm σ ⇒ đóng góp 'ổn định', không phải headline.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0250" y="2933700"/>
            <a:ext cx="5156200" cy="49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5483F"/>
                </a:solidFill>
                <a:latin typeface="Be Vietnam Pro"/>
              </a:rPr>
              <a:t>Trần APFD ở bench FAIL cao: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ví dụ 95% FAIL ⇒ APFD ~ 0.52 là </a:t>
            </a:r>
            <a:r>
              <a:rPr sz="1250" b="0" i="1">
                <a:solidFill>
                  <a:srgbClr val="3C4C50"/>
                </a:solidFill>
                <a:latin typeface="Be Vietnam Pro"/>
              </a:rPr>
              <a:t>ceiling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, không phải thất bại.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7150" y="1384300"/>
            <a:ext cx="5943600" cy="3079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3373B"/>
                </a:solidFill>
                <a:latin typeface="Be Vietnam Pro"/>
              </a:rPr>
              <a:t>Về phương pháp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7150" y="1752600"/>
            <a:ext cx="5156200" cy="49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5483F"/>
                </a:solidFill>
                <a:latin typeface="Be Vietnam Pro"/>
              </a:rPr>
              <a:t>Conformal an toàn còn dở: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v1 valid-nhưng-vô nghĩa, v2 informative-nhưng-invalid; cần v3 mới ship.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7150" y="2343150"/>
            <a:ext cx="5156200" cy="49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5483F"/>
                </a:solidFill>
                <a:latin typeface="Be Vietnam Pro"/>
              </a:rPr>
              <a:t>Dịch phân phối chưa đóng: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IRM / TENT chưa thu hẹp gap SensoDat→Competition (negative đã biết).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7150" y="2933700"/>
            <a:ext cx="5156200" cy="49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5483F"/>
                </a:solidFill>
                <a:latin typeface="Be Vietnam Pro"/>
              </a:rPr>
              <a:t>Bất biến lấy mẫu là xấp xỉ: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resolution probe Δ ~ 0.0012 (rất nhỏ) — chưa </a:t>
            </a:r>
            <a:r>
              <a:rPr sz="1250" b="0" i="1">
                <a:solidFill>
                  <a:srgbClr val="3C4C50"/>
                </a:solidFill>
                <a:latin typeface="Be Vietnam Pro"/>
              </a:rPr>
              <a:t>exact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như phép xoay.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" y="3829050"/>
            <a:ext cx="12065000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772B"/>
                </a:solidFill>
                <a:latin typeface="Be Vietnam Pro"/>
              </a:rPr>
              <a:t>Takeaway: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 Bất biến xoay là </a:t>
            </a:r>
            <a:r>
              <a:rPr sz="1300" b="0" i="1">
                <a:solidFill>
                  <a:srgbClr val="23373B"/>
                </a:solidFill>
                <a:latin typeface="Be Vietnam Pro"/>
              </a:rPr>
              <a:t>exact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; các đảm bảo khác (resolution, conformal) vẫn đang hoàn thiện — báo cáo trung thực thay vì giấu.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0" y="406400"/>
            <a:ext cx="12065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HƯỚNG PHÁT TRIỂN ·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41350"/>
            <a:ext cx="12065000" cy="4705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pc="-25">
                <a:solidFill>
                  <a:srgbClr val="23373B"/>
                </a:solidFill>
                <a:latin typeface="Be Vietnam Pro"/>
              </a:rPr>
              <a:t>Hướng phát triển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0250" y="1397000"/>
            <a:ext cx="5949950" cy="3079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C3E6B"/>
                </a:solidFill>
                <a:latin typeface="Be Vietnam Pro"/>
              </a:rPr>
              <a:t>Tổng quát hóa đa benchmark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0250" y="1746250"/>
            <a:ext cx="5162550" cy="5232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C4C50"/>
                </a:solidFill>
                <a:latin typeface="Be Vietnam Pro"/>
              </a:rPr>
              <a:t>Một công thức, 8+ benchmark công khai (OOB, SDC-Scissor, sdc-travel...) — APFD không tinh chỉnh theo từng bench.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97000"/>
            <a:ext cx="5949950" cy="3079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E7D5B"/>
                </a:solidFill>
                <a:latin typeface="Be Vietnam Pro"/>
              </a:rPr>
              <a:t>An toàn có bảo chứng (Conformal v3)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746250"/>
            <a:ext cx="5162550" cy="5232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C4C50"/>
                </a:solidFill>
                <a:latin typeface="Be Vietnam Pro"/>
              </a:rPr>
              <a:t>Chặn dưới prefix-APFD vừa </a:t>
            </a:r>
            <a:r>
              <a:rPr sz="1300" b="0" i="1">
                <a:solidFill>
                  <a:srgbClr val="3C4C50"/>
                </a:solidFill>
                <a:latin typeface="Be Vietnam Pro"/>
              </a:rPr>
              <a:t>valid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 vừa </a:t>
            </a:r>
            <a:r>
              <a:rPr sz="1300" b="0" i="1">
                <a:solidFill>
                  <a:srgbClr val="3C4C50"/>
                </a:solidFill>
                <a:latin typeface="Be Vietnam Pro"/>
              </a:rPr>
              <a:t>non-vacuous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; audit tỉ lệ vi phạm độ cong.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0250" y="3978275"/>
            <a:ext cx="5949950" cy="3079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E7CA6"/>
                </a:solidFill>
                <a:latin typeface="Be Vietnam Pro"/>
              </a:rPr>
              <a:t>Bất biến lấy mẫu </a:t>
            </a:r>
            <a:r>
              <a:rPr sz="1500" b="1" i="1">
                <a:solidFill>
                  <a:srgbClr val="2E7CA6"/>
                </a:solidFill>
                <a:latin typeface="Be Vietnam Pro"/>
              </a:rPr>
              <a:t>exact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0250" y="4327525"/>
            <a:ext cx="5162550" cy="5232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C4C50"/>
                </a:solidFill>
                <a:latin typeface="Be Vietnam Pro"/>
              </a:rPr>
              <a:t>RoPE-1D trên s_norm thay RFF bias ⇒ rẻ hơn và tiến tới resolution-Δ = 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978275"/>
            <a:ext cx="5949950" cy="3079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5A33F"/>
                </a:solidFill>
                <a:latin typeface="Be Vietnam Pro"/>
              </a:rPr>
              <a:t>SSL vật lý (physics-informed)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327525"/>
            <a:ext cx="5162550" cy="5232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C4C50"/>
                </a:solidFill>
                <a:latin typeface="Be Vietnam Pro"/>
              </a:rPr>
              <a:t>Pretext task gắn với độ cong/jerk để học biểu diễn nền — thay SSL hình học ngây thơ (chuyển kém).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" y="6356350"/>
            <a:ext cx="12065000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772B"/>
                </a:solidFill>
                <a:latin typeface="Be Vietnam Pro"/>
              </a:rPr>
              <a:t>Mục tiêu: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 từ một baseline bất biến cho SDC → </a:t>
            </a:r>
            <a:r>
              <a:rPr sz="1300" b="1" i="0">
                <a:solidFill>
                  <a:srgbClr val="23373B"/>
                </a:solidFill>
                <a:latin typeface="Be Vietnam Pro"/>
              </a:rPr>
              <a:t>công thức chung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 bất biến &amp; audit-readable cho mọi benchmark.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0" y="381000"/>
            <a:ext cx="12065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THAM KHẢO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15950"/>
            <a:ext cx="12065000" cy="4705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pc="-25">
                <a:solidFill>
                  <a:srgbClr val="23373B"/>
                </a:solidFill>
                <a:latin typeface="Be Vietnam Pro"/>
              </a:rPr>
              <a:t>Tài liệu tham khảo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206500"/>
            <a:ext cx="5461000" cy="72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0772B"/>
                </a:solidFill>
                <a:latin typeface="JetBrains Mono"/>
              </a:rPr>
              <a:t>[1]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C. Birchler, C. Rohrbach, T. Kehrer, S. Panichella. </a:t>
            </a:r>
            <a:r>
              <a:rPr sz="1250" b="0" i="1">
                <a:solidFill>
                  <a:srgbClr val="3C4C50"/>
                </a:solidFill>
                <a:latin typeface="Be Vietnam Pro"/>
              </a:rPr>
              <a:t>SensoDat: Simulation-based Sensor Dataset of Self-driving Cars.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MSR, 2024. </a:t>
            </a:r>
            <a:r>
              <a:rPr sz="1250" b="0" i="0">
                <a:solidFill>
                  <a:srgbClr val="5C6B6E"/>
                </a:solidFill>
                <a:latin typeface="Be Vietnam Pro"/>
              </a:rPr>
              <a:t>(nguồn dữ liệu)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2036762"/>
            <a:ext cx="5461000" cy="72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0772B"/>
                </a:solidFill>
                <a:latin typeface="JetBrains Mono"/>
              </a:rPr>
              <a:t>[2]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C. Birchler, S. Khatiri, B. Bosshard, A. Gambi, S. Panichella. </a:t>
            </a:r>
            <a:r>
              <a:rPr sz="1250" b="0" i="1">
                <a:solidFill>
                  <a:srgbClr val="3C4C50"/>
                </a:solidFill>
                <a:latin typeface="Be Vietnam Pro"/>
              </a:rPr>
              <a:t>Single and Multi-objective Test Cases Prioritization for Self-driving Cars in Virtual Environments.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ACM TOSEM, 2023.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2867025"/>
            <a:ext cx="5461000" cy="495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0772B"/>
                </a:solidFill>
                <a:latin typeface="JetBrains Mono"/>
              </a:rPr>
              <a:t>[3]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</a:t>
            </a:r>
            <a:r>
              <a:rPr sz="1250" b="0" i="1">
                <a:solidFill>
                  <a:srgbClr val="3C4C50"/>
                </a:solidFill>
                <a:latin typeface="Be Vietnam Pro"/>
              </a:rPr>
              <a:t>ICST/SBFT Tool Competition — Self-Driving Car Testing (Cyber-Physical Systems).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2023–2025. </a:t>
            </a:r>
            <a:r>
              <a:rPr sz="1250" b="0" i="0">
                <a:solidFill>
                  <a:srgbClr val="5C6B6E"/>
                </a:solidFill>
                <a:latin typeface="Be Vietnam Pro"/>
              </a:rPr>
              <a:t>(giao thức APFD)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3467100"/>
            <a:ext cx="5461000" cy="495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0772B"/>
                </a:solidFill>
                <a:latin typeface="JetBrains Mono"/>
              </a:rPr>
              <a:t>[4]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G. Rothermel, R. Untch, C. Chu, M. Harrold. </a:t>
            </a:r>
            <a:r>
              <a:rPr sz="1250" b="0" i="1">
                <a:solidFill>
                  <a:srgbClr val="3C4C50"/>
                </a:solidFill>
                <a:latin typeface="Be Vietnam Pro"/>
              </a:rPr>
              <a:t>Prioritizing Test Cases for Regression Testing.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IEEE TSE, 2001. </a:t>
            </a:r>
            <a:r>
              <a:rPr sz="1250" b="0" i="0">
                <a:solidFill>
                  <a:srgbClr val="5C6B6E"/>
                </a:solidFill>
                <a:latin typeface="Be Vietnam Pro"/>
              </a:rPr>
              <a:t>(định nghĩa APFD)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4067175"/>
            <a:ext cx="6248400" cy="2714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0772B"/>
                </a:solidFill>
                <a:latin typeface="JetBrains Mono"/>
              </a:rPr>
              <a:t>[5]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A. Vaswani et al. </a:t>
            </a:r>
            <a:r>
              <a:rPr sz="1250" b="0" i="1">
                <a:solidFill>
                  <a:srgbClr val="3C4C50"/>
                </a:solidFill>
                <a:latin typeface="Be Vietnam Pro"/>
              </a:rPr>
              <a:t>Attention Is All You Need.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NeurIPS, 2017.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4600" y="1206500"/>
            <a:ext cx="5461000" cy="495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0772B"/>
                </a:solidFill>
                <a:latin typeface="JetBrains Mono"/>
              </a:rPr>
              <a:t>[6]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T.-Y. Lin, P. Goyal, R. Girshick, K. He, P. Dollar. </a:t>
            </a:r>
            <a:r>
              <a:rPr sz="1250" b="0" i="1">
                <a:solidFill>
                  <a:srgbClr val="3C4C50"/>
                </a:solidFill>
                <a:latin typeface="Be Vietnam Pro"/>
              </a:rPr>
              <a:t>Focal Loss for Dense Object Detection.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ICCV, 2017.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600" y="1806575"/>
            <a:ext cx="5461000" cy="495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0772B"/>
                </a:solidFill>
                <a:latin typeface="JetBrains Mono"/>
              </a:rPr>
              <a:t>[7]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P. Izmailov et al. </a:t>
            </a:r>
            <a:r>
              <a:rPr sz="1250" b="0" i="1">
                <a:solidFill>
                  <a:srgbClr val="3C4C50"/>
                </a:solidFill>
                <a:latin typeface="Be Vietnam Pro"/>
              </a:rPr>
              <a:t>Averaging Weights Leads to Wider Optima and Better Generalization (SWA).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UAI, 2018.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4600" y="2406650"/>
            <a:ext cx="5461000" cy="495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0772B"/>
                </a:solidFill>
                <a:latin typeface="JetBrains Mono"/>
              </a:rPr>
              <a:t>[8]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T. Cohen, M. Welling. </a:t>
            </a:r>
            <a:r>
              <a:rPr sz="1250" b="0" i="1">
                <a:solidFill>
                  <a:srgbClr val="3C4C50"/>
                </a:solidFill>
                <a:latin typeface="Be Vietnam Pro"/>
              </a:rPr>
              <a:t>Group Equivariant Convolutional Networks.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ICML, 2016. </a:t>
            </a:r>
            <a:r>
              <a:rPr sz="1250" b="0" i="0">
                <a:solidFill>
                  <a:srgbClr val="5C6B6E"/>
                </a:solidFill>
                <a:latin typeface="Be Vietnam Pro"/>
              </a:rPr>
              <a:t>(nền tảng bất biến nhóm)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4600" y="3006725"/>
            <a:ext cx="5461000" cy="495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0772B"/>
                </a:solidFill>
                <a:latin typeface="JetBrains Mono"/>
              </a:rPr>
              <a:t>[9]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A. Rahimi, B. Recht. </a:t>
            </a:r>
            <a:r>
              <a:rPr sz="1250" b="0" i="1">
                <a:solidFill>
                  <a:srgbClr val="3C4C50"/>
                </a:solidFill>
                <a:latin typeface="Be Vietnam Pro"/>
              </a:rPr>
              <a:t>Random Features for Large-Scale Kernel Machines (RFF).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NeurIPS, 2007.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4600" y="3606800"/>
            <a:ext cx="5461000" cy="495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0772B"/>
                </a:solidFill>
                <a:latin typeface="JetBrains Mono"/>
              </a:rPr>
              <a:t>[10]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A. Angelopoulos, S. Bates. </a:t>
            </a:r>
            <a:r>
              <a:rPr sz="1250" b="0" i="1">
                <a:solidFill>
                  <a:srgbClr val="3C4C50"/>
                </a:solidFill>
                <a:latin typeface="Be Vietnam Pro"/>
              </a:rPr>
              <a:t>A Gentle Introduction to Conformal Prediction.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2021. </a:t>
            </a:r>
            <a:r>
              <a:rPr sz="1250" b="0" i="0">
                <a:solidFill>
                  <a:srgbClr val="5C6B6E"/>
                </a:solidFill>
                <a:latin typeface="Be Vietnam Pro"/>
              </a:rPr>
              <a:t>(hướng an toàn)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00" y="6394450"/>
            <a:ext cx="12065000" cy="23526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C6B6E"/>
                </a:solidFill>
                <a:latin typeface="Be Vietnam Pro"/>
              </a:rPr>
              <a:t>RoadFury &amp; SE2RoadNet là phương pháp của nhóm; các baseline khác được tái lập trong cùng harness.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49080" y="1016000"/>
            <a:ext cx="398274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VIDEO TRÌNH BÀY (METHOD 60%)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14850" y="3276600"/>
            <a:ext cx="4051300" cy="2800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spc="50">
                <a:solidFill>
                  <a:srgbClr val="F6F4EF"/>
                </a:solidFill>
                <a:latin typeface="JetBrains Mono"/>
              </a:rPr>
              <a:t>[ thumbnail sẽ được thay sau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18025" y="3663950"/>
            <a:ext cx="4044950" cy="2971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spc="50">
                <a:solidFill>
                  <a:srgbClr val="F6F4EF"/>
                </a:solidFill>
                <a:latin typeface="JetBrains Mono"/>
              </a:rPr>
              <a:t>RoadFury → SE2RoadNet ·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77543" y="4984750"/>
            <a:ext cx="4938514" cy="4864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Be Vietnam Pro"/>
              </a:rPr>
              <a:t>►</a:t>
            </a:r>
            <a:r>
              <a:rPr sz="1400" b="1" i="0">
                <a:solidFill>
                  <a:srgbClr val="FFFFFF"/>
                </a:solidFill>
                <a:latin typeface="Be Vietnam Pro"/>
              </a:rPr>
              <a:t> Xem trên Google Drive</a:t>
            </a:r>
            <a:r>
              <a:rPr sz="800" b="0" i="0">
                <a:solidFill>
                  <a:srgbClr val="23373B"/>
                </a:solidFill>
                <a:latin typeface="Be Vietnam Pro"/>
              </a:rPr>
              <a:t> </a:t>
            </a:r>
            <a:r>
              <a:rPr sz="1300" b="1" i="0">
                <a:solidFill>
                  <a:srgbClr val="E0772B"/>
                </a:solidFill>
                <a:latin typeface="Be Vietnam Pro"/>
              </a:rPr>
              <a:t>►</a:t>
            </a:r>
            <a:r>
              <a:rPr sz="1400" b="1" i="0">
                <a:solidFill>
                  <a:srgbClr val="23373B"/>
                </a:solidFill>
                <a:latin typeface="Be Vietnam Pro"/>
              </a:rPr>
              <a:t> Bản Facebook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66579" y="5651500"/>
            <a:ext cx="5658743" cy="243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6E"/>
                </a:solidFill>
                <a:latin typeface="Be Vietnam Pro"/>
              </a:rPr>
              <a:t>Thay ảnh thumbnail thật vào đây trước khi nộp; link đã chèn sẵn.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938885" y="2343150"/>
            <a:ext cx="431423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UNIVERSITY OF SCIENCE · VNU-HCM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45594" y="2686050"/>
            <a:ext cx="6500812" cy="8597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 spc="-100">
                <a:solidFill>
                  <a:srgbClr val="F6F4EF"/>
                </a:solidFill>
                <a:latin typeface="Be Vietnam Pro"/>
              </a:rPr>
              <a:t>Cảm ơn đã lắng nghe!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91273" y="3721100"/>
            <a:ext cx="4209455" cy="3721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C3CDCE"/>
                </a:solidFill>
                <a:latin typeface="Be Vietnam Pro"/>
              </a:rPr>
              <a:t>Q&amp;A — 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111875"/>
            <a:ext cx="6217345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6F4EF"/>
                </a:solidFill>
                <a:latin typeface="Be Vietnam Pro"/>
              </a:rPr>
              <a:t>RoadFury → SE2RoadNet: bất biến SE(2) cho ưu tiên kiểm thử SDC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384925"/>
            <a:ext cx="6217345" cy="243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DAEB0"/>
                </a:solidFill>
                <a:latin typeface="Be Vietnam Pro"/>
              </a:rPr>
              <a:t>Trần Chí Nguyên · Huỳnh Trung Kiệt · Đào Sỹ Duy Minh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0" y="406400"/>
            <a:ext cx="12065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2E7CA6"/>
                </a:solidFill>
                <a:latin typeface="JetBrains Mono"/>
              </a:rPr>
              <a:t>BACKUP · B1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41350"/>
            <a:ext cx="12065000" cy="4705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pc="-25">
                <a:solidFill>
                  <a:srgbClr val="23373B"/>
                </a:solidFill>
                <a:latin typeface="Be Vietnam Pro"/>
              </a:rPr>
              <a:t>APFD — ví dụ tính tay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168400"/>
            <a:ext cx="12065000" cy="28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C4C50"/>
                </a:solidFill>
                <a:latin typeface="Be Vietnam Pro"/>
              </a:rPr>
              <a:t>Giả sử </a:t>
            </a:r>
            <a:r>
              <a:rPr sz="1400" b="1" i="0">
                <a:solidFill>
                  <a:srgbClr val="3C4C50"/>
                </a:solidFill>
                <a:latin typeface="Be Vietnam Pro"/>
              </a:rPr>
              <a:t>n = 5</a:t>
            </a:r>
            <a:r>
              <a:rPr sz="1400" b="0" i="0">
                <a:solidFill>
                  <a:srgbClr val="3C4C50"/>
                </a:solidFill>
                <a:latin typeface="Be Vietnam Pro"/>
              </a:rPr>
              <a:t> test, </a:t>
            </a:r>
            <a:r>
              <a:rPr sz="1400" b="1" i="0">
                <a:solidFill>
                  <a:srgbClr val="3C4C50"/>
                </a:solidFill>
                <a:latin typeface="Be Vietnam Pro"/>
              </a:rPr>
              <a:t>m = 2</a:t>
            </a:r>
            <a:r>
              <a:rPr sz="1400" b="0" i="0">
                <a:solidFill>
                  <a:srgbClr val="3C4C50"/>
                </a:solidFill>
                <a:latin typeface="Be Vietnam Pro"/>
              </a:rPr>
              <a:t> FAIL. Hai cách xếp hạng: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8450" y="3206750"/>
            <a:ext cx="5918200" cy="3079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E7D5B"/>
                </a:solidFill>
                <a:latin typeface="Be Vietnam Pro"/>
              </a:rPr>
              <a:t>Xếp tốt </a:t>
            </a:r>
            <a:r>
              <a:rPr sz="1300" b="0" i="0">
                <a:solidFill>
                  <a:srgbClr val="5C6B6E"/>
                </a:solidFill>
                <a:latin typeface="Be Vietnam Pro"/>
              </a:rPr>
              <a:t>(FAIL ở vị trí 1, 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75350" y="3206750"/>
            <a:ext cx="5918200" cy="3079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B5483F"/>
                </a:solidFill>
                <a:latin typeface="Be Vietnam Pro"/>
              </a:rPr>
              <a:t>Xếp kém </a:t>
            </a:r>
            <a:r>
              <a:rPr sz="1300" b="0" i="0">
                <a:solidFill>
                  <a:srgbClr val="5C6B6E"/>
                </a:solidFill>
                <a:latin typeface="Be Vietnam Pro"/>
              </a:rPr>
              <a:t>(FAIL ở vị trí 4, 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" y="6356350"/>
            <a:ext cx="12065000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772B"/>
                </a:solidFill>
                <a:latin typeface="Be Vietnam Pro"/>
              </a:rPr>
              <a:t>Takeaway: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 Cùng một tập lỗi — chỉ khác </a:t>
            </a:r>
            <a:r>
              <a:rPr sz="1300" b="0" i="1">
                <a:solidFill>
                  <a:srgbClr val="23373B"/>
                </a:solidFill>
                <a:latin typeface="Be Vietnam Pro"/>
              </a:rPr>
              <a:t>thứ tự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 — APFD chênh nhau 4 lần. Đó là toàn bộ giá trị của test prioritization.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0" y="406400"/>
            <a:ext cx="12065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2E7CA6"/>
                </a:solidFill>
                <a:latin typeface="JetBrains Mono"/>
              </a:rPr>
              <a:t>BACKUP · B2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41350"/>
            <a:ext cx="12065000" cy="4705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pc="-25">
                <a:solidFill>
                  <a:srgbClr val="23373B"/>
                </a:solidFill>
                <a:latin typeface="Be Vietnam Pro"/>
              </a:rPr>
              <a:t>Multi-trial protocol (vì sao 30 lần?)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3900" y="2176264"/>
            <a:ext cx="7853362" cy="28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C4C50"/>
                </a:solidFill>
                <a:latin typeface="Be Vietnam Pro"/>
              </a:rPr>
              <a:t>APFD single-pass nhạy với </a:t>
            </a:r>
            <a:r>
              <a:rPr sz="1400" b="0" i="1">
                <a:solidFill>
                  <a:srgbClr val="3C4C50"/>
                </a:solidFill>
                <a:latin typeface="Be Vietnam Pro"/>
              </a:rPr>
              <a:t>thứ tự cố định</a:t>
            </a:r>
            <a:r>
              <a:rPr sz="1400" b="0" i="0">
                <a:solidFill>
                  <a:srgbClr val="3C4C50"/>
                </a:solidFill>
                <a:latin typeface="Be Vietnam Pro"/>
              </a:rPr>
              <a:t> của tập test ⇒ một con số dễ “may rủi”.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" y="2591495"/>
            <a:ext cx="7761089" cy="28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C4C50"/>
                </a:solidFill>
                <a:latin typeface="Be Vietnam Pro"/>
              </a:rPr>
              <a:t>Mỗi trial: lấy ngẫu nhiên max(50, 0.3·|test|) = </a:t>
            </a:r>
            <a:r>
              <a:rPr sz="1400" b="1" i="0">
                <a:solidFill>
                  <a:srgbClr val="3C4C50"/>
                </a:solidFill>
                <a:latin typeface="Be Vietnam Pro"/>
              </a:rPr>
              <a:t>287/956</a:t>
            </a:r>
            <a:r>
              <a:rPr sz="1400" b="0" i="0">
                <a:solidFill>
                  <a:srgbClr val="3C4C50"/>
                </a:solidFill>
                <a:latin typeface="Be Vietnam Pro"/>
              </a:rPr>
              <a:t> test, tính APFD độc lập.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3006725"/>
            <a:ext cx="4634607" cy="28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C4C50"/>
                </a:solidFill>
                <a:latin typeface="Be Vietnam Pro"/>
              </a:rPr>
              <a:t>Báo cáo APFD ± σ qua </a:t>
            </a:r>
            <a:r>
              <a:rPr sz="1400" b="1" i="0">
                <a:solidFill>
                  <a:srgbClr val="3C4C50"/>
                </a:solidFill>
                <a:latin typeface="Be Vietnam Pro"/>
              </a:rPr>
              <a:t>30 trials</a:t>
            </a:r>
            <a:r>
              <a:rPr sz="1400" b="0" i="0">
                <a:solidFill>
                  <a:srgbClr val="3C4C50"/>
                </a:solidFill>
                <a:latin typeface="Be Vietnam Pro"/>
              </a:rPr>
              <a:t>, seed = 42.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900" y="3421955"/>
            <a:ext cx="7355284" cy="28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C4C50"/>
                </a:solidFill>
                <a:latin typeface="Be Vietnam Pro"/>
              </a:rPr>
              <a:t>σ thường là con số xuất bản quan trọng hơn mean (độ ổn định của ranking).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" y="6356350"/>
            <a:ext cx="12065000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772B"/>
                </a:solidFill>
                <a:latin typeface="Be Vietnam Pro"/>
              </a:rPr>
              <a:t>Takeaway: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 30 trials biến một con số đơn lẻ thành phân phối có σ — độ tin cậy thay vì may rủi.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0" y="406400"/>
            <a:ext cx="12065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2E7CA6"/>
                </a:solidFill>
                <a:latin typeface="JetBrains Mono"/>
              </a:rPr>
              <a:t>BACKUP · B3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41350"/>
            <a:ext cx="12065000" cy="4705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pc="-25">
                <a:solidFill>
                  <a:srgbClr val="23373B"/>
                </a:solidFill>
                <a:latin typeface="Be Vietnam Pro"/>
              </a:rPr>
              <a:t>Resolution probe (bất biến lấy mẫu)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1200" y="2568575"/>
            <a:ext cx="5987355" cy="5511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C4C50"/>
                </a:solidFill>
                <a:latin typeface="Be Vietnam Pro"/>
              </a:rPr>
              <a:t>Lấy cùng một con đường, resample ở N ∈ {64,...,197} điểm rồi đánh giá lại.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1200" y="3228975"/>
            <a:ext cx="4299049" cy="28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C4C50"/>
                </a:solidFill>
                <a:latin typeface="Be Vietnam Pro"/>
              </a:rPr>
              <a:t>Đo Δ = max − min APFD qua các mức 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1200" y="3622675"/>
            <a:ext cx="5987355" cy="5511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C4C50"/>
                </a:solidFill>
                <a:latin typeface="Be Vietnam Pro"/>
              </a:rPr>
              <a:t>Kết quả: Δ ~ </a:t>
            </a:r>
            <a:r>
              <a:rPr sz="1400" b="1" i="0">
                <a:solidFill>
                  <a:srgbClr val="2E7CA6"/>
                </a:solidFill>
                <a:latin typeface="Be Vietnam Pro"/>
              </a:rPr>
              <a:t>0.0012</a:t>
            </a:r>
            <a:r>
              <a:rPr sz="1400" b="0" i="0">
                <a:solidFill>
                  <a:srgbClr val="3C4C50"/>
                </a:solidFill>
                <a:latin typeface="Be Vietnam Pro"/>
              </a:rPr>
              <a:t> — </a:t>
            </a:r>
            <a:r>
              <a:rPr sz="1400" b="0" i="1">
                <a:solidFill>
                  <a:srgbClr val="3C4C50"/>
                </a:solidFill>
                <a:latin typeface="Be Vietnam Pro"/>
              </a:rPr>
              <a:t>rất nhỏ</a:t>
            </a:r>
            <a:r>
              <a:rPr sz="1400" b="0" i="0">
                <a:solidFill>
                  <a:srgbClr val="3C4C50"/>
                </a:solidFill>
                <a:latin typeface="Be Vietnam Pro"/>
              </a:rPr>
              <a:t> nhưng </a:t>
            </a:r>
            <a:r>
              <a:rPr sz="1400" b="1" i="0">
                <a:solidFill>
                  <a:srgbClr val="B5483F"/>
                </a:solidFill>
                <a:latin typeface="Be Vietnam Pro"/>
              </a:rPr>
              <a:t>chưa exact</a:t>
            </a:r>
            <a:r>
              <a:rPr sz="1400" b="0" i="0">
                <a:solidFill>
                  <a:srgbClr val="3C4C50"/>
                </a:solidFill>
                <a:latin typeface="Be Vietnam Pro"/>
              </a:rPr>
              <a:t> như phép xoay (Δ=0).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1200" y="4283075"/>
            <a:ext cx="5987355" cy="5511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C4C50"/>
                </a:solidFill>
                <a:latin typeface="Be Vietnam Pro"/>
              </a:rPr>
              <a:t>Lý do: bias RFF theo Δs là gần-bất-biến tại tham số hóa, không tuyệt đối ⇒ hướng RoPE-1D.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" y="6356350"/>
            <a:ext cx="12065000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772B"/>
                </a:solidFill>
                <a:latin typeface="Be Vietnam Pro"/>
              </a:rPr>
              <a:t>Takeaway: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 Phép xoay: Δ=0 exact (bằng kiến trúc). Lấy mẫu: Δ ~ 0.0012 (gần như, đang tiến tới exact).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0" y="406400"/>
            <a:ext cx="12065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2E7CA6"/>
                </a:solidFill>
                <a:latin typeface="JetBrains Mono"/>
              </a:rPr>
              <a:t>BACKUP · B4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41350"/>
            <a:ext cx="12065000" cy="4705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pc="-25">
                <a:solidFill>
                  <a:srgbClr val="23373B"/>
                </a:solidFill>
                <a:latin typeface="Be Vietnam Pro"/>
              </a:rPr>
              <a:t>Chi phí ở quy mô lớn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7600" y="2430264"/>
            <a:ext cx="8195370" cy="28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C4C50"/>
                </a:solidFill>
                <a:latin typeface="Be Vietnam Pro"/>
              </a:rPr>
              <a:t>Inference: </a:t>
            </a:r>
            <a:r>
              <a:rPr sz="1400" b="1" i="0">
                <a:solidFill>
                  <a:srgbClr val="3C4C50"/>
                </a:solidFill>
                <a:latin typeface="Be Vietnam Pro"/>
              </a:rPr>
              <a:t>1 forward pass</a:t>
            </a:r>
            <a:r>
              <a:rPr sz="1400" b="0" i="0">
                <a:solidFill>
                  <a:srgbClr val="3C4C50"/>
                </a:solidFill>
                <a:latin typeface="Be Vietnam Pro"/>
              </a:rPr>
              <a:t>/đường, batch (n,7,197) ⇒ chấm cả tập trong vài giây GPU.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7600" y="3188395"/>
            <a:ext cx="7964686" cy="28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C4C50"/>
                </a:solidFill>
                <a:latin typeface="Be Vietnam Pro"/>
              </a:rPr>
              <a:t>Chi phí thật nằm ở </a:t>
            </a:r>
            <a:r>
              <a:rPr sz="1400" b="0" i="1">
                <a:solidFill>
                  <a:srgbClr val="3C4C50"/>
                </a:solidFill>
                <a:latin typeface="Be Vietnam Pro"/>
              </a:rPr>
              <a:t>mô phỏng vật lý</a:t>
            </a:r>
            <a:r>
              <a:rPr sz="1400" b="0" i="0">
                <a:solidFill>
                  <a:srgbClr val="3C4C50"/>
                </a:solidFill>
                <a:latin typeface="Be Vietnam Pro"/>
              </a:rPr>
              <a:t> của các test được chọn — không phải ở scorer.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7600" y="3946525"/>
            <a:ext cx="8863608" cy="28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C4C50"/>
                </a:solidFill>
                <a:latin typeface="Be Vietnam Pro"/>
              </a:rPr>
              <a:t>Ranking tốt dồn lỗi lên đầu ⇒ chạy ít kịch bản đầu đã lộ phần lớn lỗi, tiết kiệm </a:t>
            </a:r>
            <a:r>
              <a:rPr sz="1400" b="1" i="0">
                <a:solidFill>
                  <a:srgbClr val="3C4C50"/>
                </a:solidFill>
                <a:latin typeface="Be Vietnam Pro"/>
              </a:rPr>
              <a:t>nhiều giờ CPU</a:t>
            </a:r>
            <a:r>
              <a:rPr sz="1400" b="0" i="0">
                <a:solidFill>
                  <a:srgbClr val="3C4C50"/>
                </a:solidFill>
                <a:latin typeface="Be Vietnam Pro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600" y="4704655"/>
            <a:ext cx="6202958" cy="28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C4C50"/>
                </a:solidFill>
                <a:latin typeface="Be Vietnam Pro"/>
              </a:rPr>
              <a:t>Train một lần: </a:t>
            </a:r>
            <a:r>
              <a:rPr sz="1400" b="1" i="0">
                <a:solidFill>
                  <a:srgbClr val="3C4C50"/>
                </a:solidFill>
                <a:latin typeface="Be Vietnam Pro"/>
              </a:rPr>
              <a:t>24.2 phút</a:t>
            </a:r>
            <a:r>
              <a:rPr sz="1400" b="0" i="0">
                <a:solidFill>
                  <a:srgbClr val="3C4C50"/>
                </a:solidFill>
                <a:latin typeface="Be Vietnam Pro"/>
              </a:rPr>
              <a:t> (Kaggle), </a:t>
            </a:r>
            <a:r>
              <a:rPr sz="1400" b="1" i="0">
                <a:solidFill>
                  <a:srgbClr val="3C4C50"/>
                </a:solidFill>
                <a:latin typeface="Be Vietnam Pro"/>
              </a:rPr>
              <a:t>2.11 M</a:t>
            </a:r>
            <a:r>
              <a:rPr sz="1400" b="0" i="0">
                <a:solidFill>
                  <a:srgbClr val="3C4C50"/>
                </a:solidFill>
                <a:latin typeface="Be Vietnam Pro"/>
              </a:rPr>
              <a:t> tham số ⇒ tái lập rẻ.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" y="6356350"/>
            <a:ext cx="12065000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E0772B"/>
                </a:solidFill>
                <a:latin typeface="Be Vietnam Pro"/>
              </a:rPr>
              <a:t>"The best simulation is the one you never run." — scorer rẻ, ngân sách dồn cho các test có khả năng lộ lỗi cao nhất.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0" y="406400"/>
            <a:ext cx="12065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2E7CA6"/>
                </a:solidFill>
                <a:latin typeface="JetBrains Mono"/>
              </a:rPr>
              <a:t>BACKUP · B5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41350"/>
            <a:ext cx="12065000" cy="4705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pc="-25">
                <a:solidFill>
                  <a:srgbClr val="23373B"/>
                </a:solidFill>
                <a:latin typeface="Be Vietnam Pro"/>
              </a:rPr>
              <a:t>Vì sao 7 kênh là bất biến SE(2)? (chứng minh ngắn)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0250" y="1397000"/>
            <a:ext cx="6326386" cy="3079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E7CA6"/>
                </a:solidFill>
                <a:latin typeface="Be Vietnam Pro"/>
              </a:rPr>
              <a:t>Lập luận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0250" y="1758950"/>
            <a:ext cx="6326386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CA6"/>
                </a:solidFill>
                <a:latin typeface="Be Vietnam Pro"/>
              </a:rPr>
              <a:t>1.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 SE(2): biến đổi p → R·p + t (R xoay, t tịnh tiến).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0250" y="2108200"/>
            <a:ext cx="5538986" cy="51498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CA6"/>
                </a:solidFill>
                <a:latin typeface="Be Vietnam Pro"/>
              </a:rPr>
              <a:t>2.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 Chiều dài đoạn Δs = ||p(i+1)-pi|| </a:t>
            </a:r>
            <a:r>
              <a:rPr sz="1300" b="1" i="0">
                <a:solidFill>
                  <a:srgbClr val="3C4C50"/>
                </a:solidFill>
                <a:latin typeface="Be Vietnam Pro"/>
              </a:rPr>
              <a:t>bất biến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 (R trực giao bảo toàn khoảng cách, t triệt tiêu).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0250" y="2705100"/>
            <a:ext cx="6326386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CA6"/>
                </a:solidFill>
                <a:latin typeface="Be Vietnam Pro"/>
              </a:rPr>
              <a:t>3.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 Góc giữa hai vector liên tiếp ⇒ |Δθ| </a:t>
            </a:r>
            <a:r>
              <a:rPr sz="1300" b="1" i="0">
                <a:solidFill>
                  <a:srgbClr val="3C4C50"/>
                </a:solidFill>
                <a:latin typeface="Be Vietnam Pro"/>
              </a:rPr>
              <a:t>bất biến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 (R bảo toàn góc).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0250" y="3054350"/>
            <a:ext cx="5538986" cy="51498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CA6"/>
                </a:solidFill>
                <a:latin typeface="Be Vietnam Pro"/>
              </a:rPr>
              <a:t>4.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 κ = Δθ/Δs và các đạo hàm theo s ⇒ hàm của đại lượng bất biến ⇒ </a:t>
            </a:r>
            <a:r>
              <a:rPr sz="1300" b="1" i="0">
                <a:solidFill>
                  <a:srgbClr val="3C4C50"/>
                </a:solidFill>
                <a:latin typeface="Be Vietnam Pro"/>
              </a:rPr>
              <a:t>bất biến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0250" y="3651250"/>
            <a:ext cx="5538986" cy="51498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CA6"/>
                </a:solidFill>
                <a:latin typeface="Be Vietnam Pro"/>
              </a:rPr>
              <a:t>5.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 Loại bỏ sinθ, cosθ, θ (phụ thuộc R) là điều kiện </a:t>
            </a:r>
            <a:r>
              <a:rPr sz="1300" b="0" i="1">
                <a:solidFill>
                  <a:srgbClr val="3C4C50"/>
                </a:solidFill>
                <a:latin typeface="Be Vietnam Pro"/>
              </a:rPr>
              <a:t>cần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 để bất biến tuyệt đối.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4536" y="1397000"/>
            <a:ext cx="5611614" cy="3079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E7D5B"/>
                </a:solidFill>
                <a:latin typeface="Be Vietnam Pro"/>
              </a:rPr>
              <a:t>Hệ quả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4536" y="2514600"/>
            <a:ext cx="4824214" cy="49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C4C50"/>
                </a:solidFill>
                <a:latin typeface="Be Vietnam Pro"/>
              </a:rPr>
              <a:t>⇒ mọi tầng phía sau (Linear, attention bias theo Δs, pool) chỉ nhận đầu vào bất biến ⇒ </a:t>
            </a:r>
            <a:r>
              <a:rPr sz="1250" b="1" i="0">
                <a:solidFill>
                  <a:srgbClr val="3C4C50"/>
                </a:solidFill>
                <a:latin typeface="Be Vietnam Pro"/>
              </a:rPr>
              <a:t>output bất biến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" y="6356350"/>
            <a:ext cx="12065000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772B"/>
                </a:solidFill>
                <a:latin typeface="Be Vietnam Pro"/>
              </a:rPr>
              <a:t>Takeaway: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 Bất biến </a:t>
            </a:r>
            <a:r>
              <a:rPr sz="1300" b="1" i="0">
                <a:solidFill>
                  <a:srgbClr val="23373B"/>
                </a:solidFill>
                <a:latin typeface="Be Vietnam Pro"/>
              </a:rPr>
              <a:t>bằng kiến trúc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: đảm bảo bởi xây dựng, không phụ thuộc dữ liệu hay augmentation.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3373B"/>
                </a:solidFill>
                <a:latin typeface="Be Vietnam Pro"/>
              </a:rPr>
              <a:t>Nguon hinh anh / Image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23373B"/>
                </a:solidFill>
                <a:latin typeface="Be Vietnam Pro"/>
              </a:rPr>
              <a:t>Logo HCMUS:  </a:t>
            </a:r>
            <a:r>
              <a:rPr sz="1600">
                <a:solidFill>
                  <a:srgbClr val="EB811B"/>
                </a:solidFill>
                <a:latin typeface="JetBrains Mono"/>
                <a:hlinkClick r:id="rId2"/>
              </a:rPr>
              <a:t>https://www.hcmus.edu.vn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23373B"/>
                </a:solidFill>
                <a:latin typeface="Be Vietnam Pro"/>
              </a:rPr>
              <a:t>Logo ICST 2026:  </a:t>
            </a:r>
            <a:r>
              <a:rPr sz="1600">
                <a:solidFill>
                  <a:srgbClr val="EB811B"/>
                </a:solidFill>
                <a:latin typeface="JetBrains Mono"/>
                <a:hlinkClick r:id="rId3"/>
              </a:rPr>
              <a:t>https://conf.researchr.org/home/icst-2026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23373B"/>
                </a:solidFill>
                <a:latin typeface="Be Vietnam Pro"/>
              </a:rPr>
              <a:t>Video demo (Google Drive):  </a:t>
            </a:r>
            <a:r>
              <a:rPr sz="1600">
                <a:solidFill>
                  <a:srgbClr val="EB811B"/>
                </a:solidFill>
                <a:latin typeface="JetBrains Mono"/>
                <a:hlinkClick r:id="rId4"/>
              </a:rPr>
              <a:t>https://drive.google.com/file/d/1JC0NY3qfW-if9cM74Zi3d0VaTcA-1el_/view?usp=sharing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23373B"/>
                </a:solidFill>
                <a:latin typeface="Be Vietnam Pro"/>
              </a:rPr>
              <a:t>Video demo (Facebook):  </a:t>
            </a:r>
            <a:r>
              <a:rPr sz="1600">
                <a:solidFill>
                  <a:srgbClr val="EB811B"/>
                </a:solidFill>
                <a:latin typeface="JetBrains Mono"/>
                <a:hlinkClick r:id="rId5"/>
              </a:rPr>
              <a:t>https://www.facebook.com/reel/1528755028625867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23373B"/>
                </a:solidFill>
                <a:latin typeface="Be Vietnam Pro"/>
              </a:rPr>
              <a:t>Anh duong &amp; histogram do cong:  </a:t>
            </a:r>
            <a:r>
              <a:rPr sz="1600">
                <a:solidFill>
                  <a:srgbClr val="EB811B"/>
                </a:solidFill>
                <a:latin typeface="JetBrains Mono"/>
                <a:hlinkClick r:id="rId6"/>
              </a:rPr>
              <a:t>https://github.com/christianbirchler-org/sensodat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23373B"/>
                </a:solidFill>
                <a:latin typeface="Be Vietnam Pro"/>
              </a:rPr>
              <a:t>Anh chup mo phong (BeamNG.tech):  </a:t>
            </a:r>
            <a:r>
              <a:rPr sz="1600">
                <a:solidFill>
                  <a:srgbClr val="EB811B"/>
                </a:solidFill>
                <a:latin typeface="JetBrains Mono"/>
                <a:hlinkClick r:id="rId7"/>
              </a:rPr>
              <a:t>https://www.beamng.tech/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852160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666666"/>
                </a:solidFill>
                <a:latin typeface="Be Vietnam Pro"/>
              </a:rPr>
              <a:t>So do kien truc la hinh TikZ tu ve (fig_arch, fig_arch_se2); cac bieu do APFD/leaderboard/focal la SVG/CSS tu ve tu so lieu thi nghiem cua nhom -- khong can dan nguon. Anh duong &amp; histogram do cong ve tu bo du lieu SensoDat [1]; anh chup mo phong tu BeamNG.tech.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