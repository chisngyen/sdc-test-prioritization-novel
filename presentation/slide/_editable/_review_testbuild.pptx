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</p:sldIdLst>
  <p:sldSz cx="12191695" cy="6858000" type="screen4x3"/>
  <p:notesSz cx="6858000" cy="9144000"/>
  <p:embeddedFontLst>
    <p:embeddedFont>
      <p:font typeface="Be Vietnam Pro"/>
      <p:regular r:id="rId9001"/>
      <p:bold r:id="rId9002"/>
      <p:italic r:id="rId9003"/>
      <p:boldItalic r:id="rId9004"/>
    </p:embeddedFont>
    <p:embeddedFont>
      <p:font typeface="JetBrains Mono"/>
      <p:regular r:id="rId9005"/>
      <p:bold r:id="rId9006"/>
      <p:italic r:id="rId9007"/>
      <p:boldItalic r:id="rId900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9001" Type="http://schemas.openxmlformats.org/officeDocument/2006/relationships/font" Target="fonts/font1.fntdata"/><Relationship Id="rId9002" Type="http://schemas.openxmlformats.org/officeDocument/2006/relationships/font" Target="fonts/font2.fntdata"/><Relationship Id="rId9003" Type="http://schemas.openxmlformats.org/officeDocument/2006/relationships/font" Target="fonts/font3.fntdata"/><Relationship Id="rId9004" Type="http://schemas.openxmlformats.org/officeDocument/2006/relationships/font" Target="fonts/font4.fntdata"/><Relationship Id="rId9005" Type="http://schemas.openxmlformats.org/officeDocument/2006/relationships/font" Target="fonts/font5.fntdata"/><Relationship Id="rId9006" Type="http://schemas.openxmlformats.org/officeDocument/2006/relationships/font" Target="fonts/font6.fntdata"/><Relationship Id="rId9007" Type="http://schemas.openxmlformats.org/officeDocument/2006/relationships/font" Target="fonts/font7.fntdata"/><Relationship Id="rId9008" Type="http://schemas.openxmlformats.org/officeDocument/2006/relationships/font" Target="fonts/font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536575"/>
            <a:ext cx="431423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8BA0A2"/>
                </a:solidFill>
                <a:latin typeface="JetBrains Mono"/>
              </a:rPr>
              <a:t>UNIVERSITY OF SCIENCE · VNU-HCM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421037"/>
            <a:ext cx="118618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THE SELF-DRIVING CAR TESTING COMPETITION · ICST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681387"/>
            <a:ext cx="11861800" cy="9410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pc="-150">
                <a:solidFill>
                  <a:srgbClr val="F6F4EF"/>
                </a:solidFill>
                <a:latin typeface="Be Vietnam Pro"/>
              </a:rPr>
              <a:t>RoadFury </a:t>
            </a:r>
            <a:r>
              <a:rPr sz="4600" b="1" i="0" spc="-150">
                <a:solidFill>
                  <a:srgbClr val="E0772B"/>
                </a:solidFill>
                <a:latin typeface="Be Vietnam Pro"/>
              </a:rPr>
              <a:t>→</a:t>
            </a:r>
            <a:r>
              <a:rPr sz="4600" b="1" i="0" spc="-150">
                <a:solidFill>
                  <a:srgbClr val="F6F4EF"/>
                </a:solidFill>
                <a:latin typeface="Be Vietnam Pro"/>
              </a:rPr>
              <a:t> SE2RoadNet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462437"/>
            <a:ext cx="9779000" cy="3892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3CDCE"/>
                </a:solidFill>
                <a:latin typeface="Be Vietnam Pro"/>
              </a:rPr>
              <a:t>Ưu tiên kiểm thử xe tự lái — bất biến SE(2) bằng kiến trúc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5561509"/>
            <a:ext cx="7747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TÓM TẮT ĐỀ TÀI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5859959"/>
            <a:ext cx="6959600" cy="49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3CDCE"/>
                </a:solidFill>
                <a:latin typeface="Be Vietnam Pro"/>
              </a:rPr>
              <a:t>Xếp hạng kịch bản kiểm thử SDC để </a:t>
            </a:r>
            <a:r>
              <a:rPr sz="1250" b="1" i="0">
                <a:solidFill>
                  <a:srgbClr val="F6F4EF"/>
                </a:solidFill>
                <a:latin typeface="Be Vietnam Pro"/>
              </a:rPr>
              <a:t>lộ lỗi sớm</a:t>
            </a:r>
            <a:r>
              <a:rPr sz="1250" b="0" i="0">
                <a:solidFill>
                  <a:srgbClr val="C3CDCE"/>
                </a:solidFill>
                <a:latin typeface="Be Vietnam Pro"/>
              </a:rPr>
              <a:t>; mô hình bất biến phép xoay / lấy mẫu bằng </a:t>
            </a:r>
            <a:r>
              <a:rPr sz="1250" b="1" i="0">
                <a:solidFill>
                  <a:srgbClr val="F6F4EF"/>
                </a:solidFill>
                <a:latin typeface="Be Vietnam Pro"/>
              </a:rPr>
              <a:t>ràng buộc kiến trúc</a:t>
            </a:r>
            <a:r>
              <a:rPr sz="1250" b="0" i="0">
                <a:solidFill>
                  <a:srgbClr val="C3CDCE"/>
                </a:solidFill>
                <a:latin typeface="Be Vietnam Pro"/>
              </a:rPr>
              <a:t>, không bằng augmentation.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58325" y="5561509"/>
            <a:ext cx="3013075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NHÓM THỰC HIỆN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58325" y="5872659"/>
            <a:ext cx="3013075" cy="243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3CDCE"/>
                </a:solidFill>
                <a:latin typeface="Be Vietnam Pro"/>
              </a:rPr>
              <a:t>Trần Chí Nguyên · 23102244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58325" y="6116439"/>
            <a:ext cx="3013075" cy="243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3CDCE"/>
                </a:solidFill>
                <a:latin typeface="Be Vietnam Pro"/>
              </a:rPr>
              <a:t>Huỳnh Trung Kiệt · 23122039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58325" y="6360220"/>
            <a:ext cx="3013075" cy="243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3CDCE"/>
                </a:solidFill>
                <a:latin typeface="Be Vietnam Pro"/>
              </a:rPr>
              <a:t>Đào Sỹ Duy Minh · 23122041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