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fntdata" ContentType="application/x-fontdata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embeddedFontLst>
    <p:embeddedFont>
      <p:font typeface="Be Vietnam Pro"/>
      <p:regular r:id="rId9001"/>
      <p:bold r:id="rId9002"/>
      <p:italic r:id="rId9003"/>
      <p:boldItalic r:id="rId9004"/>
    </p:embeddedFont>
    <p:embeddedFont>
      <p:font typeface="JetBrains Mono"/>
      <p:regular r:id="rId9005"/>
      <p:bold r:id="rId9006"/>
      <p:italic r:id="rId9007"/>
      <p:boldItalic r:id="rId900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9001" Type="http://schemas.openxmlformats.org/officeDocument/2006/relationships/font" Target="fonts/font1.fntdata"/><Relationship Id="rId9002" Type="http://schemas.openxmlformats.org/officeDocument/2006/relationships/font" Target="fonts/font2.fntdata"/><Relationship Id="rId9003" Type="http://schemas.openxmlformats.org/officeDocument/2006/relationships/font" Target="fonts/font3.fntdata"/><Relationship Id="rId9004" Type="http://schemas.openxmlformats.org/officeDocument/2006/relationships/font" Target="fonts/font4.fntdata"/><Relationship Id="rId9005" Type="http://schemas.openxmlformats.org/officeDocument/2006/relationships/font" Target="fonts/font5.fntdata"/><Relationship Id="rId9006" Type="http://schemas.openxmlformats.org/officeDocument/2006/relationships/font" Target="fonts/font6.fntdata"/><Relationship Id="rId9007" Type="http://schemas.openxmlformats.org/officeDocument/2006/relationships/font" Target="fonts/font7.fntdata"/><Relationship Id="rId9008" Type="http://schemas.openxmlformats.org/officeDocument/2006/relationships/font" Target="fonts/font8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536575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8BA0A2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21037"/>
            <a:ext cx="118618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THE SELF-DRIVING CAR TESTING COMPETITION · ICST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81387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50">
                <a:solidFill>
                  <a:srgbClr val="F6F4EF"/>
                </a:solidFill>
                <a:latin typeface="Be Vietnam Pro"/>
              </a:rPr>
              <a:t>RoadFury </a:t>
            </a:r>
            <a:r>
              <a:rPr sz="4600" b="1" i="0" spc="-150">
                <a:solidFill>
                  <a:srgbClr val="E0772B"/>
                </a:solidFill>
                <a:latin typeface="Be Vietnam Pro"/>
              </a:rPr>
              <a:t>→</a:t>
            </a:r>
            <a:r>
              <a:rPr sz="4600" b="1" i="0" spc="-150">
                <a:solidFill>
                  <a:srgbClr val="F6F4EF"/>
                </a:solidFill>
                <a:latin typeface="Be Vietnam Pro"/>
              </a:rPr>
              <a:t> 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3462437"/>
            <a:ext cx="9779000" cy="38925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C3CDCE"/>
                </a:solidFill>
                <a:latin typeface="Be Vietnam Pro"/>
              </a:rPr>
              <a:t>Ưu tiên kiểm thử xe tự lái — bất biến SE(2) bằng kiến trúc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5561509"/>
            <a:ext cx="7747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TÓM TẮT ĐỀ TÀI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600" y="5859959"/>
            <a:ext cx="69596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3CDCE"/>
                </a:solidFill>
                <a:latin typeface="Be Vietnam Pro"/>
              </a:rPr>
              <a:t>Xếp hạng kịch bản kiểm thử SDC để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lộ lỗi sớm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; mô hình bất biến phép xoay / lấy mẫu bằng </a:t>
            </a:r>
            <a:r>
              <a:rPr sz="1250" b="1" i="0">
                <a:solidFill>
                  <a:srgbClr val="F6F4EF"/>
                </a:solidFill>
                <a:latin typeface="Be Vietnam Pro"/>
              </a:rPr>
              <a:t>ràng buộc kiến trúc</a:t>
            </a:r>
            <a:r>
              <a:rPr sz="1250" b="0" i="0">
                <a:solidFill>
                  <a:srgbClr val="C3CDCE"/>
                </a:solidFill>
                <a:latin typeface="Be Vietnam Pro"/>
              </a:rPr>
              <a:t>, không bằng augmentation.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58325" y="5561509"/>
            <a:ext cx="3013075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NHÓM THỰC HIỆN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58325" y="587265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Trần Chí Nguyên · 23102244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58325" y="6116439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Huỳnh Trung Kiệt · 23122039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58325" y="6360220"/>
            <a:ext cx="301307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C3CDCE"/>
                </a:solidFill>
                <a:latin typeface="Be Vietnam Pro"/>
              </a:rPr>
              <a:t>Đào Sỹ Duy Minh · 23122041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MỤC LỤC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Nội dung chính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70000" y="1968500"/>
            <a:ext cx="598864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Bối cảnh, bài toán &amp; công trình liên quan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70000" y="2724150"/>
            <a:ext cx="6381055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RoadFury: phương pháp nền tảng của nhóm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70000" y="3479800"/>
            <a:ext cx="4887020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E0772B"/>
                </a:solidFill>
                <a:latin typeface="Be Vietnam Pro"/>
              </a:rPr>
              <a:t>SE2RoadNet: đề xuất của nhóm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70000" y="4241800"/>
            <a:ext cx="3636863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70000" y="4997450"/>
            <a:ext cx="4316512" cy="4127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23373B"/>
                </a:solidFill>
                <a:latin typeface="Be Vietnam Pro"/>
              </a:rPr>
              <a:t>Hạn chế &amp; hướng phát triển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6905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+ 5 slide Backup cho Q&amp;A: APFD ví dụ tay · Multi-trial · AUC vs APFD · Resolution probe · Chi phí quy mô lớn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 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01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Bài toán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Bối cảnh · phát biểu · bộ dữ liệu · công trình liên quan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Bối cảnh: Kiểm thử Self-Driving Car trong mô phỏng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Hàng ngàn kịch bản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2254349"/>
            <a:ext cx="3103066" cy="10349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Sinh tự động các con đường (AmbieGen, Frenetic...) trên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BeamNG.tech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 Mỗi đường = một bài kiểm thử giữ làn.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95316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0772B"/>
                </a:solidFill>
                <a:latin typeface="Be Vietnam Pro"/>
              </a:rPr>
              <a:t>Mô phỏng tốn kém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95316" y="2254349"/>
            <a:ext cx="3103066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kịch bản chạy vật lý thời gian thực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cho toàn tập.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85783" y="1892399"/>
            <a:ext cx="389046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Phải ưu tiên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85783" y="2254349"/>
            <a:ext cx="3103066" cy="77910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Xếp thứ tự để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lỗi lộ sớm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chỉ cần chạy phần đầu hàng đợi đã lộ phần lớn lỗi, tiết kiệm chi phí mô phỏng.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350" y="5314752"/>
            <a:ext cx="116713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JetBrains Mono"/>
              </a:rPr>
              <a:t>Một con đường giữ làn: xe có thể đi đúng làn (PASS) hoặc lệch ra ngoài (FAIL)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thay đổi nhỏ có thể khiến xe lệch làn ở kịch bản hiếm ⇒ cần kiểm thử quy mô lớn, nhưng chạy hết thì quá đắt.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Phát biểu bài toán &amp; Tiêu chí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9450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3373B"/>
                </a:solidFill>
                <a:latin typeface="JetBrains Mono"/>
              </a:rP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9450" y="1625600"/>
            <a:ext cx="3107234" cy="5130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Đường = chuỗi điểm 2D</a:t>
            </a:r>
          </a:p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373B"/>
                </a:solidFill>
                <a:latin typeface="JetBrains Mono"/>
              </a:rPr>
              <a:t>R = {p1,...,pN} ⊂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9450" y="217408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N thay đổi: 64-197 điểm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9450" y="2472531"/>
            <a:ext cx="38946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5C6B6E"/>
                </a:solidFill>
                <a:latin typeface="Be Vietnam Pro"/>
              </a:rPr>
              <a:t>Chỉ hình học, không có hành vi xe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6817" y="1339850"/>
            <a:ext cx="3894634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 spc="100">
                <a:solidFill>
                  <a:srgbClr val="2E7D5B"/>
                </a:solidFill>
                <a:latin typeface="JetBrains Mono"/>
              </a:rPr>
              <a:t>OUTPUT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6817" y="1625600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Hoán vị π của n kịch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6817" y="1941116"/>
            <a:ext cx="38946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Sắp giảm dần theo điểm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400" y="3094831"/>
            <a:ext cx="117602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Success Criterion: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lỗi (FAIL) được xếp càng sớm càng tốt ⇒ APFD cao ⇒ tiết kiệm chi phí mô phỏng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6750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Cho trước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6750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Nhãn train y ∈ {0,1} (PASS/FAIL)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Cùng ngân sách cho mọi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384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Khó khăn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384" y="4064397"/>
            <a:ext cx="3424734" cy="48895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Chỉ có hình học đường, không có phản ứng xe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384" y="4600972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Tập thử out-of-distribution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017" y="3753247"/>
            <a:ext cx="421213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Metric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2017" y="4064397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APFD (primary)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017" y="4370784"/>
            <a:ext cx="421213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AUC (phụ), Rotation 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cần ưu tiên kiểm thử?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7099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cong APFD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61498" y="1162050"/>
            <a:ext cx="551150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E0772B"/>
                </a:solidFill>
                <a:latin typeface="Be Vietnam Pro"/>
              </a:rPr>
              <a:t>Trực giác: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61498" y="15113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tốt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dồn lên đầu ⇒ đường cong dốc đứng từ sớm.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1498" y="2120900"/>
            <a:ext cx="4724102" cy="5530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•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Xếp hạng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kém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⇒ lỗi nằm cuối hàng đợi ⇒ tốn nhiều giờ mô phỏng.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61498" y="2730500"/>
            <a:ext cx="5511502" cy="3054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5C6B6E"/>
                </a:solidFill>
                <a:latin typeface="Be Vietnam Pro"/>
              </a:rPr>
              <a:t>•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APFD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đo chính diện tích dưới đường cong này.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39298" y="5308600"/>
            <a:ext cx="4368502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956 kịch bản × mô phỏng vật lý ⇒ </a:t>
            </a:r>
            <a:r>
              <a:rPr sz="1300" b="1" i="0">
                <a:solidFill>
                  <a:srgbClr val="B5483F"/>
                </a:solidFill>
                <a:latin typeface="Be Vietnam Pro"/>
              </a:rPr>
              <a:t>nhiều giờ CPU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nếu chạy hết.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140450"/>
            <a:ext cx="11277600" cy="4832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Ranking tốt dồn lỗi lên đầu hàng đợi ⇒ tiết kiệm phần lớn chi phí mô phỏng — bài toán không phải "chạy nhanh hơn" mà là "chạy đúng thứ tự".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Dataset: SensoDat </a:t>
            </a:r>
            <a:r>
              <a:rPr sz="1300" b="1" i="0" spc="-25">
                <a:solidFill>
                  <a:srgbClr val="5C6B6E"/>
                </a:solidFill>
                <a:latin typeface="Be Vietnam Pro"/>
              </a:rPr>
              <a:t>(Birchler et al., MSR 2024 [1])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81100"/>
            <a:ext cx="5115123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Bộ dữ liệu công khai các kịch bản SDC sinh tự động trên BeamNG.tech, chia 3 split: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6973" y="1346200"/>
            <a:ext cx="640377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Đường càng dài ⇒ càng dễ FAIL </a:t>
            </a:r>
            <a:r>
              <a:rPr sz="1100" b="0" i="0">
                <a:solidFill>
                  <a:srgbClr val="5C6B6E"/>
                </a:solidFill>
                <a:latin typeface="Be Vietnam Pro"/>
              </a:rPr>
              <a:t>(dữ liệu thật)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Competition có khoảng độ dài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hẹp hơn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(129-229m) ⇒ dịch phân phối (distribution shift).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55600"/>
            <a:ext cx="121666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BÀI TOÁN ·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0550"/>
            <a:ext cx="121666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Ví dụ kịch bản: hình dạng quyết định nhãn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250" y="1270000"/>
            <a:ext cx="437395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Hình dạng đường (SensoDat)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250" y="3441303"/>
            <a:ext cx="3586559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Đường thật từ SensoDat ·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mượt,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chicane gắt.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32709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Xe trong làn (BeamNG.tech)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32709" y="2744887"/>
            <a:ext cx="3407370" cy="40475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Mô phỏng BeamNG.tech: trái </a:t>
            </a:r>
            <a:r>
              <a:rPr sz="1050" b="1" i="1">
                <a:solidFill>
                  <a:srgbClr val="2E7D5B"/>
                </a:solidFill>
                <a:latin typeface="Be Vietnam Pro"/>
              </a:rPr>
              <a:t>PASS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(trong làn) · phải </a:t>
            </a:r>
            <a:r>
              <a:rPr sz="1050" b="1" i="1">
                <a:solidFill>
                  <a:srgbClr val="B5483F"/>
                </a:solidFill>
                <a:latin typeface="Be Vietnam Pro"/>
              </a:rPr>
              <a:t>FAIL</a:t>
            </a:r>
            <a:r>
              <a:rPr sz="1050" b="0" i="1">
                <a:solidFill>
                  <a:srgbClr val="5C6B6E"/>
                </a:solidFill>
                <a:latin typeface="Be Vietnam Pro"/>
              </a:rPr>
              <a:t> (lệch làn).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2980" y="1270000"/>
            <a:ext cx="41947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FAIL tập trung ở đường "xoắn" hơn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2980" y="3733602"/>
            <a:ext cx="4194770" cy="21812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Tổng độ đổi hướng (radian) — FAIL lệch phải.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700" y="6388100"/>
            <a:ext cx="121666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⇒ Không có tọa độ (x,y) tuyệt đối nào quyết định nhãn — chỉ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hình dạng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 Gợi ý cho ràng buộc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3 hướng tiếp cận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3950" y="2438102"/>
            <a:ext cx="317380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C3E6B"/>
                </a:solidFill>
                <a:latin typeface="Be Vietnam Pro"/>
              </a:rPr>
              <a:t>Search-based / Diversity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2950" y="2849562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GA / heuristic chọn tập test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đa dạng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hành vi (SO-SDC-Prioritizer, Greedy-diversity).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2950" y="370363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không cần nhãn, truyền thống SBST.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2950" y="4319588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đa dạng ≠ lộ lỗi; đặc trưng phụ thuộc khung.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8550" y="2557165"/>
            <a:ext cx="2561233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C5A33F"/>
                </a:solidFill>
                <a:latin typeface="Be Vietnam Pro"/>
              </a:rPr>
              <a:t>Feature-based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7550" y="296862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vài đặc trưng đường (góc, chiều dài) → mạng chuỗi gọn → rank (ITS4SDC: bi-LSTM, ICST'25).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7550" y="382270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rẻ, dễ giải thích.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7550" y="420052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ít đặc trưng, phụ thuộc khung, tinh chỉnh theo từng bench.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93150" y="2450505"/>
            <a:ext cx="2857500" cy="497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Deep: GNN / CNN / Transformer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2150" y="3035895"/>
            <a:ext cx="3238500" cy="7350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3C4C50"/>
                </a:solidFill>
                <a:latin typeface="Be Vietnam Pro"/>
              </a:rPr>
              <a:t>Ý tưởng: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học biểu diễn từ đồ thị đường / ảnh render / chuỗi điểm (GNN, ResNet, RoadFury).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2150" y="3889970"/>
            <a:ext cx="40259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E7D5B"/>
                </a:solidFill>
                <a:latin typeface="Be Vietnam Pro"/>
              </a:rPr>
              <a:t>✓ Ưu:</a:t>
            </a:r>
            <a:r>
              <a:rPr sz="1250" b="0" i="0">
                <a:solidFill>
                  <a:srgbClr val="2E7D5B"/>
                </a:solidFill>
                <a:latin typeface="Be Vietnam Pro"/>
              </a:rPr>
              <a:t> APFD cao nhất (RoadFury 0.804).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2150" y="4267795"/>
            <a:ext cx="32385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✗ Hạn chế: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B5483F"/>
                </a:solidFill>
                <a:latin typeface="Be Vietnam Pro"/>
              </a:rPr>
              <a:t>không bất biến</a:t>
            </a:r>
            <a:r>
              <a:rPr sz="1250" b="0" i="0">
                <a:solidFill>
                  <a:srgbClr val="B5483F"/>
                </a:solidFill>
                <a:latin typeface="Be Vietnam Pro"/>
              </a:rPr>
              <a:t> — xoay / lấy mẫu là điểm trôi.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chưa phương pháp nào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đảm bảo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với phép xoay / tần số lấy mẫu — tất cả dựa vào augmentation (xấp xỉ) hoặc đặc trưng phụ thuộc khung.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CÔNG TRÌNH LIÊN QUAN ·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Related Work: Tổng hợp &amp; Khoảng trống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5441950"/>
            <a:ext cx="5767090" cy="41814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C6B6E"/>
                </a:solidFill>
                <a:latin typeface="Be Vietnam Pro"/>
              </a:rPr>
              <a:t>APFD trên 956 test OOD (30 trials). Các baseline tái lập trong cùng harness; RoadFury &amp; SE2RoadNet là của nhóm.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1840" y="1371600"/>
            <a:ext cx="543431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3373B"/>
                </a:solidFill>
                <a:latin typeface="Be Vietnam Pro"/>
              </a:rPr>
              <a:t>Hai trục độc lập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1840" y="5397500"/>
            <a:ext cx="4646910" cy="4362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SE2RoadNet thêm một </a:t>
            </a:r>
            <a:r>
              <a:rPr sz="1100" b="0" i="1">
                <a:solidFill>
                  <a:srgbClr val="3C4C50"/>
                </a:solidFill>
                <a:latin typeface="Be Vietnam Pro"/>
              </a:rPr>
              <a:t>trục đảm bảo mới</a:t>
            </a:r>
            <a:r>
              <a:rPr sz="1100" b="0" i="0">
                <a:solidFill>
                  <a:srgbClr val="3C4C50"/>
                </a:solidFill>
                <a:latin typeface="Be Vietnam Pro"/>
              </a:rPr>
              <a:t> chứ không chỉ tăng APFD.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46800"/>
            <a:ext cx="11277600" cy="4768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Khoảng trống: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con đường — chỉ khác hướng đặt hoặc số điểm lấy mẫu — không được làm điểm số thay đổi. Chưa method nào đảm bảo điều đó.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02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RoadFury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Phương pháp nền tảng của nhóm: Transformer + SWA + Focal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RoadFury: Pipeline nền tảng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Chuẩn hoá &amp; trích đặc trưng → RoadTransformer → SWA → inference (chấm điểm, sắp xếp giảm dần). </a:t>
            </a:r>
            <a:r>
              <a:rPr sz="1200" b="0" i="0">
                <a:solidFill>
                  <a:srgbClr val="23373B"/>
                </a:solidFill>
                <a:latin typeface="Be Vietnam Pro"/>
              </a:rPr>
              <a:t>Chi tiết 2 điểm mù ở slide kế.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·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RoadFury (chi tiet): mạnh, nhưng có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84300"/>
            <a:ext cx="59944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Trích xuất đặc trưng (10 kênh)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5050631"/>
            <a:ext cx="59944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JetBrains Mono"/>
              </a:rPr>
              <a:t>Z-norm ⇒ ma trận (197 × 10).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94450" y="1384300"/>
            <a:ext cx="59690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RoadTransformer (829K tham số)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94450" y="173990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Linear 10→128 + LayerNorm + GELU.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94450" y="211137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Token [CLS] + learned PE </a:t>
            </a:r>
            <a:r>
              <a:rPr sz="1350" b="1" i="0">
                <a:solidFill>
                  <a:srgbClr val="B5483F"/>
                </a:solidFill>
                <a:latin typeface="Be Vietnam Pro"/>
              </a:rPr>
              <a:t>(vị trí tuyệt đối)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94450" y="2482850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4 lớp Pre-LN Transformer, 8 heads, FFN 512.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94450" y="2854325"/>
            <a:ext cx="5969000" cy="3171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·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Pool [CLS] → 128→64→1 → Sigmoid.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4950" y="4975027"/>
            <a:ext cx="561975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00">
                <a:solidFill>
                  <a:srgbClr val="2E7D5B"/>
                </a:solidFill>
                <a:latin typeface="JetBrains Mono"/>
              </a:rPr>
              <a:t>KẾT QUẢ ICST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4950" y="5260777"/>
            <a:ext cx="4832350" cy="6041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373B"/>
                </a:solidFill>
                <a:latin typeface="Be Vietnam Pro"/>
              </a:rPr>
              <a:t>APFD = </a:t>
            </a:r>
            <a:r>
              <a:rPr sz="1700" b="1" i="0">
                <a:solidFill>
                  <a:srgbClr val="2E7D5B"/>
                </a:solidFill>
                <a:latin typeface="Be Vietnam Pro"/>
              </a:rPr>
              <a:t>0.804 ± 0.012</a:t>
            </a:r>
            <a:r>
              <a:rPr sz="1350" b="0" i="0">
                <a:solidFill>
                  <a:srgbClr val="23373B"/>
                </a:solidFill>
                <a:latin typeface="Be Vietnam Pro"/>
              </a:rPr>
              <a:t>, AUC 0.917 (30 trials, 956 test). </a:t>
            </a:r>
            <a:r>
              <a:rPr sz="1350" b="1" i="0">
                <a:solidFill>
                  <a:srgbClr val="2E7D5B"/>
                </a:solidFill>
                <a:latin typeface="Be Vietnam Pro"/>
              </a:rPr>
              <a:t>Tốt nhất competition.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3/10 kênh và PE tuyệt đối phụ thuộc khung quy chiếu ⇒ APFD cao nhưng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không có bảo chứng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đây là 2 điểm mù.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ROADFURY → SE2ROADNET ·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Từ RoadFury đến SE2RoadNet: Vá 2 điểm mù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phép xoay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xoay 30°/90° ⇒ điểm trồi (ITS4SDC Δ=0.057).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7 kênh bất biến SE(2)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Bỏ sinθ, cosθ, θ; chỉ giữ Δs, κ, dκ/ds...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26200" y="1885950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✗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 Nhạy tần số lấy mẫu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26200" y="2171700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Cùng đường, N=64 vs 197 điểm ⇒ điểm đổi theo cách rời rạc hóa.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26200" y="4075509"/>
            <a:ext cx="597535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✓</a:t>
            </a:r>
            <a:r>
              <a:rPr sz="1400" b="1" i="0">
                <a:solidFill>
                  <a:srgbClr val="2E7D5B"/>
                </a:solidFill>
                <a:latin typeface="Be Vietnam Pro"/>
              </a:rPr>
              <a:t> Attention bias theo Δs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26200" y="4361259"/>
            <a:ext cx="59753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Thay PE tuyệt đối bằng hiệu số cung — bất biến tại tham số hóa.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61520" y="5522020"/>
            <a:ext cx="4957961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 spc="-15">
                <a:solidFill>
                  <a:srgbClr val="FFFFFF"/>
                </a:solidFill>
                <a:latin typeface="Be Vietnam Pro"/>
              </a:rPr>
              <a:t>SE2RoadNet: Bất biến SE(2) bằng kiến trúc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8414" y="5826820"/>
            <a:ext cx="7344172" cy="28886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B5483F"/>
                </a:solidFill>
                <a:latin typeface="Be Vietnam Pro"/>
              </a:rPr>
              <a:t>Augmentation (xấp xỉ)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E0772B"/>
                </a:solidFill>
                <a:latin typeface="JetBrains Mono"/>
              </a:rPr>
              <a:t>· paradigm shift 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ràng buộc kiến trúc (bảo chứng)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23373B"/>
                </a:solidFill>
                <a:latin typeface="Be Vietnam Pro"/>
              </a:rPr>
              <a:t>Mỗi điểm mù RoadFury → một thành phần SE2RoadNet: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vá có chủ đích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, không refactor mù.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03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6350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698452"/>
            <a:ext cx="11861800" cy="1313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 spc="-150">
                <a:solidFill>
                  <a:srgbClr val="F6F4EF"/>
                </a:solidFill>
                <a:latin typeface="Be Vietnam Pro"/>
              </a:rPr>
              <a:t>SE2RoadNet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130973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Đề xuất của nhóm: bất biến SE(2) bằng kiến trúc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SE2RoadNet: Tổng quan kiến trúc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" y="6413500"/>
            <a:ext cx="120650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7 kênh bất biến → InvariantBlock×6 (bias theo Δs) → pool → Failure Score. </a:t>
            </a:r>
            <a:r>
              <a:rPr sz="1200" b="1" i="0">
                <a:solidFill>
                  <a:srgbClr val="2E7CA6"/>
                </a:solidFill>
                <a:latin typeface="Be Vietnam Pro"/>
              </a:rPr>
              <a:t>Rotation probe: ΔAPFD = 0.0000.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Ý tưởng cốt lõi: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300" y="1162050"/>
            <a:ext cx="11626850" cy="30027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Định lý mục tiêu: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Mô hình f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θ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phải thỏa mãn,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bit-identical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, với mọi (R,t) ∈ SE(2):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4800" y="1945084"/>
            <a:ext cx="1162685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Xoay, tịnh tiến, hoặc đổi gốc tọa độ con đường ⇒ điểm số y nguyên.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Một con đường, bốn phép biến đổi SE(2),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cùng một điểm số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— bất biến là tính chất của kiến trúc, không phải của data augmentation.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1: 7 kênh đặc trưng bất biến SE(2)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76652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Chỉ giữ đại lượng nội tại của đường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27200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1.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chiều dài đoạn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062262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2.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| — biến thiên góc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tuyệt đối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397323"/>
            <a:ext cx="6766520" cy="32521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3.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κ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= Δθ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/Δs</a:t>
            </a:r>
            <a:r>
              <a:rPr sz="112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độ cong có dấu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2732385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4.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dκ/ds — đạo hàm độ cong (jerk hình học)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033613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5.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d²κ/ds² — đạo hàm bậc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0250" y="3334841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6.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s_norm = s/L ∈ [0,1] — chiều dài cung tương đối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250" y="3636070"/>
            <a:ext cx="6766520" cy="29138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JetBrains Mono"/>
              </a:rPr>
              <a:t>7.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σ_local(κ) — độ lệch chuẩn cục bộ (cửa sổ 11)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0250" y="5711825"/>
            <a:ext cx="6766520" cy="3013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⇒ </a:t>
            </a:r>
            <a:r>
              <a:rPr sz="1500" b="1" i="0">
                <a:solidFill>
                  <a:srgbClr val="E0772B"/>
                </a:solidFill>
                <a:latin typeface="Be Vietnam Pro"/>
              </a:rPr>
              <a:t>0</a:t>
            </a:r>
            <a:r>
              <a:rPr sz="1350" b="1" i="0">
                <a:solidFill>
                  <a:srgbClr val="E0772B"/>
                </a:solidFill>
                <a:latin typeface="Be Vietnam Pro"/>
              </a:rPr>
              <a:t> kênh phụ thuộc khung quy chiếu (đã bỏ sinθ, cosθ, θ).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4670" y="5549900"/>
            <a:ext cx="4384080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5C6B6E"/>
                </a:solidFill>
                <a:latin typeface="Be Vietnam Pro"/>
              </a:rPr>
              <a:t>Các đại lượng nội tại tính trên từng cặp điểm liền kề — không thay đổi khi xoay/tịnh tiến.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SE(2) được đảm bảo từ khâu đặc trưng — trước khi mô hình học.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2: Kiến trúc SE2RoadNet (InvariantBlock ×6)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37943" y="2627908"/>
            <a:ext cx="4457799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Mỗi điểm trên đường ⇒ một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token 192 chiều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37943" y="3047008"/>
            <a:ext cx="823366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C4C50"/>
                </a:solidFill>
                <a:latin typeface="Be Vietnam Pro"/>
              </a:rPr>
              <a:t>Mỗi block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MHA (8 heads) + FFN (512) + LayerNorm, với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relative-arclength bias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(Bước 3).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37943" y="3466108"/>
            <a:ext cx="381049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Pool [CLS] → 1 logit = xác suất FAIL.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19600" y="4075708"/>
            <a:ext cx="796925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00">
                <a:solidFill>
                  <a:srgbClr val="2E7D5B"/>
                </a:solidFill>
                <a:latin typeface="JetBrains Mono"/>
              </a:rPr>
              <a:t>QUY MÔ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19600" y="4342408"/>
            <a:ext cx="796925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Tổng </a:t>
            </a:r>
            <a:r>
              <a:rPr sz="1300" b="1" i="0">
                <a:solidFill>
                  <a:srgbClr val="2E7D5B"/>
                </a:solidFill>
                <a:latin typeface="Be Vietnam Pro"/>
              </a:rPr>
              <a:t>2.11 M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tham số (~2.5× RoadFury) — vẫn nhẹ, train 24 phút.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Một Transformer bất biến nhẹ — token hóa từng điểm đường, 6 InvariantBlock, đầu ra xác suất FAIL.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556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905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Bước 3: Attention với bias hiệu số Δs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282700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B5483F"/>
                </a:solidFill>
                <a:latin typeface="Be Vietnam Pro"/>
              </a:rPr>
              <a:t>Vấn đề với PE tuyệt đối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2150" y="1587500"/>
            <a:ext cx="5177929" cy="7626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PE chuẩn (sin/cos của index i) khóa mô hình vào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vị trí tuyệt đối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của token. Xoay/cắt đường khác ⇒ index ứng với arclength khác ⇒ vỡ bất biến.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2150" y="3536355"/>
            <a:ext cx="596532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2E7D5B"/>
                </a:solidFill>
                <a:latin typeface="Be Vietnam Pro"/>
              </a:rPr>
              <a:t>Giải pháp: relative-arclength RFF bias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2150" y="3866555"/>
            <a:ext cx="5177929" cy="57769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Thêm bias vào ma trận attention, chỉ phụ thuộc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hiệu số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Δs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=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− s</a:t>
            </a:r>
            <a:r>
              <a:rPr sz="1080" b="0" i="0">
                <a:solidFill>
                  <a:srgbClr val="3C4C50"/>
                </a:solidFill>
                <a:latin typeface="Be Vietnam Pro"/>
              </a:rPr>
              <a:t>j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(bất biến tại tham số hóa):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2150" y="5093196"/>
            <a:ext cx="5965329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với ω ∈ R³² là tần số Fourier ngẫu nhiên (RFF) cố định.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779" y="4622602"/>
            <a:ext cx="5286871" cy="44924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B6E"/>
                </a:solidFill>
                <a:latin typeface="Be Vietnam Pro"/>
              </a:rPr>
              <a:t>Heatmap: attention giảm theo |Δs</a:t>
            </a:r>
            <a:r>
              <a:rPr sz="919" b="0" i="1">
                <a:solidFill>
                  <a:srgbClr val="5C6B6E"/>
                </a:solidFill>
                <a:latin typeface="Be Vietnam Pro"/>
              </a:rPr>
              <a:t>ij</a:t>
            </a:r>
            <a:r>
              <a:rPr sz="1100" b="0" i="1">
                <a:solidFill>
                  <a:srgbClr val="5C6B6E"/>
                </a:solidFill>
                <a:latin typeface="Be Vietnam Pro"/>
              </a:rPr>
              <a:t>| — bias chỉ phụ thuộc hiệu số, không bao giờ i,j riêng lẻ.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00" y="6400800"/>
            <a:ext cx="12065000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Be Vietnam Pro"/>
              </a:rPr>
              <a:t>Chi phí: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O(B · L² · 32) mỗi block — điểm tốn nhất (24 phút train). </a:t>
            </a:r>
            <a:r>
              <a:rPr sz="1250" b="1" i="0">
                <a:solidFill>
                  <a:srgbClr val="23373B"/>
                </a:solidFill>
                <a:latin typeface="Be Vietnam Pro"/>
              </a:rPr>
              <a:t>Cải tiến tương lai:</a:t>
            </a:r>
            <a:r>
              <a:rPr sz="1250" b="0" i="0">
                <a:solidFill>
                  <a:srgbClr val="23373B"/>
                </a:solidFill>
                <a:latin typeface="Be Vietnam Pro"/>
              </a:rPr>
              <a:t> RoPE-1D trên s_norm.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SE2ROADNET ·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Buớc 4: Huấn luyện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71600"/>
            <a:ext cx="613469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Focal Loss (γ=1.5): dồn sức học ca khó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9345" y="13589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Vì sao Focal Loss?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09345" y="2089150"/>
            <a:ext cx="5092105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FAIL chỉ ~30–40%; BCE thuần ⇒ model "đoán PASS hết". Hệ số (1 − p̂_t)ᴳ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down-weight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dễ,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up-weight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ca khó.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09345" y="2997200"/>
            <a:ext cx="5879505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Cấu hình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Focal γ=1.5 + WeightedRandom ép model đầu tư vào ca FAIL hiếm mà không đổi siêu tham số.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04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558554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844304"/>
            <a:ext cx="11861800" cy="94107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600" b="1" i="0" spc="-100">
                <a:solidFill>
                  <a:srgbClr val="F6F4EF"/>
                </a:solidFill>
                <a:latin typeface="Be Vietnam Pro"/>
              </a:rPr>
              <a:t>Đánh giá thực nghiệm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026396"/>
            <a:ext cx="8191500" cy="320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spc="50">
                <a:solidFill>
                  <a:srgbClr val="9DAEB0"/>
                </a:solidFill>
                <a:latin typeface="JetBrains Mono"/>
              </a:rPr>
              <a:t>APFD · giao thức · bất biến Δ=0 · leaderboard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Chỉ số APFD &amp; Giao thức đánh giá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46200"/>
            <a:ext cx="6908800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3373B"/>
                </a:solidFill>
                <a:latin typeface="Be Vietnam Pro"/>
              </a:rPr>
              <a:t>Average Percentage of Faults Detected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4850" y="1670050"/>
            <a:ext cx="6908800" cy="274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Với hoán vị π trên n test (m là FAIL), TF</a:t>
            </a:r>
            <a:r>
              <a:rPr sz="1000" b="0" i="0">
                <a:solidFill>
                  <a:srgbClr val="3C4C50"/>
                </a:solidFill>
                <a:latin typeface="Be Vietnam Pro"/>
              </a:rPr>
              <a:t>i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là vị trí fault thứ i: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4850" y="2614910"/>
            <a:ext cx="6908800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Khoảng [0,1], càng cao càng tốt. Ngẫu nhiên ~ 0.5; Lý tưởng ~ 1.0.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26250" y="3734495"/>
            <a:ext cx="51308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3C4C50"/>
                </a:solidFill>
                <a:latin typeface="Be Vietnam Pro"/>
              </a:rPr>
              <a:t>Ranking tốt ⇒ đường cong dốc đứng từ đầu.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9450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C3E6B"/>
                </a:solidFill>
                <a:latin typeface="Be Vietnam Pro"/>
              </a:rPr>
              <a:t>1. Single-pass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9450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Xếp hạng 1 lần trên toàn Competition split (956 test)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8684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2. Multi-trial (30 lần)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8684" y="46926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Mỗi trial: lấy ngẫu nhiên 287/956 test → APFD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8684" y="5811540"/>
            <a:ext cx="3983534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loại "may rủi" do thứ tự cố định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7917" y="4387850"/>
            <a:ext cx="398353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3. Rotation probe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7917" y="4705350"/>
            <a:ext cx="3196134" cy="472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Xoay toàn bộ split bằng {0,30,60,90,180,−45}° rồi đánh giá lại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Ba lớp: single-pass (điểm chính) → multi-trial (độ ổn định) → rotation probe (kiểm chứng bất biến).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Kết quả headline: Bất biến phép xoay Δ = 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2150" y="1320800"/>
            <a:ext cx="7001173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3373B"/>
                </a:solidFill>
                <a:latin typeface="Be Vietnam Pro"/>
              </a:rPr>
              <a:t>Xoay đường ⇒ baseline trôi điểm, SE2RoadNet bất biến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82173" y="4032250"/>
            <a:ext cx="5019377" cy="2759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E7D5B"/>
                </a:solidFill>
                <a:latin typeface="Be Vietnam Pro"/>
              </a:rPr>
              <a:t>Không phải "trong sai số"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82173" y="4330700"/>
            <a:ext cx="4231977" cy="701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3C4C50"/>
                </a:solidFill>
                <a:latin typeface="Be Vietnam Pro"/>
              </a:rPr>
              <a:t>6 góc xoay, APFD bằng nhau </a:t>
            </a:r>
            <a:r>
              <a:rPr sz="1200" b="1" i="0">
                <a:solidFill>
                  <a:srgbClr val="3C4C50"/>
                </a:solidFill>
                <a:latin typeface="Be Vietnam Pro"/>
              </a:rPr>
              <a:t>đến từng bit float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(=0, không phải ~10⁻³): pipeline 7 kênh trả vector </a:t>
            </a:r>
            <a:r>
              <a:rPr sz="1200" b="0" i="1">
                <a:solidFill>
                  <a:srgbClr val="3C4C50"/>
                </a:solidFill>
                <a:latin typeface="Be Vietnam Pro"/>
              </a:rPr>
              <a:t>pixel-identical</a:t>
            </a:r>
            <a:r>
              <a:rPr sz="1200" b="0" i="0">
                <a:solidFill>
                  <a:srgbClr val="3C4C50"/>
                </a:solidFill>
                <a:latin typeface="Be Vietnam Pro"/>
              </a:rPr>
              <a:t> sau xoay ⇒ logit y nguyên.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000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Lý thuyết được xác minh bằng thực nghiệm, không cần nói "xấp xỉ".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19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Bảng xếp hạng: so với 8 baselines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33500"/>
            <a:ext cx="6863854" cy="2587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3373B"/>
                </a:solidFill>
                <a:latin typeface="Be Vietnam Pro"/>
              </a:rPr>
              <a:t>Bảng xếp hạng APFD </a:t>
            </a:r>
            <a:r>
              <a:rPr sz="1050" b="0" i="0">
                <a:solidFill>
                  <a:srgbClr val="5C6B6E"/>
                </a:solidFill>
                <a:latin typeface="JetBrains Mono"/>
              </a:rPr>
              <a:t>(956 test OOD, 30 trials)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51204" y="3565128"/>
            <a:ext cx="513764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D5B"/>
                </a:solidFill>
                <a:latin typeface="Be Vietnam Pro"/>
              </a:rPr>
              <a:t>Đọc bảng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51204" y="3869928"/>
            <a:ext cx="4350246" cy="750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SE2RoadNet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ngang APFD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baseline tốt nhất, nhưng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tăng AUC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(+0.017) và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thêm bảo chứng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Δ=0 mà không method nào có ⇒ cải thiện theo nghĩa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Pareto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67054" y="5779294"/>
            <a:ext cx="4718546" cy="411401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1">
                <a:solidFill>
                  <a:srgbClr val="5C6B6E"/>
                </a:solidFill>
                <a:latin typeface="Be Vietnam Pro"/>
              </a:rPr>
              <a:t>LLM zero-shot &amp; Greedy-diversity: baseline nhóm tái lập trong cùng harness.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Không đánh đổi: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giữ APFD đỉnh, tăng AUC, và là phương pháp duy nhất bất biến SE(2) tuyệt đối.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ĐÁNH GIÁ · 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AUC vs APFD: vì sao tách bạch?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8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C3E6B"/>
                </a:solidFill>
                <a:latin typeface="Be Vietnam Pro"/>
              </a:rPr>
              <a:t>AUC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khả năng phân loại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PASS/FAIL trên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từng cặp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không quan tâm thứ hạng tuyệt đối.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81750" y="1390650"/>
            <a:ext cx="5207000" cy="53308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E0772B"/>
                </a:solidFill>
                <a:latin typeface="Be Vietnam Pro"/>
              </a:rPr>
              <a:t>APFD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đo </a:t>
            </a:r>
            <a:r>
              <a:rPr sz="1350" b="0" i="1">
                <a:solidFill>
                  <a:srgbClr val="3C4C50"/>
                </a:solidFill>
                <a:latin typeface="Be Vietnam Pro"/>
              </a:rPr>
              <a:t>tốc độ lộ lỗi theo thứ tự chạy</a:t>
            </a:r>
            <a:r>
              <a:rPr sz="1350" b="0" i="0">
                <a:solidFill>
                  <a:srgbClr val="3C4C50"/>
                </a:solidFill>
                <a:latin typeface="Be Vietnam Pro"/>
              </a:rPr>
              <a:t> — chính là cái Competition tối ưu.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5242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" y="3524250"/>
            <a:ext cx="6096000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Trong gần như mọi thí nghiệm của nhóm, AUC và APFD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phân kỳ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: tăng AUC không đảm bảo tăng APFD.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197350"/>
            <a:ext cx="10541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4700" y="4197350"/>
            <a:ext cx="678557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SE2RoadNet tăng AUC (0.917 → 0.934) trong khi APFD giữ đỉnh (~0.805).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8000" y="4622800"/>
            <a:ext cx="1035248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5848" y="4622800"/>
            <a:ext cx="6641604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242A"/>
                </a:solidFill>
                <a:latin typeface="Be Vietnam Pro"/>
              </a:rPr>
              <a:t>Khi báo cáo phải nói rõ </a:t>
            </a:r>
            <a:r>
              <a:rPr sz="1300" b="0" i="1">
                <a:solidFill>
                  <a:srgbClr val="16242A"/>
                </a:solidFill>
                <a:latin typeface="Be Vietnam Pro"/>
              </a:rPr>
              <a:t>metric nào</a:t>
            </a:r>
            <a:r>
              <a:rPr sz="1300" b="0" i="0">
                <a:solidFill>
                  <a:srgbClr val="16242A"/>
                </a:solidFill>
                <a:latin typeface="Be Vietnam Pro"/>
              </a:rPr>
              <a:t> đang được tối ưu cho tình huống nào.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4650" y="5822950"/>
            <a:ext cx="5207000" cy="22669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C6B6E"/>
                </a:solidFill>
                <a:latin typeface="Be Vietnam Pro"/>
              </a:rPr>
              <a:t>AUC tăng, APFD gần như phẳng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Không gộp AUC và APFD thành "một điểm tốt hơn" — chúng đo hai thứ khác nhau.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355600"/>
            <a:ext cx="11861800" cy="23304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 spc="150">
                <a:solidFill>
                  <a:srgbClr val="6B8082"/>
                </a:solidFill>
                <a:latin typeface="JetBrains Mono"/>
              </a:rPr>
              <a:t>ROADFURY → SE2ROADNET</a:t>
            </a:r>
            <a:r>
              <a:rPr sz="1100" b="0" i="0" spc="150">
                <a:solidFill>
                  <a:srgbClr val="6B8082"/>
                </a:solidFill>
                <a:latin typeface="JetBrains Mono"/>
              </a:rPr>
              <a:t>05 /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290762"/>
            <a:ext cx="11861800" cy="288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 spc="250">
                <a:solidFill>
                  <a:srgbClr val="E0772B"/>
                </a:solidFill>
                <a:latin typeface="JetBrains Mono"/>
              </a:rPr>
              <a:t>PHẦN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2582862"/>
            <a:ext cx="11074400" cy="145923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Hạn chế &amp;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 i="0" spc="-100">
                <a:solidFill>
                  <a:srgbClr val="F6F4EF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4303712"/>
            <a:ext cx="81915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9DAEB0"/>
                </a:solidFill>
                <a:latin typeface="Be Vietnam Pro"/>
              </a:rPr>
              <a:t>nhìn thẳng điểm yếu · bốn hướng mở rộng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HẠN CHẾ · 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Hạn chế: nhìn thẳng vào điểm yếu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262255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chỉ số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30162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AUC và APFD phân kỳ: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AUC cao hơn không kéo theo APFD cao hơn — phải lập luận cẩn thận metric nào quan trọng khi nào.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36322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Listwise loss chưa tăng APFD trung bình: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chỉ giảm σ ⇒ đóng góp 'ổn định', không phải headline.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4248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Trần APFD ở bench FAIL cao: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ví dụ 95% FAIL ⇒ APFD ~ 0.52 là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ceiling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, không phải thất bại.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7150" y="2622550"/>
            <a:ext cx="59436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3373B"/>
                </a:solidFill>
                <a:latin typeface="Be Vietnam Pro"/>
              </a:rPr>
              <a:t>Về phương pháp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7150" y="30162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Conformal an toàn còn dở: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v1 valid-nhưng-vô nghĩa, v2 informative-nhưng-invalid; cần v3 mới ship.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7150" y="363220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Dịch phân phối chưa đóng: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IRM / TENT chưa thu hẹp gap SensoDat→Competition (negative đã biết).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7150" y="4248150"/>
            <a:ext cx="5156200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B5483F"/>
                </a:solidFill>
                <a:latin typeface="Be Vietnam Pro"/>
              </a:rPr>
              <a:t>Bất biến lấy mẫu là xấp xỉ: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resolution probe Δ ~ 0.0012 (rất nhỏ) — chưa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exact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như phép xoay.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xoay là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exact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; các đảm bảo khác (resolution, conformal) vẫn đang hoàn thiện — báo cáo trung thực thay vì giấu.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HƯỚNG PHÁT TRIỂN · 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C3E6B"/>
                </a:solidFill>
                <a:latin typeface="Be Vietnam Pro"/>
              </a:rPr>
              <a:t>Tổng quát hóa đa benchmark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Một công thức, 8+ benchmark công khai (OOB, SDC-Scissor, sdc-travel...) — APFD không tinh chỉnh theo từng 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97000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An toàn có bảo chứng (Conformal v3)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46250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Chặn dưới prefix-APFD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valid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vừa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non-vacuous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; audit tỉ lệ vi phạm độ cong.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Bất biến lấy mẫu </a:t>
            </a:r>
            <a:r>
              <a:rPr sz="1500" b="1" i="1">
                <a:solidFill>
                  <a:srgbClr val="2E7CA6"/>
                </a:solidFill>
                <a:latin typeface="Be Vietnam Pro"/>
              </a:rPr>
              <a:t>exact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RoPE-1D trên s_norm thay RFF bias ⇒ rẻ hơn và tiến tới resolution-Δ 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978275"/>
            <a:ext cx="594995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5A33F"/>
                </a:solidFill>
                <a:latin typeface="Be Vietnam Pro"/>
              </a:rPr>
              <a:t>SSL vật lý (physics-informed)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327525"/>
            <a:ext cx="5162550" cy="5232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3C4C50"/>
                </a:solidFill>
                <a:latin typeface="Be Vietnam Pro"/>
              </a:rPr>
              <a:t>Pretext task gắn với độ cong/jerk để học biểu diễn nền — thay SSL hình học ngây thơ (chuyển kém).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Mục tiêu: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từ một baseline bất biến cho SDC →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công thức chung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&amp; audit-readable cho mọi benchmark.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3810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THAM KHẢO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159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Tài liệu tham khảo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206500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C. Rohrbach, T. Kehrer,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SensoDat: Simulation-based Sensor Dataset of Self-driving Cars.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MSR, 2024.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(nguồn dữ liệu)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2036762"/>
            <a:ext cx="5461000" cy="7254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[2]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C. Birchler, S. Khatiri, B. Bosshard, A. Gambi, S. Panichella.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Single and Multi-objective Test Cases Prioritization for Self-driving Cars in Virtual Environments.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ACM TOSEM, 2023.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28670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[3]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ICST/SBFT Tool Competition — Self-Driving Car Testing (Cyber-Physical Systems).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2023–2025.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(giao thức APFD)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34671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[4]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G. Rothermel, R. Untch, C. Chu, M. Harrold.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Prioritizing Test Cases for Regression Testing.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IEEE TSE, 2001.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(định nghĩa APFD)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067175"/>
            <a:ext cx="6248400" cy="27146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[5]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Vaswani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Attention Is All You Need.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2017.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2065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[6]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T.-Y. Lin, P. Goyal, R. Girshick, K. He, P. Dollar.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Focal Loss for Dense Object Detection.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ICCV, 2017.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180657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[7]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P. Izmailov et al.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Averaging Weights Leads to Wider Optima and Better Generalization (SWA).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UAI, 2018.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40665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[8]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T. Cohen, M. Welling.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Group Equivariant Convolutional Networks.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ICML, 2016.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(nền tảng bất biến nhóm)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4600" y="3006725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[9]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Rahimi, B. Recht.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Random Features for Large-Scale Kernel Machines (RFF).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NeurIPS, 2007.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4600" y="3606800"/>
            <a:ext cx="5461000" cy="4953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E0772B"/>
                </a:solidFill>
                <a:latin typeface="JetBrains Mono"/>
              </a:rPr>
              <a:t>[10]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A. Angelopoulos, S. Bates. </a:t>
            </a:r>
            <a:r>
              <a:rPr sz="1250" b="0" i="1">
                <a:solidFill>
                  <a:srgbClr val="3C4C50"/>
                </a:solidFill>
                <a:latin typeface="Be Vietnam Pro"/>
              </a:rPr>
              <a:t>A Gentle Introduction to Conformal Prediction.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 2021. </a:t>
            </a:r>
            <a:r>
              <a:rPr sz="1250" b="0" i="0">
                <a:solidFill>
                  <a:srgbClr val="5C6B6E"/>
                </a:solidFill>
                <a:latin typeface="Be Vietnam Pro"/>
              </a:rPr>
              <a:t>(hướng an toàn)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00" y="6394450"/>
            <a:ext cx="12065000" cy="23526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C6B6E"/>
                </a:solidFill>
                <a:latin typeface="Be Vietnam Pro"/>
              </a:rPr>
              <a:t>RoadFury &amp; SE2RoadNet là phương pháp của nhóm; các baseline khác được tái lập trong cùng harness.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49080" y="1016000"/>
            <a:ext cx="398274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VIDEO TRÌNH BÀY (METHOD 60%)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14850" y="3276600"/>
            <a:ext cx="4051300" cy="2800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 spc="50">
                <a:solidFill>
                  <a:srgbClr val="F6F4EF"/>
                </a:solidFill>
                <a:latin typeface="JetBrains Mono"/>
              </a:rPr>
              <a:t>[ thumbnail sẽ được thay sau 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8025" y="3663950"/>
            <a:ext cx="4044950" cy="297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 spc="50">
                <a:solidFill>
                  <a:srgbClr val="F6F4EF"/>
                </a:solidFill>
                <a:latin typeface="JetBrains Mono"/>
              </a:rPr>
              <a:t>RoadFury → SE2RoadNet ·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77543" y="4984750"/>
            <a:ext cx="4938514" cy="4864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Be Vietnam Pro"/>
              </a:rPr>
              <a:t>►</a:t>
            </a:r>
            <a:r>
              <a:rPr sz="1400" b="1" i="0">
                <a:solidFill>
                  <a:srgbClr val="FFFFFF"/>
                </a:solidFill>
                <a:latin typeface="Be Vietnam Pro"/>
              </a:rPr>
              <a:t> Xem trên Google Drive</a:t>
            </a:r>
            <a:r>
              <a:rPr sz="800" b="0" i="0">
                <a:solidFill>
                  <a:srgbClr val="23373B"/>
                </a:solidFill>
                <a:latin typeface="Be Vietnam Pro"/>
              </a:rPr>
              <a:t> </a:t>
            </a:r>
            <a:r>
              <a:rPr sz="1300" b="1" i="0">
                <a:solidFill>
                  <a:srgbClr val="E0772B"/>
                </a:solidFill>
                <a:latin typeface="Be Vietnam Pro"/>
              </a:rPr>
              <a:t>►</a:t>
            </a:r>
            <a:r>
              <a:rPr sz="1400" b="1" i="0">
                <a:solidFill>
                  <a:srgbClr val="23373B"/>
                </a:solidFill>
                <a:latin typeface="Be Vietnam Pro"/>
              </a:rPr>
              <a:t> Bản Facebook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66579" y="5651500"/>
            <a:ext cx="5658743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C6B6E"/>
                </a:solidFill>
                <a:latin typeface="Be Vietnam Pro"/>
              </a:rPr>
              <a:t>Thay ảnh thumbnail thật vào đây trước khi nộp; link đã chèn sẵn.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38885" y="2343150"/>
            <a:ext cx="431423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E0772B"/>
                </a:solidFill>
                <a:latin typeface="JetBrains Mono"/>
              </a:rPr>
              <a:t>UNIVERSITY OF SCIENCE · VNU-HCM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45594" y="2686050"/>
            <a:ext cx="6500812" cy="8597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 i="0" spc="-100">
                <a:solidFill>
                  <a:srgbClr val="F6F4EF"/>
                </a:solidFill>
                <a:latin typeface="Be Vietnam Pro"/>
              </a:rPr>
              <a:t>Cảm ơn đã lắng nghe!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91273" y="3721100"/>
            <a:ext cx="4209455" cy="37211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1">
                <a:solidFill>
                  <a:srgbClr val="C3CDCE"/>
                </a:solidFill>
                <a:latin typeface="Be Vietnam Pro"/>
              </a:rPr>
              <a:t>Q&amp;A — 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111875"/>
            <a:ext cx="6217345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6F4EF"/>
                </a:solidFill>
                <a:latin typeface="Be Vietnam Pro"/>
              </a:rPr>
              <a:t>RoadFury → SE2RoadNet: bất biến SE(2) cho ưu tiên kiểm thử SDC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" y="6384925"/>
            <a:ext cx="6217345" cy="2438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9DAEB0"/>
                </a:solidFill>
                <a:latin typeface="Be Vietnam Pro"/>
              </a:rPr>
              <a:t>Trần Chí Nguyên · Huỳnh Trung Kiệt · Đào Sỹ Duy Minh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APFD — ví dụ tính tay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168400"/>
            <a:ext cx="1206500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Giả sử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 = 5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m = 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FAIL. Hai cách xếp hạng: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84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Xếp tốt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1, 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75350" y="3206750"/>
            <a:ext cx="5918200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B5483F"/>
                </a:solidFill>
                <a:latin typeface="Be Vietnam Pro"/>
              </a:rPr>
              <a:t>Xếp kém </a:t>
            </a:r>
            <a:r>
              <a:rPr sz="1300" b="0" i="0">
                <a:solidFill>
                  <a:srgbClr val="5C6B6E"/>
                </a:solidFill>
                <a:latin typeface="Be Vietnam Pro"/>
              </a:rPr>
              <a:t>(FAIL ở vị trí 4, 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Cùng một tập lỗi — chỉ khác </a:t>
            </a:r>
            <a:r>
              <a:rPr sz="1300" b="0" i="1">
                <a:solidFill>
                  <a:srgbClr val="23373B"/>
                </a:solidFill>
                <a:latin typeface="Be Vietnam Pro"/>
              </a:rPr>
              <a:t>thứ tự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— APFD chênh nhau 4 lần. Đó là toàn bộ giá trị của test prioritization.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Multi-trial protocol (vì sao 30 lần?)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3900" y="2176264"/>
            <a:ext cx="7853362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APFD single-pass nhạy với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thứ tự cố định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tập test ⇒ một con số dễ “may rủi”.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3900" y="2591495"/>
            <a:ext cx="776108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Mỗi trial: lấy ngẫu nhiên max(50, 0.3·|test|) =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287/956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test, tính APFD độc lập.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900" y="3006725"/>
            <a:ext cx="4634607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Báo cáo APFD ± σ qua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30 trials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, seed = 42.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3900" y="3421955"/>
            <a:ext cx="7355284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σ thường là con số xuất bản quan trọng hơn mean (độ ổn định của ranking).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30 trials biến một con số đơn lẻ thành phân phối có σ — độ tin cậy thay vì may rủi.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Resolution probe (bất biến lấy mẫu)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1200" y="25685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Lấy cùng một con đường, resample ở N ∈ {64,...,197} điểm rồi đánh giá lại.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1200" y="3228975"/>
            <a:ext cx="4299049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Đo Δ = max − min APFD qua các mức 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1200" y="36226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Kết quả: Δ ~ </a:t>
            </a:r>
            <a:r>
              <a:rPr sz="1400" b="1" i="0">
                <a:solidFill>
                  <a:srgbClr val="2E7CA6"/>
                </a:solidFill>
                <a:latin typeface="Be Vietnam Pro"/>
              </a:rPr>
              <a:t>0.0012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—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rất nhỏ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nhưng </a:t>
            </a:r>
            <a:r>
              <a:rPr sz="1400" b="1" i="0">
                <a:solidFill>
                  <a:srgbClr val="B5483F"/>
                </a:solidFill>
                <a:latin typeface="Be Vietnam Pro"/>
              </a:rPr>
              <a:t>chưa exact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như phép xoay (Δ=0).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1200" y="4283075"/>
            <a:ext cx="5987355" cy="5511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Lý do: bias RFF theo Δs là gần-bất-biến tại tham số hóa, không tuyệt đối ⇒ hướng RoPE-1D.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Phép xoay: Δ=0 exact (bằng kiến trúc). Lấy mẫu: Δ ~ 0.0012 (gần như, đang tiến tới exact).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Chi phí ở quy mô lớn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7600" y="2430264"/>
            <a:ext cx="8195370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Inference: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1 forward pass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/đường, batch (n,7,197) ⇒ chấm cả tập trong vài giây GPU.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7600" y="3188395"/>
            <a:ext cx="7964686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Chi phí thật nằm ở </a:t>
            </a:r>
            <a:r>
              <a:rPr sz="1400" b="0" i="1">
                <a:solidFill>
                  <a:srgbClr val="3C4C50"/>
                </a:solidFill>
                <a:latin typeface="Be Vietnam Pro"/>
              </a:rPr>
              <a:t>mô phỏng vật lý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của các test được chọn — không phải ở scorer.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7600" y="3946525"/>
            <a:ext cx="886360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Ranking tốt dồn lỗi lên đầu ⇒ chạy ít kịch bản đầu đã lộ phần lớn lỗi, tiết kiệm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nhiều giờ CPU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7600" y="4704655"/>
            <a:ext cx="6202958" cy="284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C4C50"/>
                </a:solidFill>
                <a:latin typeface="Be Vietnam Pro"/>
              </a:rPr>
              <a:t>Train một lần: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24.2 phút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(Kaggle), </a:t>
            </a:r>
            <a:r>
              <a:rPr sz="1400" b="1" i="0">
                <a:solidFill>
                  <a:srgbClr val="3C4C50"/>
                </a:solidFill>
                <a:latin typeface="Be Vietnam Pro"/>
              </a:rPr>
              <a:t>2.11 M</a:t>
            </a:r>
            <a:r>
              <a:rPr sz="1400" b="0" i="0">
                <a:solidFill>
                  <a:srgbClr val="3C4C50"/>
                </a:solidFill>
                <a:latin typeface="Be Vietnam Pro"/>
              </a:rPr>
              <a:t> tham số ⇒ tái lập rẻ.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1">
                <a:solidFill>
                  <a:srgbClr val="E0772B"/>
                </a:solidFill>
                <a:latin typeface="Be Vietnam Pro"/>
              </a:rPr>
              <a:t>"The best simulation is the one you never run." — scorer rẻ, ngân sách dồn cho các test có khả năng lộ lỗi cao nhất.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8000" y="406400"/>
            <a:ext cx="12065000" cy="25019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 spc="150">
                <a:solidFill>
                  <a:srgbClr val="2E7CA6"/>
                </a:solidFill>
                <a:latin typeface="JetBrains Mono"/>
              </a:rPr>
              <a:t>BACKUP · B5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641350"/>
            <a:ext cx="12065000" cy="4705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 i="0" spc="-25">
                <a:solidFill>
                  <a:srgbClr val="23373B"/>
                </a:solidFill>
                <a:latin typeface="Be Vietnam Pro"/>
              </a:rPr>
              <a:t>Vì sao 7 kênh là bất biến SE(2)? (chứng minh ngắn)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0250" y="1397000"/>
            <a:ext cx="6326386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CA6"/>
                </a:solidFill>
                <a:latin typeface="Be Vietnam Pro"/>
              </a:rPr>
              <a:t>Lập luận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0250" y="175895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1.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SE(2): biến đổi p → R·p + t (R xoay, t tịnh tiến).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0250" y="210820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2.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Chiều dài đoạn Δs = ||p(i+1)-pi||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trực giao bảo toàn khoảng cách, t triệt tiêu).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0250" y="2705100"/>
            <a:ext cx="6326386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3.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Góc giữa hai vector liên tiếp ⇒ |Δθ|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(R bảo toàn góc).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0250" y="30543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4.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κ = Δθ/Δs và các đạo hàm theo s ⇒ hàm của đại lượng bất biến ⇒ </a:t>
            </a:r>
            <a:r>
              <a:rPr sz="1300" b="1" i="0">
                <a:solidFill>
                  <a:srgbClr val="3C4C50"/>
                </a:solidFill>
                <a:latin typeface="Be Vietnam Pro"/>
              </a:rPr>
              <a:t>bất biến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0250" y="3651250"/>
            <a:ext cx="5538986" cy="51498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E7CA6"/>
                </a:solidFill>
                <a:latin typeface="Be Vietnam Pro"/>
              </a:rPr>
              <a:t>5.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Loại bỏ sinθ, cosθ, θ (phụ thuộc R) là điều kiện </a:t>
            </a:r>
            <a:r>
              <a:rPr sz="1300" b="0" i="1">
                <a:solidFill>
                  <a:srgbClr val="3C4C50"/>
                </a:solidFill>
                <a:latin typeface="Be Vietnam Pro"/>
              </a:rPr>
              <a:t>cần</a:t>
            </a:r>
            <a:r>
              <a:rPr sz="1300" b="0" i="0">
                <a:solidFill>
                  <a:srgbClr val="3C4C50"/>
                </a:solidFill>
                <a:latin typeface="Be Vietnam Pro"/>
              </a:rPr>
              <a:t> để bất biến tuyệt đối.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64536" y="1397000"/>
            <a:ext cx="5611614" cy="3079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2E7D5B"/>
                </a:solidFill>
                <a:latin typeface="Be Vietnam Pro"/>
              </a:rPr>
              <a:t>Hệ quả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4536" y="2514600"/>
            <a:ext cx="4824214" cy="49688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3C4C50"/>
                </a:solidFill>
                <a:latin typeface="Be Vietnam Pro"/>
              </a:rPr>
              <a:t>⇒ mọi tầng phía sau (Linear, attention bias theo Δs, pool) chỉ nhận đầu vào bất biến ⇒ </a:t>
            </a:r>
            <a:r>
              <a:rPr sz="1250" b="1" i="0">
                <a:solidFill>
                  <a:srgbClr val="3C4C50"/>
                </a:solidFill>
                <a:latin typeface="Be Vietnam Pro"/>
              </a:rPr>
              <a:t>output bất biến</a:t>
            </a:r>
            <a:r>
              <a:rPr sz="1250" b="0" i="0">
                <a:solidFill>
                  <a:srgbClr val="3C4C50"/>
                </a:solidFill>
                <a:latin typeface="Be Vietnam Pro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00" y="6356350"/>
            <a:ext cx="12065000" cy="26733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E0772B"/>
                </a:solidFill>
                <a:latin typeface="Be Vietnam Pro"/>
              </a:rPr>
              <a:t>Takeaway: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 Bất biến </a:t>
            </a:r>
            <a:r>
              <a:rPr sz="1300" b="1" i="0">
                <a:solidFill>
                  <a:srgbClr val="23373B"/>
                </a:solidFill>
                <a:latin typeface="Be Vietnam Pro"/>
              </a:rPr>
              <a:t>bằng kiến trúc</a:t>
            </a:r>
            <a:r>
              <a:rPr sz="1300" b="0" i="0">
                <a:solidFill>
                  <a:srgbClr val="23373B"/>
                </a:solidFill>
                <a:latin typeface="Be Vietnam Pro"/>
              </a:rPr>
              <a:t>: đảm bảo bởi xây dựng, không phụ thuộc dữ liệu hay augmentation.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