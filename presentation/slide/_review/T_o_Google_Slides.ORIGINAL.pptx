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Gioi thieu de tai RoadFury den SE2RoadNet va nhom thuc hien.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trinh 5 phan; SE2RoadNet la trong 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 phan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Hang ngan kich ban SDC tren BeamNG; mo phong dat; phai uu tien.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chuoi diem 2D; scorer -&gt;[0,1]; output hoan vi toi da APFD.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APFD = dien tich duoi duong cong phat hien loi.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SensoDat 3 split; Competition hep hon -&gt; distribution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Anh that tu SensoDat/BeamNG: hinh dang quyet dinh nhan -&gt; goi y bat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huong; khoang trong: chua dam bao bat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Bang tong hop + 2 truc doc lap (APFD vs bat bien).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 phan 2: RoadFury, phuong phap nen tang cua nhom.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RoadFury (so do TikZ): chuan hoa 197 + 10 kenh -&gt; RoadTransformer -&gt; SWA -&gt;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3/10 kenh + PE tuyet doi phu thuoc khung = 2 diem mu.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diem mu -&gt; 2 thanh phan; paradigm shift augmentation -&gt; rang buoc kien truc.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 phan 3: SE2RoadNet, de xuat cua nhom (trong tam).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do SE2RoadNet (TikZ): 7 kenh bat bien -&gt; InvariantBlock x6 -&gt; rotation probe Delta=0.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Dinh ly: f(RR+t)=f(R) bit-identical; 4 panel cung Score=0.8047.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giu dai luong noi tai; 0 kenh phu thuoc khung.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Linear7-&gt;192, [CLS], InvariantBlock x6, pool, head; 2.11M params.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rel-arclength RFF bias; chi phi O(B L^2 32); tuong lai RoPE-1D.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Focal loss gamma=1.5; cau hinh AdamW SWA bf16.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 phan 4: danh gia thuc nghiem.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Cong thuc APFD + 3 lop danh 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Bang xoay: ITS4SDC troi, SE2RoadNet =0.8047 moi goc.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chart leaderboard + bang AUC/APFD; Pareto.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metric khac nhau; khong gop lai.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 phan 5: han che va huong phat trien.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Diem yeu ve chi so va phuong phap; bao cao trung thuc.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huong; muc tieu cong thuc chung bat bien &amp; audit-readable.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Tai lieu tham khao IEEE.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trinh bay; thumbnail placeholder; link Drive + Facebook.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 on va moi cau hoi.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APFD vi du tinh tay.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 sao 30 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 bien lay mau xap xi.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phi o quy mo lon.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 sao 7 kenh bat bien SE(2) - chung minh 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096000"/>
            <a:ext cx="6286500" cy="575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40000" dirty="0">
                <a:solidFill>
                  <a:srgbClr val="E0772B">
                    <a:alpha val="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56516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8BA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UNIVERSITY OF SCIENCE · VNU-HCM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5201900" y="552450"/>
            <a:ext cx="9906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666750"/>
            <a:ext cx="571500" cy="571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383000" y="552450"/>
            <a:ext cx="9906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2550" y="666750"/>
            <a:ext cx="571500" cy="571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623568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SELF-DRIVING CAR TESTING COMPETITION · ICST 2026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14400" y="4137918"/>
            <a:ext cx="181051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b="1" spc="-225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RoadFury </a:t>
            </a:r>
            <a:pPr algn="l" indent="0" marL="0">
              <a:lnSpc>
                <a:spcPct val="100000"/>
              </a:lnSpc>
              <a:buNone/>
            </a:pPr>
            <a:r>
              <a:rPr lang="en-US" sz="6900" b="1" spc="-225" kern="0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00000"/>
              </a:lnSpc>
              <a:buNone/>
            </a:pPr>
            <a:r>
              <a:rPr lang="en-US" sz="6900" b="1" spc="-225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SE2RoadNet</a:t>
            </a:r>
            <a:endParaRPr lang="en-US" sz="6900" dirty="0"/>
          </a:p>
        </p:txBody>
      </p:sp>
      <p:sp>
        <p:nvSpPr>
          <p:cNvPr id="10" name="Text 6"/>
          <p:cNvSpPr/>
          <p:nvPr/>
        </p:nvSpPr>
        <p:spPr>
          <a:xfrm>
            <a:off x="914400" y="5185668"/>
            <a:ext cx="14668500" cy="526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850" dirty="0">
                <a:solidFill>
                  <a:srgbClr val="C3C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kiểm thử xe tự lái — bất biến SE(2) bằng kiến trúc</a:t>
            </a:r>
            <a:endParaRPr lang="en-US" sz="2850" dirty="0"/>
          </a:p>
        </p:txBody>
      </p:sp>
      <p:sp>
        <p:nvSpPr>
          <p:cNvPr id="11" name="Shape 7"/>
          <p:cNvSpPr/>
          <p:nvPr/>
        </p:nvSpPr>
        <p:spPr>
          <a:xfrm>
            <a:off x="914400" y="5845671"/>
            <a:ext cx="1143000" cy="3810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2" name="Shape 8"/>
          <p:cNvSpPr/>
          <p:nvPr/>
        </p:nvSpPr>
        <p:spPr>
          <a:xfrm>
            <a:off x="914400" y="8154789"/>
            <a:ext cx="16459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8332589"/>
            <a:ext cx="11315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TÓM TẮT ĐỀ TÀI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14400" y="8770739"/>
            <a:ext cx="10595610" cy="765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hạng kịch bản kiểm thử SDC để </a:t>
            </a:r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lỗi sớm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mô hình bất biến phép xoay / lấy mẫu bằng </a:t>
            </a:r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ràng buộc kiến trúc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không bằng augmentation.</a:t>
            </a:r>
            <a:endParaRPr lang="en-US" sz="1875" dirty="0"/>
          </a:p>
        </p:txBody>
      </p:sp>
      <p:sp>
        <p:nvSpPr>
          <p:cNvPr id="15" name="Text 11"/>
          <p:cNvSpPr/>
          <p:nvPr/>
        </p:nvSpPr>
        <p:spPr>
          <a:xfrm>
            <a:off x="14187587" y="8332589"/>
            <a:ext cx="35046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NHÓM THỰC HIỆN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4187587" y="8770739"/>
            <a:ext cx="3504615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C3C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Chí Nguyên · 23102244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4187587" y="9136460"/>
            <a:ext cx="3504615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C3C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Trung Kiệt · 23122039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4187587" y="9502180"/>
            <a:ext cx="3504615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C3C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Đào Sỹ Duy Minh · 23122041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MỤC LỤC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chính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3873500"/>
            <a:ext cx="16764000" cy="9525"/>
          </a:xfrm>
          <a:prstGeom prst="rect">
            <a:avLst/>
          </a:prstGeom>
          <a:solidFill>
            <a:srgbClr val="16242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38200" y="3086100"/>
            <a:ext cx="819150" cy="57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6E7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1905000" y="3136900"/>
            <a:ext cx="75491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cảnh, bài toán &amp; công trình liên quan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62000" y="4914900"/>
            <a:ext cx="16764000" cy="9525"/>
          </a:xfrm>
          <a:prstGeom prst="rect">
            <a:avLst/>
          </a:prstGeom>
          <a:solidFill>
            <a:srgbClr val="16242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38200" y="4127500"/>
            <a:ext cx="819150" cy="57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6E7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905000" y="4178300"/>
            <a:ext cx="831433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RoadFury: phương pháp nền tảng của nhóm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" y="5956300"/>
            <a:ext cx="16764000" cy="1905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1" name="Text 9"/>
          <p:cNvSpPr/>
          <p:nvPr/>
        </p:nvSpPr>
        <p:spPr>
          <a:xfrm>
            <a:off x="838200" y="5168900"/>
            <a:ext cx="819150" cy="57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1905000" y="5219700"/>
            <a:ext cx="60109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SE2RoadNet: đề xuất của nhóm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62000" y="7010400"/>
            <a:ext cx="16764000" cy="9525"/>
          </a:xfrm>
          <a:prstGeom prst="rect">
            <a:avLst/>
          </a:prstGeom>
          <a:solidFill>
            <a:srgbClr val="16242A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6223000"/>
            <a:ext cx="819150" cy="57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6E7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1905000" y="6273800"/>
            <a:ext cx="412475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thực nghiệm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62000" y="8051800"/>
            <a:ext cx="16764000" cy="9525"/>
          </a:xfrm>
          <a:prstGeom prst="rect">
            <a:avLst/>
          </a:prstGeom>
          <a:solidFill>
            <a:srgbClr val="16242A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" y="7264400"/>
            <a:ext cx="819150" cy="57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6E7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3750" dirty="0"/>
          </a:p>
        </p:txBody>
      </p:sp>
      <p:sp>
        <p:nvSpPr>
          <p:cNvPr id="18" name="Text 16"/>
          <p:cNvSpPr/>
          <p:nvPr/>
        </p:nvSpPr>
        <p:spPr>
          <a:xfrm>
            <a:off x="1905000" y="7315200"/>
            <a:ext cx="519192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&amp; hướng phát triển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762000" y="938530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10540" y="9544050"/>
            <a:ext cx="172669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+ 5 slide Backup cho Q&amp;A: APFD ví dụ tay · Multi-trial · AUC vs APFD · Resolution probe · Chi phí quy mô lớn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38409" y="5715000"/>
            <a:ext cx="718887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spc="-1800" kern="0" dirty="0">
                <a:solidFill>
                  <a:srgbClr val="FFFFFF">
                    <a:alpha val="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6500" y="2476500"/>
            <a:ext cx="7429500" cy="533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33400"/>
            <a:ext cx="35529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ROADFURY → SE2ROADNET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6293405" y="533400"/>
            <a:ext cx="11563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05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698379"/>
            <a:ext cx="1810512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37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PHẦN 01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914400" y="4244479"/>
            <a:ext cx="1810512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spc="-225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</a:t>
            </a:r>
            <a:endParaRPr lang="en-US" sz="9600" dirty="0"/>
          </a:p>
        </p:txBody>
      </p:sp>
      <p:sp>
        <p:nvSpPr>
          <p:cNvPr id="9" name="Shape 6"/>
          <p:cNvSpPr/>
          <p:nvPr/>
        </p:nvSpPr>
        <p:spPr>
          <a:xfrm>
            <a:off x="914400" y="5764610"/>
            <a:ext cx="1143000" cy="47625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174185"/>
            <a:ext cx="12049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DAE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 · phát biểu · bộ dữ liệu · công trình liên quan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BÀI TOÁN ·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cảnh: Kiểm thử Self-Driving Car trong mô phỏng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2481064"/>
            <a:ext cx="5092700" cy="2646363"/>
          </a:xfrm>
          <a:prstGeom prst="roundRect">
            <a:avLst>
              <a:gd name="adj" fmla="val 5039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350" y="2487414"/>
            <a:ext cx="5080000" cy="762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6" name="Text 4"/>
          <p:cNvSpPr/>
          <p:nvPr/>
        </p:nvSpPr>
        <p:spPr>
          <a:xfrm>
            <a:off x="1054100" y="2830314"/>
            <a:ext cx="4959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3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ngàn kịch bản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54100" y="3312914"/>
            <a:ext cx="4643755" cy="157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tự động các con đường (AmbieGen, Frenetic...) trên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BeamNG.tech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Mỗi đường = một bài kiểm thử giữ làn.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816600" y="2481064"/>
            <a:ext cx="819150" cy="268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597650" y="2481064"/>
            <a:ext cx="5092700" cy="2646363"/>
          </a:xfrm>
          <a:prstGeom prst="roundRect">
            <a:avLst>
              <a:gd name="adj" fmla="val 5039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04000" y="2487414"/>
            <a:ext cx="5080000" cy="7620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1" name="Text 9"/>
          <p:cNvSpPr/>
          <p:nvPr/>
        </p:nvSpPr>
        <p:spPr>
          <a:xfrm>
            <a:off x="6889750" y="2830314"/>
            <a:ext cx="4959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phỏng tốn kém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889750" y="3312914"/>
            <a:ext cx="4643755" cy="812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kịch bản chạy vật lý thời gian thực ⇒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giờ CPU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toàn tập.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652250" y="2481064"/>
            <a:ext cx="819150" cy="268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2433300" y="2481064"/>
            <a:ext cx="5092700" cy="2646363"/>
          </a:xfrm>
          <a:prstGeom prst="roundRect">
            <a:avLst>
              <a:gd name="adj" fmla="val 5039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9650" y="2487414"/>
            <a:ext cx="5080000" cy="762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12725400" y="2830314"/>
            <a:ext cx="4959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ưu tiên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725400" y="3312914"/>
            <a:ext cx="4643755" cy="1195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thứ tự để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lộ sớm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chỉ cần chạy phần đầu hàng đợi đã lộ phần lớn lỗi, tiết kiệm chi phí mô phỏng.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62000" y="5451277"/>
            <a:ext cx="16764000" cy="2938760"/>
          </a:xfrm>
          <a:prstGeom prst="roundRect">
            <a:avLst>
              <a:gd name="adj" fmla="val 4538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4100" y="5667177"/>
            <a:ext cx="16179801" cy="217041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45110" y="7932837"/>
            <a:ext cx="1779778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Một con đường giữ làn: xe có thể đi đúng làn (PASS) hoặc lệch ra ngoài (FAIL)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762000" y="935990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10540" y="9518650"/>
            <a:ext cx="172669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thay đổi nhỏ có thể khiến xe lệch làn ở kịch bản hiếm ⇒ cần kiểm thử quy mô lớn, nhưng chạy hết thì quá đắt.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BÀI TOÁN ·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biểu bài toán &amp; Tiêu chí đánh giá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701800"/>
            <a:ext cx="5020767" cy="2458045"/>
          </a:xfrm>
          <a:prstGeom prst="roundRect">
            <a:avLst>
              <a:gd name="adj" fmla="val 542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4153495"/>
            <a:ext cx="5020767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01800"/>
            <a:ext cx="5020767" cy="57150"/>
          </a:xfrm>
          <a:prstGeom prst="rect">
            <a:avLst/>
          </a:prstGeom>
          <a:solidFill>
            <a:srgbClr val="23373B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01800"/>
            <a:ext cx="9525" cy="245804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76417" y="1701800"/>
            <a:ext cx="9525" cy="245804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968500"/>
            <a:ext cx="49640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2330450"/>
            <a:ext cx="4648149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= chuỗi điểm 2D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{p1,...,pN} ⊂ R²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16000" y="3162895"/>
            <a:ext cx="49640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thay đổi: 64-197 điểm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016000" y="3610570"/>
            <a:ext cx="49640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hình học, không có hành vi xe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5954217" y="1701800"/>
            <a:ext cx="590550" cy="249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50" dirty="0"/>
          </a:p>
        </p:txBody>
      </p:sp>
      <p:sp>
        <p:nvSpPr>
          <p:cNvPr id="14" name="Shape 12"/>
          <p:cNvSpPr/>
          <p:nvPr/>
        </p:nvSpPr>
        <p:spPr>
          <a:xfrm>
            <a:off x="6640017" y="1701800"/>
            <a:ext cx="5008066" cy="2458045"/>
          </a:xfrm>
          <a:prstGeom prst="roundRect">
            <a:avLst>
              <a:gd name="adj" fmla="val 5425"/>
            </a:avLst>
          </a:prstGeom>
          <a:solidFill>
            <a:srgbClr val="E0772B"/>
          </a:solidFill>
          <a:ln/>
          <a:effectLst>
            <a:outerShdw sx="100000" sy="100000" kx="0" ky="0" algn="bl" rotWithShape="0" blurRad="171450" dist="57150" dir="5400000">
              <a:srgbClr val="E0772B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05850" y="212119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FFFF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961338" y="2445048"/>
            <a:ext cx="441623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fθ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8384878" y="3041948"/>
            <a:ext cx="1670179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↦ [0,1]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291414" y="3448348"/>
            <a:ext cx="1875691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(xác suất FAIL)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19533" y="1701800"/>
            <a:ext cx="590550" cy="2496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50" dirty="0"/>
          </a:p>
        </p:txBody>
      </p:sp>
      <p:sp>
        <p:nvSpPr>
          <p:cNvPr id="20" name="Shape 18"/>
          <p:cNvSpPr/>
          <p:nvPr/>
        </p:nvSpPr>
        <p:spPr>
          <a:xfrm>
            <a:off x="12505333" y="1701800"/>
            <a:ext cx="5020767" cy="2458045"/>
          </a:xfrm>
          <a:prstGeom prst="roundRect">
            <a:avLst>
              <a:gd name="adj" fmla="val 5425"/>
            </a:avLst>
          </a:prstGeom>
          <a:solidFill>
            <a:srgbClr val="EFF5F0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05333" y="4153495"/>
            <a:ext cx="5020767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505333" y="1701800"/>
            <a:ext cx="5020767" cy="5715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3" name="Shape 21"/>
          <p:cNvSpPr/>
          <p:nvPr/>
        </p:nvSpPr>
        <p:spPr>
          <a:xfrm>
            <a:off x="12505333" y="1701800"/>
            <a:ext cx="9525" cy="245804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519750" y="1701800"/>
            <a:ext cx="9525" cy="245804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759333" y="1968500"/>
            <a:ext cx="49640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759333" y="2330450"/>
            <a:ext cx="4964043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Hoán vị π của n kịch bản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759333" y="2803823"/>
            <a:ext cx="4964043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Sắp giảm dần theo điểm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2759333" y="3277195"/>
            <a:ext cx="4964043" cy="408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tiêu: </a:t>
            </a:r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π* = argmaxπ APFD(π)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762000" y="4369396"/>
            <a:ext cx="16764000" cy="682923"/>
          </a:xfrm>
          <a:prstGeom prst="roundRect">
            <a:avLst>
              <a:gd name="adj" fmla="val 16737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000" y="5045968"/>
            <a:ext cx="16764000" cy="9525"/>
          </a:xfrm>
          <a:prstGeom prst="rect">
            <a:avLst/>
          </a:prstGeom>
          <a:solidFill>
            <a:srgbClr val="2E7D5B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62000" y="4369396"/>
            <a:ext cx="16764000" cy="9525"/>
          </a:xfrm>
          <a:prstGeom prst="rect">
            <a:avLst/>
          </a:prstGeom>
          <a:solidFill>
            <a:srgbClr val="2E7D5B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62000" y="4369396"/>
            <a:ext cx="57150" cy="682923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3" name="Shape 31"/>
          <p:cNvSpPr/>
          <p:nvPr/>
        </p:nvSpPr>
        <p:spPr>
          <a:xfrm>
            <a:off x="17519650" y="4369396"/>
            <a:ext cx="9525" cy="682923"/>
          </a:xfrm>
          <a:prstGeom prst="rect">
            <a:avLst/>
          </a:prstGeom>
          <a:solidFill>
            <a:srgbClr val="2E7D5B">
              <a:alpha val="3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47750" y="4528146"/>
            <a:ext cx="16746220" cy="403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Criterion: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3373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lỗi (FAIL) được xếp càng sớm càng tốt ⇒ APFD cao ⇒ tiết kiệm chi phí mô phỏng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762000" y="5261868"/>
            <a:ext cx="5461000" cy="4586982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350" y="5268218"/>
            <a:ext cx="5448300" cy="762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37" name="Text 35"/>
          <p:cNvSpPr/>
          <p:nvPr/>
        </p:nvSpPr>
        <p:spPr>
          <a:xfrm>
            <a:off x="996950" y="5534918"/>
            <a:ext cx="54902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C3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trước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996950" y="5954018"/>
            <a:ext cx="549021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Nhãn train y ∈ {0,1} (PASS/FAIL)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996950" y="6413599"/>
            <a:ext cx="549021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ngân sách cho mọi tool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6413500" y="5261868"/>
            <a:ext cx="5461000" cy="4586982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9850" y="5268218"/>
            <a:ext cx="5448300" cy="76200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42" name="Text 40"/>
          <p:cNvSpPr/>
          <p:nvPr/>
        </p:nvSpPr>
        <p:spPr>
          <a:xfrm>
            <a:off x="6648450" y="5534918"/>
            <a:ext cx="54902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khăn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6648450" y="5954018"/>
            <a:ext cx="5140833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có hình học đường, không có phản ứng xe</a:t>
            </a:r>
            <a:endParaRPr lang="en-US" sz="1875" dirty="0"/>
          </a:p>
        </p:txBody>
      </p:sp>
      <p:sp>
        <p:nvSpPr>
          <p:cNvPr id="44" name="Text 42"/>
          <p:cNvSpPr/>
          <p:nvPr/>
        </p:nvSpPr>
        <p:spPr>
          <a:xfrm>
            <a:off x="6648450" y="6758880"/>
            <a:ext cx="549021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thử out-of-distribution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065001" y="5261868"/>
            <a:ext cx="5461000" cy="4586982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071350" y="5268218"/>
            <a:ext cx="5448300" cy="7620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47" name="Text 45"/>
          <p:cNvSpPr/>
          <p:nvPr/>
        </p:nvSpPr>
        <p:spPr>
          <a:xfrm>
            <a:off x="12299950" y="5534918"/>
            <a:ext cx="54902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2299950" y="5954018"/>
            <a:ext cx="549021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APFD (primary)</a:t>
            </a:r>
            <a:endParaRPr lang="en-US" sz="1875" dirty="0"/>
          </a:p>
        </p:txBody>
      </p:sp>
      <p:sp>
        <p:nvSpPr>
          <p:cNvPr id="49" name="Text 47"/>
          <p:cNvSpPr/>
          <p:nvPr/>
        </p:nvSpPr>
        <p:spPr>
          <a:xfrm>
            <a:off x="12299950" y="6413599"/>
            <a:ext cx="549021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(phụ), Rotation Δ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BÀI TOÁN ·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cần ưu tiên kiểm thử?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701800"/>
            <a:ext cx="9560818" cy="7213600"/>
          </a:xfrm>
          <a:prstGeom prst="roundRect">
            <a:avLst>
              <a:gd name="adj" fmla="val 1849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4100" y="1955800"/>
            <a:ext cx="9874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cong APFD</a:t>
            </a:r>
            <a:endParaRPr lang="en-US" sz="2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4100" y="2336800"/>
            <a:ext cx="8976618" cy="6324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89519" y="1701800"/>
            <a:ext cx="7630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Trực giác: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589519" y="2197100"/>
            <a:ext cx="162917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809586" y="2197100"/>
            <a:ext cx="6917907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hạng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tốt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lỗi dồn lên đầu ⇒ đường cong dốc đứng từ sớm.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589519" y="3117850"/>
            <a:ext cx="162917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809586" y="3117850"/>
            <a:ext cx="6917907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hạng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kém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lỗi nằm cuối hàng đợi ⇒ tốn nhiều giờ mô phỏng.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589519" y="4038600"/>
            <a:ext cx="162917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0809586" y="4038600"/>
            <a:ext cx="6058069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APFD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chính diện tích dưới đường cong này.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10589519" y="7696200"/>
            <a:ext cx="6936482" cy="1219200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589519" y="8909050"/>
            <a:ext cx="6936482" cy="9525"/>
          </a:xfrm>
          <a:prstGeom prst="rect">
            <a:avLst/>
          </a:prstGeom>
          <a:solidFill>
            <a:srgbClr val="B5483F">
              <a:alpha val="4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0589519" y="7696200"/>
            <a:ext cx="6936482" cy="9525"/>
          </a:xfrm>
          <a:prstGeom prst="rect">
            <a:avLst/>
          </a:prstGeom>
          <a:solidFill>
            <a:srgbClr val="B5483F">
              <a:alpha val="4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0589519" y="7696200"/>
            <a:ext cx="76200" cy="1219200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18" name="Shape 15"/>
          <p:cNvSpPr/>
          <p:nvPr/>
        </p:nvSpPr>
        <p:spPr>
          <a:xfrm>
            <a:off x="17519651" y="7696200"/>
            <a:ext cx="9525" cy="1219200"/>
          </a:xfrm>
          <a:prstGeom prst="rect">
            <a:avLst/>
          </a:prstGeom>
          <a:solidFill>
            <a:srgbClr val="B5483F">
              <a:alpha val="4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0932419" y="7931150"/>
            <a:ext cx="6528627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956 kịch bản × mô phỏng vật lý ⇒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giờ CPU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nếu chạy hết.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762000" y="90487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10540" y="9207500"/>
            <a:ext cx="1726692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tốt dồn lỗi lên đầu hàng đợi ⇒ tiết kiệm phần lớn chi phí mô phỏng — bài toán không phải "chạy nhanh hơn" mà là "chạy đúng thứ tự".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BÀI TOÁN ·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SensoDat </a:t>
            </a:r>
            <a:pPr algn="l" indent="0" marL="0">
              <a:buNone/>
            </a:pPr>
            <a:r>
              <a:rPr lang="en-US" sz="1950" b="1" spc="-37" kern="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(Birchler et al., MSR 2024 [1])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762000" y="1701800"/>
            <a:ext cx="7748960" cy="80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dữ liệu công khai các kịch bản SDC sinh tự động trên BeamNG.tech, chia 3 split: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62000" y="2659856"/>
            <a:ext cx="7523262" cy="281305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350" y="2666206"/>
            <a:ext cx="7510562" cy="647700"/>
          </a:xfrm>
          <a:prstGeom prst="rect">
            <a:avLst/>
          </a:prstGeom>
          <a:solidFill>
            <a:srgbClr val="23373B"/>
          </a:solidFill>
          <a:ln/>
        </p:spPr>
      </p:sp>
      <p:sp>
        <p:nvSpPr>
          <p:cNvPr id="7" name="Text 5"/>
          <p:cNvSpPr/>
          <p:nvPr/>
        </p:nvSpPr>
        <p:spPr>
          <a:xfrm>
            <a:off x="977900" y="2837656"/>
            <a:ext cx="22392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06378" y="2837656"/>
            <a:ext cx="14273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4239" y="2837656"/>
            <a:ext cx="14273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%FAIL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2100" y="2837656"/>
            <a:ext cx="14273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Dài (m)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8350" y="3313906"/>
            <a:ext cx="7510562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77900" y="3536156"/>
            <a:ext cx="223920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406378" y="3510756"/>
            <a:ext cx="142736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28 804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024239" y="3510756"/>
            <a:ext cx="142736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38.4%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642100" y="3510756"/>
            <a:ext cx="142736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61-454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68350" y="4031456"/>
            <a:ext cx="7510562" cy="717550"/>
          </a:xfrm>
          <a:prstGeom prst="rect">
            <a:avLst/>
          </a:prstGeom>
          <a:solidFill>
            <a:srgbClr val="2E7CA6">
              <a:alpha val="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68350" y="4031456"/>
            <a:ext cx="7510562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77900" y="4253706"/>
            <a:ext cx="223920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(SensoDat)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406378" y="4228306"/>
            <a:ext cx="142736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7 202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024239" y="4228306"/>
            <a:ext cx="142736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38.4%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642100" y="4228306"/>
            <a:ext cx="142736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76-433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768350" y="4749006"/>
            <a:ext cx="7510562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77900" y="4971256"/>
            <a:ext cx="223920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(OOD)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3406378" y="4945856"/>
            <a:ext cx="142736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956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5024239" y="4971256"/>
            <a:ext cx="142736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B54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36.9%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642100" y="4971256"/>
            <a:ext cx="142736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B54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129-229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8590062" y="1701800"/>
            <a:ext cx="8935938" cy="752475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20262" y="1974850"/>
            <a:ext cx="910309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càng dài ⇒ càng dễ FAIL </a:t>
            </a:r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(dữ liệu thật)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8920262" y="8343900"/>
            <a:ext cx="8275538" cy="19050"/>
          </a:xfrm>
          <a:prstGeom prst="rect">
            <a:avLst/>
          </a:prstGeom>
          <a:solidFill>
            <a:srgbClr val="16242A">
              <a:alpha val="2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863112" y="2717800"/>
            <a:ext cx="11049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 rate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920262" y="6896100"/>
            <a:ext cx="8275538" cy="19050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32" name="Text 30"/>
          <p:cNvSpPr/>
          <p:nvPr/>
        </p:nvSpPr>
        <p:spPr>
          <a:xfrm>
            <a:off x="8920262" y="6616700"/>
            <a:ext cx="203056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54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 toàn tập 38.4%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9101634" y="7334250"/>
            <a:ext cx="438150" cy="895350"/>
          </a:xfrm>
          <a:prstGeom prst="roundRect">
            <a:avLst>
              <a:gd name="adj" fmla="val 8696"/>
            </a:avLst>
          </a:prstGeom>
          <a:solidFill>
            <a:srgbClr val="E0772B"/>
          </a:solidFill>
          <a:ln/>
        </p:spPr>
      </p:sp>
      <p:sp>
        <p:nvSpPr>
          <p:cNvPr id="34" name="Text 32"/>
          <p:cNvSpPr/>
          <p:nvPr/>
        </p:nvSpPr>
        <p:spPr>
          <a:xfrm>
            <a:off x="9117509" y="7086600"/>
            <a:ext cx="482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0.26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0035977" y="7372350"/>
            <a:ext cx="438150" cy="857250"/>
          </a:xfrm>
          <a:prstGeom prst="roundRect">
            <a:avLst>
              <a:gd name="adj" fmla="val 8696"/>
            </a:avLst>
          </a:prstGeom>
          <a:solidFill>
            <a:srgbClr val="E0772B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1852" y="7124700"/>
            <a:ext cx="482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0970320" y="7239000"/>
            <a:ext cx="438150" cy="990600"/>
          </a:xfrm>
          <a:prstGeom prst="roundRect">
            <a:avLst>
              <a:gd name="adj" fmla="val 8696"/>
            </a:avLst>
          </a:prstGeom>
          <a:solidFill>
            <a:srgbClr val="E0772B"/>
          </a:solidFill>
          <a:ln/>
        </p:spPr>
      </p:sp>
      <p:sp>
        <p:nvSpPr>
          <p:cNvPr id="38" name="Text 36"/>
          <p:cNvSpPr/>
          <p:nvPr/>
        </p:nvSpPr>
        <p:spPr>
          <a:xfrm>
            <a:off x="10986195" y="6991350"/>
            <a:ext cx="482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0.29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1904663" y="6962775"/>
            <a:ext cx="438150" cy="1266825"/>
          </a:xfrm>
          <a:prstGeom prst="roundRect">
            <a:avLst>
              <a:gd name="adj" fmla="val 8696"/>
            </a:avLst>
          </a:prstGeom>
          <a:solidFill>
            <a:srgbClr val="E0772B"/>
          </a:solidFill>
          <a:ln/>
        </p:spPr>
      </p:sp>
      <p:sp>
        <p:nvSpPr>
          <p:cNvPr id="40" name="Text 38"/>
          <p:cNvSpPr/>
          <p:nvPr/>
        </p:nvSpPr>
        <p:spPr>
          <a:xfrm>
            <a:off x="11920538" y="6715125"/>
            <a:ext cx="482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0.37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12839006" y="6686550"/>
            <a:ext cx="438150" cy="1543050"/>
          </a:xfrm>
          <a:prstGeom prst="roundRect">
            <a:avLst>
              <a:gd name="adj" fmla="val 8696"/>
            </a:avLst>
          </a:prstGeom>
          <a:solidFill>
            <a:srgbClr val="E0772B"/>
          </a:solidFill>
          <a:ln/>
        </p:spPr>
      </p:sp>
      <p:sp>
        <p:nvSpPr>
          <p:cNvPr id="42" name="Text 40"/>
          <p:cNvSpPr/>
          <p:nvPr/>
        </p:nvSpPr>
        <p:spPr>
          <a:xfrm>
            <a:off x="12854880" y="6438900"/>
            <a:ext cx="482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3773349" y="6410325"/>
            <a:ext cx="438150" cy="1819275"/>
          </a:xfrm>
          <a:prstGeom prst="roundRect">
            <a:avLst>
              <a:gd name="adj" fmla="val 8696"/>
            </a:avLst>
          </a:prstGeom>
          <a:solidFill>
            <a:srgbClr val="E0772B"/>
          </a:solidFill>
          <a:ln/>
        </p:spPr>
      </p:sp>
      <p:sp>
        <p:nvSpPr>
          <p:cNvPr id="44" name="Text 42"/>
          <p:cNvSpPr/>
          <p:nvPr/>
        </p:nvSpPr>
        <p:spPr>
          <a:xfrm>
            <a:off x="13789223" y="6162675"/>
            <a:ext cx="482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14707692" y="6067425"/>
            <a:ext cx="438150" cy="2162175"/>
          </a:xfrm>
          <a:prstGeom prst="roundRect">
            <a:avLst>
              <a:gd name="adj" fmla="val 8696"/>
            </a:avLst>
          </a:prstGeom>
          <a:solidFill>
            <a:srgbClr val="E0772B"/>
          </a:solidFill>
          <a:ln/>
        </p:spPr>
      </p:sp>
      <p:sp>
        <p:nvSpPr>
          <p:cNvPr id="46" name="Text 44"/>
          <p:cNvSpPr/>
          <p:nvPr/>
        </p:nvSpPr>
        <p:spPr>
          <a:xfrm>
            <a:off x="14723566" y="5819775"/>
            <a:ext cx="482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0.63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5642035" y="5762625"/>
            <a:ext cx="438150" cy="2466975"/>
          </a:xfrm>
          <a:prstGeom prst="roundRect">
            <a:avLst>
              <a:gd name="adj" fmla="val 8696"/>
            </a:avLst>
          </a:prstGeom>
          <a:solidFill>
            <a:srgbClr val="E0772B"/>
          </a:solidFill>
          <a:ln/>
        </p:spPr>
      </p:sp>
      <p:sp>
        <p:nvSpPr>
          <p:cNvPr id="48" name="Text 46"/>
          <p:cNvSpPr/>
          <p:nvPr/>
        </p:nvSpPr>
        <p:spPr>
          <a:xfrm>
            <a:off x="15657909" y="5514975"/>
            <a:ext cx="482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0.72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6576378" y="5829300"/>
            <a:ext cx="438150" cy="2400300"/>
          </a:xfrm>
          <a:prstGeom prst="roundRect">
            <a:avLst>
              <a:gd name="adj" fmla="val 8696"/>
            </a:avLst>
          </a:prstGeom>
          <a:solidFill>
            <a:srgbClr val="E0772B"/>
          </a:solidFill>
          <a:ln/>
        </p:spPr>
      </p:sp>
      <p:sp>
        <p:nvSpPr>
          <p:cNvPr id="50" name="Text 48"/>
          <p:cNvSpPr/>
          <p:nvPr/>
        </p:nvSpPr>
        <p:spPr>
          <a:xfrm>
            <a:off x="16592252" y="5581650"/>
            <a:ext cx="482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8882162" y="8439150"/>
            <a:ext cx="87719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425" dirty="0"/>
          </a:p>
        </p:txBody>
      </p:sp>
      <p:sp>
        <p:nvSpPr>
          <p:cNvPr id="52" name="Text 50"/>
          <p:cNvSpPr/>
          <p:nvPr/>
        </p:nvSpPr>
        <p:spPr>
          <a:xfrm>
            <a:off x="9816505" y="8439150"/>
            <a:ext cx="87719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</a:t>
            </a:r>
            <a:endParaRPr lang="en-US" sz="1425" dirty="0"/>
          </a:p>
        </p:txBody>
      </p:sp>
      <p:sp>
        <p:nvSpPr>
          <p:cNvPr id="53" name="Text 51"/>
          <p:cNvSpPr/>
          <p:nvPr/>
        </p:nvSpPr>
        <p:spPr>
          <a:xfrm>
            <a:off x="10750848" y="8439150"/>
            <a:ext cx="87719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425" dirty="0"/>
          </a:p>
        </p:txBody>
      </p:sp>
      <p:sp>
        <p:nvSpPr>
          <p:cNvPr id="54" name="Text 52"/>
          <p:cNvSpPr/>
          <p:nvPr/>
        </p:nvSpPr>
        <p:spPr>
          <a:xfrm>
            <a:off x="11685191" y="8439150"/>
            <a:ext cx="87719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</a:t>
            </a:r>
            <a:endParaRPr lang="en-US" sz="1425" dirty="0"/>
          </a:p>
        </p:txBody>
      </p:sp>
      <p:sp>
        <p:nvSpPr>
          <p:cNvPr id="55" name="Text 53"/>
          <p:cNvSpPr/>
          <p:nvPr/>
        </p:nvSpPr>
        <p:spPr>
          <a:xfrm>
            <a:off x="12619534" y="8439150"/>
            <a:ext cx="87719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425" dirty="0"/>
          </a:p>
        </p:txBody>
      </p:sp>
      <p:sp>
        <p:nvSpPr>
          <p:cNvPr id="56" name="Text 54"/>
          <p:cNvSpPr/>
          <p:nvPr/>
        </p:nvSpPr>
        <p:spPr>
          <a:xfrm>
            <a:off x="13553877" y="8439150"/>
            <a:ext cx="87719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225</a:t>
            </a:r>
            <a:endParaRPr lang="en-US" sz="1425" dirty="0"/>
          </a:p>
        </p:txBody>
      </p:sp>
      <p:sp>
        <p:nvSpPr>
          <p:cNvPr id="57" name="Text 55"/>
          <p:cNvSpPr/>
          <p:nvPr/>
        </p:nvSpPr>
        <p:spPr>
          <a:xfrm>
            <a:off x="14488220" y="8439150"/>
            <a:ext cx="87719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endParaRPr lang="en-US" sz="1425" dirty="0"/>
          </a:p>
        </p:txBody>
      </p:sp>
      <p:sp>
        <p:nvSpPr>
          <p:cNvPr id="58" name="Text 56"/>
          <p:cNvSpPr/>
          <p:nvPr/>
        </p:nvSpPr>
        <p:spPr>
          <a:xfrm>
            <a:off x="15422563" y="8439150"/>
            <a:ext cx="87719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275</a:t>
            </a:r>
            <a:endParaRPr lang="en-US" sz="1425" dirty="0"/>
          </a:p>
        </p:txBody>
      </p:sp>
      <p:sp>
        <p:nvSpPr>
          <p:cNvPr id="59" name="Text 57"/>
          <p:cNvSpPr/>
          <p:nvPr/>
        </p:nvSpPr>
        <p:spPr>
          <a:xfrm>
            <a:off x="16356906" y="8439150"/>
            <a:ext cx="87719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1425" dirty="0"/>
          </a:p>
        </p:txBody>
      </p:sp>
      <p:sp>
        <p:nvSpPr>
          <p:cNvPr id="60" name="Text 58"/>
          <p:cNvSpPr/>
          <p:nvPr/>
        </p:nvSpPr>
        <p:spPr>
          <a:xfrm>
            <a:off x="8506485" y="8737600"/>
            <a:ext cx="91030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road length (m)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762000" y="935990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10540" y="9518650"/>
            <a:ext cx="172669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có khoảng độ dài </a:t>
            </a:r>
            <a:pPr algn="ctr" indent="0" marL="0">
              <a:buNone/>
            </a:pPr>
            <a:r>
              <a:rPr lang="en-US" sz="1950" i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hẹp hơn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(129-229m) ⇒ dịch phân phối (distribution shift).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86080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BÀI TOÁN ·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895350"/>
            <a:ext cx="1860804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kịch bản: hình dạng quyết định nhãn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85800" y="1606550"/>
            <a:ext cx="5665887" cy="3895725"/>
          </a:xfrm>
          <a:prstGeom prst="roundRect">
            <a:avLst>
              <a:gd name="adj" fmla="val 3423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2150" y="1612900"/>
            <a:ext cx="5653187" cy="76200"/>
          </a:xfrm>
          <a:prstGeom prst="rect">
            <a:avLst/>
          </a:prstGeom>
          <a:solidFill>
            <a:srgbClr val="5C6B6E"/>
          </a:solidFill>
          <a:ln/>
        </p:spPr>
      </p:sp>
      <p:sp>
        <p:nvSpPr>
          <p:cNvPr id="6" name="Text 4"/>
          <p:cNvSpPr/>
          <p:nvPr/>
        </p:nvSpPr>
        <p:spPr>
          <a:xfrm>
            <a:off x="901700" y="1860550"/>
            <a:ext cx="575749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dạng đường (SensoDat)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01700" y="2254250"/>
            <a:ext cx="5234087" cy="2694980"/>
          </a:xfrm>
          <a:prstGeom prst="roundRect">
            <a:avLst>
              <a:gd name="adj" fmla="val 2827"/>
            </a:avLst>
          </a:prstGeom>
          <a:ln w="6350">
            <a:solidFill>
              <a:srgbClr val="16242A">
                <a:alpha val="1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700" y="2254250"/>
            <a:ext cx="5234087" cy="26949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1700" y="5063530"/>
            <a:ext cx="5757496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i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thật từ SensoDat · </a:t>
            </a:r>
            <a:pPr algn="l" indent="0" marL="0">
              <a:lnSpc>
                <a:spcPct val="140000"/>
              </a:lnSpc>
              <a:buNone/>
            </a:pPr>
            <a:r>
              <a:rPr lang="en-US" sz="1575" b="1" i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</a:t>
            </a:r>
            <a:pPr algn="l" indent="0" marL="0">
              <a:lnSpc>
                <a:spcPct val="140000"/>
              </a:lnSpc>
              <a:buNone/>
            </a:pPr>
            <a:r>
              <a:rPr lang="en-US" sz="1575" i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mượt, </a:t>
            </a:r>
            <a:pPr algn="l" indent="0" marL="0">
              <a:lnSpc>
                <a:spcPct val="140000"/>
              </a:lnSpc>
              <a:buNone/>
            </a:pPr>
            <a:r>
              <a:rPr lang="en-US" sz="1575" b="1" i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</a:t>
            </a:r>
            <a:pPr algn="l" indent="0" marL="0">
              <a:lnSpc>
                <a:spcPct val="140000"/>
              </a:lnSpc>
              <a:buNone/>
            </a:pPr>
            <a:r>
              <a:rPr lang="en-US" sz="1575" i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chicane gắt.</a:t>
            </a:r>
            <a:endParaRPr lang="en-US" sz="1575" dirty="0"/>
          </a:p>
        </p:txBody>
      </p:sp>
      <p:sp>
        <p:nvSpPr>
          <p:cNvPr id="10" name="Shape 7"/>
          <p:cNvSpPr/>
          <p:nvPr/>
        </p:nvSpPr>
        <p:spPr>
          <a:xfrm>
            <a:off x="6580287" y="1606550"/>
            <a:ext cx="5396707" cy="3132138"/>
          </a:xfrm>
          <a:prstGeom prst="roundRect">
            <a:avLst>
              <a:gd name="adj" fmla="val 4257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6637" y="1612900"/>
            <a:ext cx="5384006" cy="76200"/>
          </a:xfrm>
          <a:prstGeom prst="rect">
            <a:avLst/>
          </a:prstGeom>
          <a:solidFill>
            <a:srgbClr val="2E7CA6"/>
          </a:solidFill>
          <a:ln/>
        </p:spPr>
      </p:sp>
      <p:sp>
        <p:nvSpPr>
          <p:cNvPr id="12" name="Text 9"/>
          <p:cNvSpPr/>
          <p:nvPr/>
        </p:nvSpPr>
        <p:spPr>
          <a:xfrm>
            <a:off x="6796187" y="1860550"/>
            <a:ext cx="546139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trong làn (BeamNG.tech)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6796187" y="2254250"/>
            <a:ext cx="4964906" cy="1651397"/>
          </a:xfrm>
          <a:prstGeom prst="roundRect">
            <a:avLst>
              <a:gd name="adj" fmla="val 4614"/>
            </a:avLst>
          </a:prstGeom>
          <a:ln w="6350">
            <a:solidFill>
              <a:srgbClr val="16242A">
                <a:alpha val="10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187" y="2254250"/>
            <a:ext cx="4964906" cy="165139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96187" y="4019947"/>
            <a:ext cx="5113853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i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phỏng BeamNG.tech: trái </a:t>
            </a:r>
            <a:pPr algn="l" indent="0" marL="0">
              <a:lnSpc>
                <a:spcPct val="140000"/>
              </a:lnSpc>
              <a:buNone/>
            </a:pPr>
            <a:r>
              <a:rPr lang="en-US" sz="1575" b="1" i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</a:t>
            </a:r>
            <a:pPr algn="l" indent="0" marL="0">
              <a:lnSpc>
                <a:spcPct val="140000"/>
              </a:lnSpc>
              <a:buNone/>
            </a:pPr>
            <a:r>
              <a:rPr lang="en-US" sz="1575" i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(trong làn) · phải </a:t>
            </a:r>
            <a:pPr algn="l" indent="0" marL="0">
              <a:lnSpc>
                <a:spcPct val="140000"/>
              </a:lnSpc>
              <a:buNone/>
            </a:pPr>
            <a:r>
              <a:rPr lang="en-US" sz="1575" b="1" i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</a:t>
            </a:r>
            <a:pPr algn="l" indent="0" marL="0">
              <a:lnSpc>
                <a:spcPct val="140000"/>
              </a:lnSpc>
              <a:buNone/>
            </a:pPr>
            <a:r>
              <a:rPr lang="en-US" sz="1575" i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(lệch làn).</a:t>
            </a:r>
            <a:endParaRPr lang="en-US" sz="1575" dirty="0"/>
          </a:p>
        </p:txBody>
      </p:sp>
      <p:sp>
        <p:nvSpPr>
          <p:cNvPr id="16" name="Shape 12"/>
          <p:cNvSpPr/>
          <p:nvPr/>
        </p:nvSpPr>
        <p:spPr>
          <a:xfrm>
            <a:off x="12205593" y="1606550"/>
            <a:ext cx="5396707" cy="4333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2211943" y="1612900"/>
            <a:ext cx="5384006" cy="76200"/>
          </a:xfrm>
          <a:prstGeom prst="rect">
            <a:avLst/>
          </a:prstGeom>
          <a:solidFill>
            <a:srgbClr val="C5A33F"/>
          </a:solidFill>
          <a:ln/>
        </p:spPr>
      </p:sp>
      <p:sp>
        <p:nvSpPr>
          <p:cNvPr id="18" name="Text 14"/>
          <p:cNvSpPr/>
          <p:nvPr/>
        </p:nvSpPr>
        <p:spPr>
          <a:xfrm>
            <a:off x="12421493" y="1860550"/>
            <a:ext cx="546139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tập trung ở đường "xoắn" hơn</a:t>
            </a:r>
            <a:endParaRPr lang="en-US" sz="1950" dirty="0"/>
          </a:p>
        </p:txBody>
      </p:sp>
      <p:sp>
        <p:nvSpPr>
          <p:cNvPr id="19" name="Shape 15"/>
          <p:cNvSpPr/>
          <p:nvPr/>
        </p:nvSpPr>
        <p:spPr>
          <a:xfrm>
            <a:off x="12421493" y="2254250"/>
            <a:ext cx="4964906" cy="3132534"/>
          </a:xfrm>
          <a:prstGeom prst="roundRect">
            <a:avLst>
              <a:gd name="adj" fmla="val 2433"/>
            </a:avLst>
          </a:prstGeom>
          <a:ln w="6350">
            <a:solidFill>
              <a:srgbClr val="16242A">
                <a:alpha val="10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1493" y="2254250"/>
            <a:ext cx="4964906" cy="313253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421493" y="5501085"/>
            <a:ext cx="5461397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i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độ đổi hướng (radian) — FAIL lệch phải.</a:t>
            </a:r>
            <a:endParaRPr lang="en-US" sz="1575" dirty="0"/>
          </a:p>
        </p:txBody>
      </p:sp>
      <p:sp>
        <p:nvSpPr>
          <p:cNvPr id="22" name="Shape 17"/>
          <p:cNvSpPr/>
          <p:nvPr/>
        </p:nvSpPr>
        <p:spPr>
          <a:xfrm>
            <a:off x="685800" y="9417050"/>
            <a:ext cx="169164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432054" y="9575800"/>
            <a:ext cx="1742389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Không có tọa độ (x,y) tuyệt đối nào quyết định nhãn — chỉ </a:t>
            </a:r>
            <a:pPr algn="ctr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dạng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Gợi ý cho ràng buộc </a:t>
            </a:r>
            <a:pPr algn="ctr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biến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CÔNG TRÌNH LIÊN QUAN ·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Work: 3 hướng tiếp cận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701800"/>
            <a:ext cx="5410200" cy="3890962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350" y="1708150"/>
            <a:ext cx="5397500" cy="762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6" name="Shape 4"/>
          <p:cNvSpPr/>
          <p:nvPr/>
        </p:nvSpPr>
        <p:spPr>
          <a:xfrm>
            <a:off x="1073150" y="2032000"/>
            <a:ext cx="438150" cy="438150"/>
          </a:xfrm>
          <a:prstGeom prst="ellipse">
            <a:avLst/>
          </a:prstGeom>
          <a:solidFill>
            <a:srgbClr val="2C3E6B"/>
          </a:solidFill>
          <a:ln/>
        </p:spPr>
      </p:sp>
      <p:sp>
        <p:nvSpPr>
          <p:cNvPr id="7" name="Text 5"/>
          <p:cNvSpPr/>
          <p:nvPr/>
        </p:nvSpPr>
        <p:spPr>
          <a:xfrm>
            <a:off x="1035050" y="203200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44650" y="2091035"/>
            <a:ext cx="319574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C3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Search-based / Diversity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73150" y="2584450"/>
            <a:ext cx="4931537" cy="1122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tưởng: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/ heuristic chọn tập test </a:t>
            </a:r>
            <a:pPr algn="l" indent="0" marL="0">
              <a:lnSpc>
                <a:spcPct val="150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 dạng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hành vi (SO-SDC-Prioritizer, Greedy-diversity).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073150" y="3783013"/>
            <a:ext cx="4931537" cy="75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Ưu: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nhãn, truyền thống SBST.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073150" y="4618038"/>
            <a:ext cx="4931537" cy="75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Hạn chế: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 dạng ≠ lộ lỗi; đặc trưng phụ thuộc khung.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438900" y="1701800"/>
            <a:ext cx="5410200" cy="3890962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5250" y="1708150"/>
            <a:ext cx="5397500" cy="76200"/>
          </a:xfrm>
          <a:prstGeom prst="rect">
            <a:avLst/>
          </a:prstGeom>
          <a:solidFill>
            <a:srgbClr val="C5A33F"/>
          </a:solidFill>
          <a:ln/>
        </p:spPr>
      </p:sp>
      <p:sp>
        <p:nvSpPr>
          <p:cNvPr id="14" name="Shape 12"/>
          <p:cNvSpPr/>
          <p:nvPr/>
        </p:nvSpPr>
        <p:spPr>
          <a:xfrm>
            <a:off x="6750050" y="2032000"/>
            <a:ext cx="438150" cy="438150"/>
          </a:xfrm>
          <a:prstGeom prst="ellipse">
            <a:avLst/>
          </a:prstGeom>
          <a:solidFill>
            <a:srgbClr val="C5A33F"/>
          </a:solidFill>
          <a:ln/>
        </p:spPr>
      </p:sp>
      <p:sp>
        <p:nvSpPr>
          <p:cNvPr id="15" name="Text 13"/>
          <p:cNvSpPr/>
          <p:nvPr/>
        </p:nvSpPr>
        <p:spPr>
          <a:xfrm>
            <a:off x="6711950" y="203200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321550" y="2091035"/>
            <a:ext cx="239716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C5A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Feature-based ML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750050" y="2584450"/>
            <a:ext cx="4931537" cy="111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tưởng: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vài đặc trưng đường (góc, chiều dài) → mạng chuỗi gọn → rank (ITS4SDC: bi-LSTM, ICST'25).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750050" y="3776662"/>
            <a:ext cx="5266690" cy="401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Ưu: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rẻ, dễ giải thích.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6750050" y="4254500"/>
            <a:ext cx="4931537" cy="75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Hạn chế: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ít đặc trưng, phụ thuộc khung, tinh chỉnh theo từng bench.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2115800" y="1701800"/>
            <a:ext cx="5410200" cy="3890962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122151" y="1708150"/>
            <a:ext cx="5397500" cy="762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2" name="Shape 20"/>
          <p:cNvSpPr/>
          <p:nvPr/>
        </p:nvSpPr>
        <p:spPr>
          <a:xfrm>
            <a:off x="12426951" y="2032000"/>
            <a:ext cx="438150" cy="43815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3" name="Text 21"/>
          <p:cNvSpPr/>
          <p:nvPr/>
        </p:nvSpPr>
        <p:spPr>
          <a:xfrm>
            <a:off x="12388851" y="203200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998451" y="2091035"/>
            <a:ext cx="422221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Deep: GNN / CNN / Transformer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426951" y="2584450"/>
            <a:ext cx="4931537" cy="111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tưởng: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biểu diễn từ đồ thị đường / ảnh render / chuỗi điểm (GNN, ResNet, RoadFury).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426951" y="3776662"/>
            <a:ext cx="5266690" cy="401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Ưu: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APFD cao nhất (RoadFury 0.804).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2426951" y="4254500"/>
            <a:ext cx="4931537" cy="75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Hạn chế: </a:t>
            </a:r>
            <a:pPr algn="l" indent="0" marL="0">
              <a:lnSpc>
                <a:spcPct val="150000"/>
              </a:lnSpc>
              <a:buNone/>
            </a:pPr>
            <a:r>
              <a:rPr lang="en-US" sz="1875" i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bất biến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xoay / lấy mẫu là điểm trôi.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762000" y="5726113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10540" y="5884863"/>
            <a:ext cx="1726692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trống: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phương pháp nào </a:t>
            </a:r>
            <a:pPr algn="ctr" indent="0" marL="0">
              <a:buNone/>
            </a:pPr>
            <a:r>
              <a:rPr lang="en-US" sz="1950" i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đảm bảo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biến với phép xoay / tần số lấy mẫu — tất cả dựa vào augmentation (xấp xỉ) hoặc đặc trưng phụ thuộc khung.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CÔNG TRÌNH LIÊN QUAN ·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Work: Tổng hợp &amp; Khoảng trống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701800"/>
            <a:ext cx="9051330" cy="7232650"/>
          </a:xfrm>
          <a:prstGeom prst="roundRect">
            <a:avLst>
              <a:gd name="adj" fmla="val 1844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050" y="2320925"/>
            <a:ext cx="2742009" cy="19050"/>
          </a:xfrm>
          <a:prstGeom prst="rect">
            <a:avLst/>
          </a:prstGeom>
          <a:solidFill>
            <a:srgbClr val="16242A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35050" y="1936750"/>
            <a:ext cx="2709970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777060" y="2320925"/>
            <a:ext cx="3002657" cy="19050"/>
          </a:xfrm>
          <a:prstGeom prst="rect">
            <a:avLst/>
          </a:prstGeom>
          <a:solidFill>
            <a:srgbClr val="16242A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891360" y="1936750"/>
            <a:ext cx="2864137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APPROACH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779716" y="2320925"/>
            <a:ext cx="1216819" cy="19050"/>
          </a:xfrm>
          <a:prstGeom prst="rect">
            <a:avLst/>
          </a:prstGeom>
          <a:solidFill>
            <a:srgbClr val="16242A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17816" y="1936750"/>
            <a:ext cx="1064419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spc="75" kern="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APFD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996535" y="2320925"/>
            <a:ext cx="1543745" cy="19050"/>
          </a:xfrm>
          <a:prstGeom prst="rect">
            <a:avLst/>
          </a:prstGeom>
          <a:solidFill>
            <a:srgbClr val="16242A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072735" y="1936750"/>
            <a:ext cx="1505645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75" kern="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BẤT BIẾN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35050" y="2816225"/>
            <a:ext cx="274200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35050" y="2416175"/>
            <a:ext cx="270997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3777060" y="2816225"/>
            <a:ext cx="3002657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891360" y="2416175"/>
            <a:ext cx="28641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6779716" y="2816225"/>
            <a:ext cx="121681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817816" y="2416175"/>
            <a:ext cx="10644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0.493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7996535" y="2816225"/>
            <a:ext cx="1543745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072735" y="2416175"/>
            <a:ext cx="15056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035050" y="3292475"/>
            <a:ext cx="274200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35050" y="2898775"/>
            <a:ext cx="270997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3777060" y="3292475"/>
            <a:ext cx="3002657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891360" y="2898775"/>
            <a:ext cx="286413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6779716" y="3292475"/>
            <a:ext cx="121681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17816" y="2898775"/>
            <a:ext cx="106441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0.533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7996535" y="3292475"/>
            <a:ext cx="1543745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072735" y="2898775"/>
            <a:ext cx="150564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35050" y="3768725"/>
            <a:ext cx="274200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35050" y="3375025"/>
            <a:ext cx="270997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ResNet-50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3777060" y="3768725"/>
            <a:ext cx="3002657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891360" y="3375025"/>
            <a:ext cx="286413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6779716" y="3768725"/>
            <a:ext cx="121681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817816" y="3375025"/>
            <a:ext cx="106441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0.572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7996535" y="3768725"/>
            <a:ext cx="1543745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072735" y="3375025"/>
            <a:ext cx="150564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035050" y="4244975"/>
            <a:ext cx="274200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35050" y="3851275"/>
            <a:ext cx="270997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SO-SDC-Prioritizer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3777060" y="4244975"/>
            <a:ext cx="3002657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891360" y="3851275"/>
            <a:ext cx="286413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(TOSEM'23)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6779716" y="4244975"/>
            <a:ext cx="121681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817816" y="3851275"/>
            <a:ext cx="106441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0.765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7996535" y="4244975"/>
            <a:ext cx="1543745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072735" y="3851275"/>
            <a:ext cx="150564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035050" y="4721225"/>
            <a:ext cx="274200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035050" y="4327525"/>
            <a:ext cx="270997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ITS4SDC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3777060" y="4721225"/>
            <a:ext cx="3002657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891360" y="4327525"/>
            <a:ext cx="286413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(ICST'25)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6779716" y="4721225"/>
            <a:ext cx="121681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817816" y="4327525"/>
            <a:ext cx="106441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0.781</a:t>
            </a:r>
            <a:endParaRPr lang="en-US" sz="1875" dirty="0"/>
          </a:p>
        </p:txBody>
      </p:sp>
      <p:sp>
        <p:nvSpPr>
          <p:cNvPr id="51" name="Shape 49"/>
          <p:cNvSpPr/>
          <p:nvPr/>
        </p:nvSpPr>
        <p:spPr>
          <a:xfrm>
            <a:off x="7996535" y="4721225"/>
            <a:ext cx="1543745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072735" y="4327525"/>
            <a:ext cx="150564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1035050" y="5197475"/>
            <a:ext cx="274200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35050" y="4803775"/>
            <a:ext cx="270997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Greedy-diversity</a:t>
            </a:r>
            <a:endParaRPr lang="en-US" sz="1875" dirty="0"/>
          </a:p>
        </p:txBody>
      </p:sp>
      <p:sp>
        <p:nvSpPr>
          <p:cNvPr id="55" name="Shape 53"/>
          <p:cNvSpPr/>
          <p:nvPr/>
        </p:nvSpPr>
        <p:spPr>
          <a:xfrm>
            <a:off x="3777060" y="5197475"/>
            <a:ext cx="3002657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3891360" y="4803775"/>
            <a:ext cx="286413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</a:t>
            </a:r>
            <a:endParaRPr lang="en-US" sz="1875" dirty="0"/>
          </a:p>
        </p:txBody>
      </p:sp>
      <p:sp>
        <p:nvSpPr>
          <p:cNvPr id="57" name="Shape 55"/>
          <p:cNvSpPr/>
          <p:nvPr/>
        </p:nvSpPr>
        <p:spPr>
          <a:xfrm>
            <a:off x="6779716" y="5197475"/>
            <a:ext cx="121681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817816" y="4803775"/>
            <a:ext cx="106441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0.795</a:t>
            </a:r>
            <a:endParaRPr lang="en-US" sz="1875" dirty="0"/>
          </a:p>
        </p:txBody>
      </p:sp>
      <p:sp>
        <p:nvSpPr>
          <p:cNvPr id="59" name="Shape 57"/>
          <p:cNvSpPr/>
          <p:nvPr/>
        </p:nvSpPr>
        <p:spPr>
          <a:xfrm>
            <a:off x="7996535" y="5197475"/>
            <a:ext cx="1543745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072735" y="4803775"/>
            <a:ext cx="150564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1035050" y="5673725"/>
            <a:ext cx="274200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35050" y="5280025"/>
            <a:ext cx="270997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RoadFury</a:t>
            </a:r>
            <a:endParaRPr lang="en-US" sz="1875" dirty="0"/>
          </a:p>
        </p:txBody>
      </p:sp>
      <p:sp>
        <p:nvSpPr>
          <p:cNvPr id="63" name="Shape 61"/>
          <p:cNvSpPr/>
          <p:nvPr/>
        </p:nvSpPr>
        <p:spPr>
          <a:xfrm>
            <a:off x="3777060" y="5673725"/>
            <a:ext cx="3002657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3891360" y="5280025"/>
            <a:ext cx="286413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Transformer+SWA</a:t>
            </a:r>
            <a:endParaRPr lang="en-US" sz="1875" dirty="0"/>
          </a:p>
        </p:txBody>
      </p:sp>
      <p:sp>
        <p:nvSpPr>
          <p:cNvPr id="65" name="Shape 63"/>
          <p:cNvSpPr/>
          <p:nvPr/>
        </p:nvSpPr>
        <p:spPr>
          <a:xfrm>
            <a:off x="6779716" y="5673725"/>
            <a:ext cx="1216819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817816" y="5280025"/>
            <a:ext cx="106441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0.804</a:t>
            </a:r>
            <a:endParaRPr lang="en-US" sz="1875" dirty="0"/>
          </a:p>
        </p:txBody>
      </p:sp>
      <p:sp>
        <p:nvSpPr>
          <p:cNvPr id="67" name="Shape 65"/>
          <p:cNvSpPr/>
          <p:nvPr/>
        </p:nvSpPr>
        <p:spPr>
          <a:xfrm>
            <a:off x="7996535" y="5673725"/>
            <a:ext cx="1543745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8072735" y="5280025"/>
            <a:ext cx="150564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75" dirty="0"/>
          </a:p>
        </p:txBody>
      </p:sp>
      <p:sp>
        <p:nvSpPr>
          <p:cNvPr id="69" name="Shape 67"/>
          <p:cNvSpPr/>
          <p:nvPr/>
        </p:nvSpPr>
        <p:spPr>
          <a:xfrm>
            <a:off x="1035050" y="5680075"/>
            <a:ext cx="8505230" cy="511175"/>
          </a:xfrm>
          <a:prstGeom prst="rect">
            <a:avLst/>
          </a:prstGeom>
          <a:solidFill>
            <a:srgbClr val="E0772B">
              <a:alpha val="12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187450" y="5775325"/>
            <a:ext cx="2557570" cy="35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SE2RoadNet</a:t>
            </a:r>
            <a:endParaRPr lang="en-US" sz="1875" dirty="0"/>
          </a:p>
        </p:txBody>
      </p:sp>
      <p:sp>
        <p:nvSpPr>
          <p:cNvPr id="71" name="Text 69"/>
          <p:cNvSpPr/>
          <p:nvPr/>
        </p:nvSpPr>
        <p:spPr>
          <a:xfrm>
            <a:off x="3891360" y="5775325"/>
            <a:ext cx="2864137" cy="35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SE(2)-equiv.</a:t>
            </a:r>
            <a:endParaRPr lang="en-US" sz="1875" dirty="0"/>
          </a:p>
        </p:txBody>
      </p:sp>
      <p:sp>
        <p:nvSpPr>
          <p:cNvPr id="72" name="Text 70"/>
          <p:cNvSpPr/>
          <p:nvPr/>
        </p:nvSpPr>
        <p:spPr>
          <a:xfrm>
            <a:off x="6817816" y="5775325"/>
            <a:ext cx="1064419" cy="35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162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0.805</a:t>
            </a:r>
            <a:endParaRPr lang="en-US" sz="1875" dirty="0"/>
          </a:p>
        </p:txBody>
      </p:sp>
      <p:sp>
        <p:nvSpPr>
          <p:cNvPr id="73" name="Text 71"/>
          <p:cNvSpPr/>
          <p:nvPr/>
        </p:nvSpPr>
        <p:spPr>
          <a:xfrm>
            <a:off x="8072735" y="5775325"/>
            <a:ext cx="1353245" cy="35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Δ=0</a:t>
            </a:r>
            <a:endParaRPr lang="en-US" sz="1875" dirty="0"/>
          </a:p>
        </p:txBody>
      </p:sp>
      <p:sp>
        <p:nvSpPr>
          <p:cNvPr id="74" name="Text 72"/>
          <p:cNvSpPr/>
          <p:nvPr/>
        </p:nvSpPr>
        <p:spPr>
          <a:xfrm>
            <a:off x="1035050" y="8156575"/>
            <a:ext cx="876038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APFD trên 956 test OOD (30 trials). Các baseline tái lập trong cùng harness; RoadFury &amp; SE2RoadNet là của nhóm.</a:t>
            </a:r>
            <a:endParaRPr lang="en-US" sz="1575" dirty="0"/>
          </a:p>
        </p:txBody>
      </p:sp>
      <p:sp>
        <p:nvSpPr>
          <p:cNvPr id="75" name="Shape 73"/>
          <p:cNvSpPr/>
          <p:nvPr/>
        </p:nvSpPr>
        <p:spPr>
          <a:xfrm>
            <a:off x="10118130" y="1701800"/>
            <a:ext cx="7407871" cy="7232650"/>
          </a:xfrm>
          <a:prstGeom prst="roundRect">
            <a:avLst>
              <a:gd name="adj" fmla="val 1844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124480" y="1708150"/>
            <a:ext cx="7395171" cy="7620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77" name="Text 75"/>
          <p:cNvSpPr/>
          <p:nvPr/>
        </p:nvSpPr>
        <p:spPr>
          <a:xfrm>
            <a:off x="10410230" y="2012950"/>
            <a:ext cx="75060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trục độc lập</a:t>
            </a:r>
            <a:endParaRPr lang="en-US" sz="2100" dirty="0"/>
          </a:p>
        </p:txBody>
      </p:sp>
      <p:pic>
        <p:nvPicPr>
          <p:cNvPr id="7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230" y="2451100"/>
            <a:ext cx="6823671" cy="5699125"/>
          </a:xfrm>
          <a:prstGeom prst="rect">
            <a:avLst/>
          </a:prstGeom>
        </p:spPr>
      </p:pic>
      <p:sp>
        <p:nvSpPr>
          <p:cNvPr id="79" name="Shape 76"/>
          <p:cNvSpPr/>
          <p:nvPr/>
        </p:nvSpPr>
        <p:spPr>
          <a:xfrm>
            <a:off x="10410230" y="8283575"/>
            <a:ext cx="6823671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80" name="Text 77"/>
          <p:cNvSpPr/>
          <p:nvPr/>
        </p:nvSpPr>
        <p:spPr>
          <a:xfrm>
            <a:off x="10410230" y="8404225"/>
            <a:ext cx="70283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SE2RoadNet thêm một </a:t>
            </a:r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trục đảm bảo mới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 không chỉ tăng APFD.</a:t>
            </a:r>
            <a:endParaRPr lang="en-US" sz="1650" dirty="0"/>
          </a:p>
        </p:txBody>
      </p:sp>
      <p:sp>
        <p:nvSpPr>
          <p:cNvPr id="81" name="Shape 78"/>
          <p:cNvSpPr/>
          <p:nvPr/>
        </p:nvSpPr>
        <p:spPr>
          <a:xfrm>
            <a:off x="762000" y="906780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82" name="Text 79"/>
          <p:cNvSpPr/>
          <p:nvPr/>
        </p:nvSpPr>
        <p:spPr>
          <a:xfrm>
            <a:off x="510540" y="9226550"/>
            <a:ext cx="1726692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trống: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con đường — chỉ khác hướng đặt hoặc số điểm lấy mẫu — không được làm điểm số thay đổi. Chưa method nào đảm bảo điều đó.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38409" y="2000250"/>
            <a:ext cx="718887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spc="-1800" kern="0" dirty="0">
                <a:solidFill>
                  <a:srgbClr val="FFFFFF">
                    <a:alpha val="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4100" y="2667000"/>
            <a:ext cx="7429500" cy="495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33400"/>
            <a:ext cx="35529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ROADFURY → SE2ROADNET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6293405" y="533400"/>
            <a:ext cx="11563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05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698379"/>
            <a:ext cx="1810512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37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PHẦN 02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914400" y="4244479"/>
            <a:ext cx="1810512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spc="-225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RoadFury</a:t>
            </a:r>
            <a:endParaRPr lang="en-US" sz="9600" dirty="0"/>
          </a:p>
        </p:txBody>
      </p:sp>
      <p:sp>
        <p:nvSpPr>
          <p:cNvPr id="9" name="Shape 6"/>
          <p:cNvSpPr/>
          <p:nvPr/>
        </p:nvSpPr>
        <p:spPr>
          <a:xfrm>
            <a:off x="914400" y="5764610"/>
            <a:ext cx="1143000" cy="47625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174185"/>
            <a:ext cx="12049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DAE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pháp nền tảng của nhóm: Transformer + SWA + Focal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ROADFURY ·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8953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RoadFury: Pipeline nền tảng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2215257" y="1549400"/>
            <a:ext cx="13857387" cy="7950101"/>
          </a:xfrm>
          <a:prstGeom prst="roundRect">
            <a:avLst>
              <a:gd name="adj" fmla="val 1198"/>
            </a:avLst>
          </a:prstGeom>
          <a:solidFill>
            <a:srgbClr val="FFFFFF"/>
          </a:solidFill>
          <a:ln w="6350">
            <a:solidFill>
              <a:srgbClr val="16242A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16242A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4" b="-34"/>
          <a:stretch/>
        </p:blipFill>
        <p:spPr>
          <a:xfrm>
            <a:off x="2215257" y="1549400"/>
            <a:ext cx="13857387" cy="79501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-76200" y="9613900"/>
            <a:ext cx="184404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hoá &amp; trích đặc trưng → RoadTransformer → SWA → inference (chấm điểm, sắp xếp giảm dần). </a:t>
            </a:r>
            <a:pPr algn="ctr" indent="0" marL="0">
              <a:buNone/>
            </a:pPr>
            <a:r>
              <a:rPr lang="en-US" sz="180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2 điểm mù ở slide kế.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ROADFURY ·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RoadFury (chi tiet): mạnh, nhưng có điểm mù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701800"/>
            <a:ext cx="8248650" cy="752475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350" y="1708150"/>
            <a:ext cx="8235950" cy="76200"/>
          </a:xfrm>
          <a:prstGeom prst="rect">
            <a:avLst/>
          </a:prstGeom>
          <a:solidFill>
            <a:srgbClr val="2E7CA6"/>
          </a:solidFill>
          <a:ln/>
        </p:spPr>
      </p:sp>
      <p:sp>
        <p:nvSpPr>
          <p:cNvPr id="6" name="Text 4"/>
          <p:cNvSpPr/>
          <p:nvPr/>
        </p:nvSpPr>
        <p:spPr>
          <a:xfrm>
            <a:off x="1054100" y="2032000"/>
            <a:ext cx="843089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Trích xuất đặc trưng (10 kênh)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54100" y="2495550"/>
            <a:ext cx="7664450" cy="4816475"/>
          </a:xfrm>
          <a:prstGeom prst="roundRect">
            <a:avLst>
              <a:gd name="adj" fmla="val 1978"/>
            </a:avLst>
          </a:prstGeom>
          <a:ln w="6350">
            <a:solidFill>
              <a:srgbClr val="16242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450" y="2985691"/>
            <a:ext cx="7651750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93800" y="2606675"/>
            <a:ext cx="533400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51000" y="2606675"/>
            <a:ext cx="7158736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Chiều dài đoạn ‖p</a:t>
            </a:r>
            <a:pPr algn="l" indent="0" marL="0">
              <a:lnSpc>
                <a:spcPct val="100000"/>
              </a:lnSpc>
              <a:buNone/>
            </a:pPr>
            <a:r>
              <a:rPr lang="en-US" sz="1500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i+1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−p</a:t>
            </a:r>
            <a:pPr algn="l" indent="0" marL="0">
              <a:lnSpc>
                <a:spcPct val="100000"/>
              </a:lnSpc>
              <a:buNone/>
            </a:pPr>
            <a:r>
              <a:rPr lang="en-US" sz="1500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0450" y="2992041"/>
            <a:ext cx="7651750" cy="490141"/>
          </a:xfrm>
          <a:prstGeom prst="rect">
            <a:avLst/>
          </a:prstGeom>
          <a:solidFill>
            <a:srgbClr val="FBF6F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450" y="3475831"/>
            <a:ext cx="7651750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93800" y="3096816"/>
            <a:ext cx="533400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51000" y="3096816"/>
            <a:ext cx="7158736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Biến thiên góc tuyệt đối |Δθ</a:t>
            </a:r>
            <a:pPr algn="l" indent="0" marL="0">
              <a:lnSpc>
                <a:spcPct val="100000"/>
              </a:lnSpc>
              <a:buNone/>
            </a:pPr>
            <a:r>
              <a:rPr lang="en-US" sz="1500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60450" y="3965972"/>
            <a:ext cx="7651750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93800" y="3586956"/>
            <a:ext cx="533400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51000" y="3586956"/>
            <a:ext cx="7158736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Độ cong Menger κ</a:t>
            </a:r>
            <a:pPr algn="l" indent="0" marL="0">
              <a:lnSpc>
                <a:spcPct val="100000"/>
              </a:lnSpc>
              <a:buNone/>
            </a:pPr>
            <a:r>
              <a:rPr lang="en-US" sz="1500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60450" y="3972322"/>
            <a:ext cx="7651750" cy="490141"/>
          </a:xfrm>
          <a:prstGeom prst="rect">
            <a:avLst/>
          </a:prstGeom>
          <a:solidFill>
            <a:srgbClr val="FBF6F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0450" y="4456113"/>
            <a:ext cx="7651750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93800" y="4077097"/>
            <a:ext cx="533400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51000" y="4077097"/>
            <a:ext cx="7158736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Biến thiên độ cong Δκ</a:t>
            </a:r>
            <a:pPr algn="l" indent="0" marL="0">
              <a:lnSpc>
                <a:spcPct val="100000"/>
              </a:lnSpc>
              <a:buNone/>
            </a:pPr>
            <a:r>
              <a:rPr lang="en-US" sz="1500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(jerk)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60450" y="4900613"/>
            <a:ext cx="7651750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93800" y="4567237"/>
            <a:ext cx="533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51000" y="4567237"/>
            <a:ext cx="71587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Chiều dài cung tích lũy s/L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60450" y="4906963"/>
            <a:ext cx="7651750" cy="490141"/>
          </a:xfrm>
          <a:prstGeom prst="rect">
            <a:avLst/>
          </a:prstGeom>
          <a:solidFill>
            <a:srgbClr val="FAE9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0450" y="5390753"/>
            <a:ext cx="7651750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93800" y="5011738"/>
            <a:ext cx="533400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54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51000" y="5011738"/>
            <a:ext cx="7158736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sinθ</a:t>
            </a:r>
            <a:pPr algn="l" indent="0" marL="0">
              <a:lnSpc>
                <a:spcPct val="100000"/>
              </a:lnSpc>
              <a:buNone/>
            </a:pPr>
            <a:r>
              <a:rPr lang="en-US" sz="1500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54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(phụ thuộc khung)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60450" y="5397103"/>
            <a:ext cx="7651750" cy="490141"/>
          </a:xfrm>
          <a:prstGeom prst="rect">
            <a:avLst/>
          </a:prstGeom>
          <a:solidFill>
            <a:srgbClr val="FAE9E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0450" y="5880894"/>
            <a:ext cx="7651750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93800" y="5501878"/>
            <a:ext cx="533400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54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51000" y="5501878"/>
            <a:ext cx="7158736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cosθ</a:t>
            </a:r>
            <a:pPr algn="l" indent="0" marL="0">
              <a:lnSpc>
                <a:spcPct val="100000"/>
              </a:lnSpc>
              <a:buNone/>
            </a:pPr>
            <a:r>
              <a:rPr lang="en-US" sz="1500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54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(phụ thuộc khung)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60450" y="5887244"/>
            <a:ext cx="7651750" cy="490141"/>
          </a:xfrm>
          <a:prstGeom prst="rect">
            <a:avLst/>
          </a:prstGeom>
          <a:solidFill>
            <a:srgbClr val="FAE9E6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0450" y="6371035"/>
            <a:ext cx="7651750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193800" y="5992019"/>
            <a:ext cx="533400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54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51000" y="5992019"/>
            <a:ext cx="7158736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Hướng tuyệt đối θ</a:t>
            </a:r>
            <a:pPr algn="l" indent="0" marL="0">
              <a:lnSpc>
                <a:spcPct val="100000"/>
              </a:lnSpc>
              <a:buNone/>
            </a:pPr>
            <a:r>
              <a:rPr lang="en-US" sz="1500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54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(phụ thuộc khung)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60450" y="6815535"/>
            <a:ext cx="7651750" cy="9525"/>
          </a:xfrm>
          <a:prstGeom prst="rect">
            <a:avLst/>
          </a:prstGeom>
          <a:solidFill>
            <a:srgbClr val="16242A">
              <a:alpha val="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193800" y="6482160"/>
            <a:ext cx="533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651000" y="6482160"/>
            <a:ext cx="71587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Độ lệch chuẩn cục bộ σ(κ)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93800" y="6926660"/>
            <a:ext cx="533400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f9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651000" y="6926660"/>
            <a:ext cx="7158736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Gia tốc cong Δ²κ</a:t>
            </a:r>
            <a:pPr algn="l" indent="0" marL="0">
              <a:lnSpc>
                <a:spcPct val="100000"/>
              </a:lnSpc>
              <a:buNone/>
            </a:pPr>
            <a:r>
              <a:rPr lang="en-US" sz="1500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54100" y="7464425"/>
            <a:ext cx="84308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Z-norm ⇒ ma trận (197 × 10).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277350" y="1701800"/>
            <a:ext cx="8248650" cy="752475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83700" y="1708150"/>
            <a:ext cx="8235950" cy="762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45" name="Text 43"/>
          <p:cNvSpPr/>
          <p:nvPr/>
        </p:nvSpPr>
        <p:spPr>
          <a:xfrm>
            <a:off x="9588500" y="2032000"/>
            <a:ext cx="838898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3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RoadTransformer (829K tham số)</a:t>
            </a:r>
            <a:endParaRPr lang="en-US" sz="2250" dirty="0"/>
          </a:p>
        </p:txBody>
      </p:sp>
      <p:sp>
        <p:nvSpPr>
          <p:cNvPr id="46" name="Text 44"/>
          <p:cNvSpPr/>
          <p:nvPr/>
        </p:nvSpPr>
        <p:spPr>
          <a:xfrm>
            <a:off x="9588500" y="2533650"/>
            <a:ext cx="1619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2C3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47" name="Text 45"/>
          <p:cNvSpPr/>
          <p:nvPr/>
        </p:nvSpPr>
        <p:spPr>
          <a:xfrm>
            <a:off x="9788526" y="2533650"/>
            <a:ext cx="498827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10→128 + LayerNorm + GELU.</a:t>
            </a:r>
            <a:endParaRPr lang="en-US" sz="2025" dirty="0"/>
          </a:p>
        </p:txBody>
      </p:sp>
      <p:sp>
        <p:nvSpPr>
          <p:cNvPr id="48" name="Text 46"/>
          <p:cNvSpPr/>
          <p:nvPr/>
        </p:nvSpPr>
        <p:spPr>
          <a:xfrm>
            <a:off x="9588500" y="3090863"/>
            <a:ext cx="1619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2C3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49" name="Text 47"/>
          <p:cNvSpPr/>
          <p:nvPr/>
        </p:nvSpPr>
        <p:spPr>
          <a:xfrm>
            <a:off x="9788526" y="3090863"/>
            <a:ext cx="5504944" cy="430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[CLS] + learned PE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(vị trí tuyệt đối)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  <p:sp>
        <p:nvSpPr>
          <p:cNvPr id="50" name="Text 48"/>
          <p:cNvSpPr/>
          <p:nvPr/>
        </p:nvSpPr>
        <p:spPr>
          <a:xfrm>
            <a:off x="9588500" y="3654425"/>
            <a:ext cx="1619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2C3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51" name="Text 49"/>
          <p:cNvSpPr/>
          <p:nvPr/>
        </p:nvSpPr>
        <p:spPr>
          <a:xfrm>
            <a:off x="9788526" y="3654425"/>
            <a:ext cx="610096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lớp Pre-LN Transformer, 8 heads, FFN 512.</a:t>
            </a:r>
            <a:endParaRPr lang="en-US" sz="2025" dirty="0"/>
          </a:p>
        </p:txBody>
      </p:sp>
      <p:sp>
        <p:nvSpPr>
          <p:cNvPr id="52" name="Text 50"/>
          <p:cNvSpPr/>
          <p:nvPr/>
        </p:nvSpPr>
        <p:spPr>
          <a:xfrm>
            <a:off x="9588500" y="4211638"/>
            <a:ext cx="1619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2C3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53" name="Text 51"/>
          <p:cNvSpPr/>
          <p:nvPr/>
        </p:nvSpPr>
        <p:spPr>
          <a:xfrm>
            <a:off x="9788526" y="4211638"/>
            <a:ext cx="508759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[CLS] → 128→64→1 → Sigmoid.</a:t>
            </a:r>
            <a:endParaRPr lang="en-US" sz="2025" dirty="0"/>
          </a:p>
        </p:txBody>
      </p:sp>
      <p:sp>
        <p:nvSpPr>
          <p:cNvPr id="54" name="Shape 52"/>
          <p:cNvSpPr/>
          <p:nvPr/>
        </p:nvSpPr>
        <p:spPr>
          <a:xfrm>
            <a:off x="9588500" y="7233841"/>
            <a:ext cx="7626350" cy="1738709"/>
          </a:xfrm>
          <a:prstGeom prst="roundRect">
            <a:avLst>
              <a:gd name="adj" fmla="val 6574"/>
            </a:avLst>
          </a:prstGeom>
          <a:solidFill>
            <a:srgbClr val="EEF6F1"/>
          </a:solidFill>
          <a:ln/>
        </p:spPr>
      </p:sp>
      <p:sp>
        <p:nvSpPr>
          <p:cNvPr id="55" name="Shape 53"/>
          <p:cNvSpPr/>
          <p:nvPr/>
        </p:nvSpPr>
        <p:spPr>
          <a:xfrm>
            <a:off x="9588500" y="8966200"/>
            <a:ext cx="7626350" cy="9525"/>
          </a:xfrm>
          <a:prstGeom prst="rect">
            <a:avLst/>
          </a:prstGeom>
          <a:solidFill>
            <a:srgbClr val="2E7D5B">
              <a:alpha val="3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588500" y="7233841"/>
            <a:ext cx="7626350" cy="9525"/>
          </a:xfrm>
          <a:prstGeom prst="rect">
            <a:avLst/>
          </a:prstGeom>
          <a:solidFill>
            <a:srgbClr val="2E7D5B">
              <a:alpha val="3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588500" y="7233841"/>
            <a:ext cx="57150" cy="1738709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58" name="Shape 56"/>
          <p:cNvSpPr/>
          <p:nvPr/>
        </p:nvSpPr>
        <p:spPr>
          <a:xfrm>
            <a:off x="17208500" y="7233841"/>
            <a:ext cx="9525" cy="1738709"/>
          </a:xfrm>
          <a:prstGeom prst="rect">
            <a:avLst/>
          </a:prstGeom>
          <a:solidFill>
            <a:srgbClr val="2E7D5B">
              <a:alpha val="3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9874251" y="7449741"/>
            <a:ext cx="78162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KẾT QUẢ ICST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9874251" y="7849791"/>
            <a:ext cx="7318820" cy="944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025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APFD = </a:t>
            </a:r>
            <a:pPr algn="l" indent="0" marL="0">
              <a:lnSpc>
                <a:spcPct val="155000"/>
              </a:lnSpc>
              <a:buNone/>
            </a:pPr>
            <a:r>
              <a:rPr lang="en-US" sz="25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0.804 ± 0.012</a:t>
            </a:r>
            <a:pPr algn="l" indent="0" marL="0">
              <a:lnSpc>
                <a:spcPct val="155000"/>
              </a:lnSpc>
              <a:buNone/>
            </a:pPr>
            <a:r>
              <a:rPr lang="en-US" sz="2025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AUC 0.917 (30 trials, 956 test). </a:t>
            </a:r>
            <a:pPr algn="l" indent="0" marL="0">
              <a:lnSpc>
                <a:spcPct val="155000"/>
              </a:lnSpc>
              <a:buNone/>
            </a:pPr>
            <a:r>
              <a:rPr lang="en-US" sz="2025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Tốt nhất competition.</a:t>
            </a:r>
            <a:endParaRPr lang="en-US" sz="2025" dirty="0"/>
          </a:p>
        </p:txBody>
      </p:sp>
      <p:sp>
        <p:nvSpPr>
          <p:cNvPr id="61" name="Shape 59"/>
          <p:cNvSpPr/>
          <p:nvPr/>
        </p:nvSpPr>
        <p:spPr>
          <a:xfrm>
            <a:off x="762000" y="935990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10540" y="9518650"/>
            <a:ext cx="172669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 kênh và PE tuyệt đối phụ thuộc khung quy chiếu ⇒ APFD cao nhưng </a:t>
            </a:r>
            <a:pPr algn="ctr" indent="0" marL="0">
              <a:buNone/>
            </a:pPr>
            <a:r>
              <a:rPr lang="en-US" sz="1950" i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có bảo chứng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đây là 2 điểm mù.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ROADFURY → SE2ROADNET ·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RoadFury đến SE2RoadNet: Vá 2 điểm mù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682750"/>
            <a:ext cx="8191500" cy="2995315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4671715"/>
            <a:ext cx="81915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82750"/>
            <a:ext cx="81915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682750"/>
            <a:ext cx="57150" cy="2995315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8" name="Shape 6"/>
          <p:cNvSpPr/>
          <p:nvPr/>
        </p:nvSpPr>
        <p:spPr>
          <a:xfrm>
            <a:off x="8947150" y="1682750"/>
            <a:ext cx="9525" cy="299531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798763"/>
            <a:ext cx="83959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Nhạy phép xoay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66800" y="3230563"/>
            <a:ext cx="8395970" cy="3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đường, xoay 30°/90° ⇒ điểm trồi (ITS4SDC Δ=0.057).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13250" y="4659015"/>
            <a:ext cx="889000" cy="342900"/>
          </a:xfrm>
          <a:prstGeom prst="roundRect">
            <a:avLst>
              <a:gd name="adj" fmla="val 50000"/>
            </a:avLst>
          </a:prstGeom>
          <a:solidFill>
            <a:srgbClr val="E0772B"/>
          </a:solidFill>
          <a:ln/>
          <a:effectLst>
            <a:outerShdw sx="100000" sy="100000" kx="0" ky="0" algn="bl" rotWithShape="0" blurRad="95250" dist="38100" dir="5400000">
              <a:srgbClr val="E0772B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84700" y="4716165"/>
            <a:ext cx="622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vá ↓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62000" y="4982865"/>
            <a:ext cx="8191500" cy="2995315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7971830"/>
            <a:ext cx="81915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982865"/>
            <a:ext cx="81915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4982865"/>
            <a:ext cx="57150" cy="2995315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7" name="Shape 15"/>
          <p:cNvSpPr/>
          <p:nvPr/>
        </p:nvSpPr>
        <p:spPr>
          <a:xfrm>
            <a:off x="8947150" y="4982865"/>
            <a:ext cx="9525" cy="299531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6098878"/>
            <a:ext cx="83959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7 kênh bất biến SE(2)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66800" y="6530678"/>
            <a:ext cx="8395970" cy="3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sinθ, cosθ, θ; chỉ giữ Δs, κ, dκ/ds...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34500" y="1682750"/>
            <a:ext cx="8191500" cy="2995315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334500" y="4671715"/>
            <a:ext cx="81915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334500" y="1682750"/>
            <a:ext cx="81915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334500" y="1682750"/>
            <a:ext cx="57150" cy="2995315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24" name="Shape 22"/>
          <p:cNvSpPr/>
          <p:nvPr/>
        </p:nvSpPr>
        <p:spPr>
          <a:xfrm>
            <a:off x="17519650" y="1682750"/>
            <a:ext cx="9525" cy="299531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639300" y="2798763"/>
            <a:ext cx="83959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Nhạy tần số lấy mẫu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639300" y="3230563"/>
            <a:ext cx="8395970" cy="3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đường, N=64 vs 197 điểm ⇒ điểm đổi theo cách rời rạc hóa.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985750" y="4659015"/>
            <a:ext cx="889000" cy="342900"/>
          </a:xfrm>
          <a:prstGeom prst="roundRect">
            <a:avLst>
              <a:gd name="adj" fmla="val 50000"/>
            </a:avLst>
          </a:prstGeom>
          <a:solidFill>
            <a:srgbClr val="E0772B"/>
          </a:solidFill>
          <a:ln/>
          <a:effectLst>
            <a:outerShdw sx="100000" sy="100000" kx="0" ky="0" algn="bl" rotWithShape="0" blurRad="95250" dist="38100" dir="5400000">
              <a:srgbClr val="E0772B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3157200" y="4716165"/>
            <a:ext cx="622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vá ↓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334500" y="4982865"/>
            <a:ext cx="8191500" cy="2995315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334500" y="7971830"/>
            <a:ext cx="81915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334500" y="4982865"/>
            <a:ext cx="81915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334500" y="4982865"/>
            <a:ext cx="57150" cy="2995315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3" name="Shape 31"/>
          <p:cNvSpPr/>
          <p:nvPr/>
        </p:nvSpPr>
        <p:spPr>
          <a:xfrm>
            <a:off x="17519650" y="4982865"/>
            <a:ext cx="9525" cy="299531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639300" y="6098878"/>
            <a:ext cx="83959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Attention bias theo Δs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639300" y="6530678"/>
            <a:ext cx="8395970" cy="3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Thay PE tuyệt đối bằng hiệu số cung — bất biến tại tham số hóa.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62000" y="8149630"/>
            <a:ext cx="16764000" cy="1115020"/>
          </a:xfrm>
          <a:prstGeom prst="roundRect">
            <a:avLst>
              <a:gd name="adj" fmla="val 11959"/>
            </a:avLst>
          </a:prstGeom>
          <a:solidFill>
            <a:srgbClr val="16242A"/>
          </a:solidFill>
          <a:ln/>
        </p:spPr>
      </p:sp>
      <p:sp>
        <p:nvSpPr>
          <p:cNvPr id="37" name="Text 35"/>
          <p:cNvSpPr/>
          <p:nvPr/>
        </p:nvSpPr>
        <p:spPr>
          <a:xfrm>
            <a:off x="6422827" y="8321080"/>
            <a:ext cx="598658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SE2RoadNet: Bất biến SE(2) bằng kiến trúc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4706144" y="8746530"/>
            <a:ext cx="2649825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(xấp xỉ)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7248426" y="8746530"/>
            <a:ext cx="294265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paradigm shift →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0056912" y="8746530"/>
            <a:ext cx="387733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ràng buộc kiến trúc (bảo chứng)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762000" y="939800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10540" y="9537700"/>
            <a:ext cx="1726692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điểm mù RoadFury → một thành phần SE2RoadNet: </a:t>
            </a:r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 có chủ đích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không refactor mù.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38409" y="2000250"/>
            <a:ext cx="718887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spc="-1800" kern="0" dirty="0">
                <a:solidFill>
                  <a:srgbClr val="FFFFFF">
                    <a:alpha val="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7000" y="2476500"/>
            <a:ext cx="6858000" cy="533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33400"/>
            <a:ext cx="35529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ROADFURY → SE2ROADNET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6293405" y="533400"/>
            <a:ext cx="11563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05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698379"/>
            <a:ext cx="1810512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37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PHẦN 03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914400" y="4244479"/>
            <a:ext cx="1810512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spc="-225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SE2RoadNet</a:t>
            </a:r>
            <a:endParaRPr lang="en-US" sz="9600" dirty="0"/>
          </a:p>
        </p:txBody>
      </p:sp>
      <p:sp>
        <p:nvSpPr>
          <p:cNvPr id="9" name="Shape 6"/>
          <p:cNvSpPr/>
          <p:nvPr/>
        </p:nvSpPr>
        <p:spPr>
          <a:xfrm>
            <a:off x="914400" y="5764610"/>
            <a:ext cx="1143000" cy="47625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174185"/>
            <a:ext cx="12049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DAE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của nhóm: bất biến SE(2) bằng kiến trúc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SE2ROADNET ·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8953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SE2RoadNet: Tổng quan kiến trúc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3531196" y="1549400"/>
            <a:ext cx="11225610" cy="7950101"/>
          </a:xfrm>
          <a:prstGeom prst="roundRect">
            <a:avLst>
              <a:gd name="adj" fmla="val 1198"/>
            </a:avLst>
          </a:prstGeom>
          <a:solidFill>
            <a:srgbClr val="FFFFFF"/>
          </a:solidFill>
          <a:ln w="6350">
            <a:solidFill>
              <a:srgbClr val="16242A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57150" dir="5400000">
              <a:srgbClr val="16242A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3" b="-23"/>
          <a:stretch/>
        </p:blipFill>
        <p:spPr>
          <a:xfrm>
            <a:off x="3531196" y="1549400"/>
            <a:ext cx="11225610" cy="79501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-76200" y="9613900"/>
            <a:ext cx="184404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kênh bất biến → InvariantBlock×6 (bias theo Δs) → pool → Failure Score. </a:t>
            </a:r>
            <a:pPr algn="ctr" indent="0" marL="0">
              <a:buNone/>
            </a:pPr>
            <a:r>
              <a:rPr lang="en-US" sz="180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probe: ΔAPFD = 0.0000.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SE2ROADNET ·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8953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tưởng cốt lõi: Bất biến SE(2)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549400"/>
            <a:ext cx="16764000" cy="1683246"/>
          </a:xfrm>
          <a:prstGeom prst="roundRect">
            <a:avLst>
              <a:gd name="adj" fmla="val 792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3226296"/>
            <a:ext cx="167640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49400"/>
            <a:ext cx="167640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549400"/>
            <a:ext cx="76200" cy="1683246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8" name="Shape 6"/>
          <p:cNvSpPr/>
          <p:nvPr/>
        </p:nvSpPr>
        <p:spPr>
          <a:xfrm>
            <a:off x="17519650" y="1549400"/>
            <a:ext cx="9525" cy="1683246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23950" y="1689100"/>
            <a:ext cx="17720945" cy="42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lý mục tiêu: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f</a:t>
            </a:r>
            <a:pPr algn="l" indent="0" marL="0">
              <a:lnSpc>
                <a:spcPct val="140000"/>
              </a:lnSpc>
              <a:buNone/>
            </a:pPr>
            <a:r>
              <a:rPr lang="en-US" sz="1625" baseline="-400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thỏa mãn,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bit-identical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với mọi (R,t) ∈ SE(2):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025283" y="2154535"/>
            <a:ext cx="4307284" cy="553641"/>
          </a:xfrm>
          <a:prstGeom prst="roundRect">
            <a:avLst>
              <a:gd name="adj" fmla="val 20645"/>
            </a:avLst>
          </a:prstGeom>
          <a:solidFill>
            <a:srgbClr val="F6F4E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12633" y="2237085"/>
            <a:ext cx="3661803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373B"/>
                </a:solidFill>
                <a:highlight>
                  <a:srgbClr val="F6F4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500" b="1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</a:t>
            </a:r>
            <a:pPr algn="l" indent="0" marL="0">
              <a:buNone/>
            </a:pPr>
            <a:r>
              <a:rPr lang="en-US" sz="2550" b="1" dirty="0">
                <a:solidFill>
                  <a:srgbClr val="23373B"/>
                </a:solidFill>
                <a:highlight>
                  <a:srgbClr val="F6F4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(R·R + t) = f</a:t>
            </a:r>
            <a:pPr algn="l" indent="0" marL="0">
              <a:buNone/>
            </a:pPr>
            <a:r>
              <a:rPr lang="en-US" sz="1500" b="1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</a:t>
            </a:r>
            <a:pPr algn="l" indent="0" marL="0">
              <a:buNone/>
            </a:pPr>
            <a:r>
              <a:rPr lang="en-US" sz="2550" b="1" dirty="0">
                <a:solidFill>
                  <a:srgbClr val="23373B"/>
                </a:solidFill>
                <a:highlight>
                  <a:srgbClr val="F6F4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(R)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318452" y="2784376"/>
            <a:ext cx="17720945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Xoay, tịnh tiến, hoặc đổi gốc tọa độ con đường ⇒ điểm số y nguyên.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385046"/>
            <a:ext cx="3790752" cy="5981204"/>
          </a:xfrm>
          <a:prstGeom prst="roundRect">
            <a:avLst>
              <a:gd name="adj" fmla="val 3518"/>
            </a:avLst>
          </a:prstGeom>
          <a:solidFill>
            <a:srgbClr val="F1EEE8"/>
          </a:solidFill>
          <a:ln w="6350">
            <a:solidFill>
              <a:srgbClr val="16242A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132" y="3524746"/>
            <a:ext cx="38624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75" kern="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Gốc R</a:t>
            </a:r>
            <a:endParaRPr lang="en-US" sz="16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7251" y="5597723"/>
            <a:ext cx="2000250" cy="15557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6132" y="8997950"/>
            <a:ext cx="38624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0.8047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4686102" y="3385046"/>
            <a:ext cx="343198" cy="6019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600" dirty="0"/>
          </a:p>
        </p:txBody>
      </p:sp>
      <p:sp>
        <p:nvSpPr>
          <p:cNvPr id="18" name="Shape 15"/>
          <p:cNvSpPr/>
          <p:nvPr/>
        </p:nvSpPr>
        <p:spPr>
          <a:xfrm>
            <a:off x="5086449" y="3385046"/>
            <a:ext cx="3790752" cy="5981204"/>
          </a:xfrm>
          <a:prstGeom prst="roundRect">
            <a:avLst>
              <a:gd name="adj" fmla="val 3518"/>
            </a:avLst>
          </a:prstGeom>
          <a:solidFill>
            <a:srgbClr val="F1EEE8"/>
          </a:solidFill>
          <a:ln w="6350">
            <a:solidFill>
              <a:srgbClr val="16242A">
                <a:alpha val="1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50582" y="3524746"/>
            <a:ext cx="38624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75" kern="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Xoay R</a:t>
            </a:r>
            <a:endParaRPr lang="en-US" sz="16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1700" y="5597723"/>
            <a:ext cx="2000250" cy="15557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50582" y="8997950"/>
            <a:ext cx="38624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0.8047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9010551" y="3385046"/>
            <a:ext cx="343198" cy="6019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600" dirty="0"/>
          </a:p>
        </p:txBody>
      </p:sp>
      <p:sp>
        <p:nvSpPr>
          <p:cNvPr id="23" name="Shape 19"/>
          <p:cNvSpPr/>
          <p:nvPr/>
        </p:nvSpPr>
        <p:spPr>
          <a:xfrm>
            <a:off x="9410899" y="3385046"/>
            <a:ext cx="3790752" cy="5981204"/>
          </a:xfrm>
          <a:prstGeom prst="roundRect">
            <a:avLst>
              <a:gd name="adj" fmla="val 3518"/>
            </a:avLst>
          </a:prstGeom>
          <a:solidFill>
            <a:srgbClr val="F1EEE8"/>
          </a:solidFill>
          <a:ln w="6350">
            <a:solidFill>
              <a:srgbClr val="16242A">
                <a:alpha val="12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375031" y="3524746"/>
            <a:ext cx="38624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75" kern="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Tịnh tiến +t</a:t>
            </a:r>
            <a:endParaRPr lang="en-US" sz="16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6150" y="5597723"/>
            <a:ext cx="2000250" cy="15557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375031" y="8997950"/>
            <a:ext cx="38624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0.8047</a:t>
            </a:r>
            <a:endParaRPr lang="en-US" sz="1650" dirty="0"/>
          </a:p>
        </p:txBody>
      </p:sp>
      <p:sp>
        <p:nvSpPr>
          <p:cNvPr id="27" name="Text 22"/>
          <p:cNvSpPr/>
          <p:nvPr/>
        </p:nvSpPr>
        <p:spPr>
          <a:xfrm>
            <a:off x="13335000" y="3385046"/>
            <a:ext cx="343198" cy="6019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600" dirty="0"/>
          </a:p>
        </p:txBody>
      </p:sp>
      <p:sp>
        <p:nvSpPr>
          <p:cNvPr id="28" name="Shape 23"/>
          <p:cNvSpPr/>
          <p:nvPr/>
        </p:nvSpPr>
        <p:spPr>
          <a:xfrm>
            <a:off x="13735348" y="3385046"/>
            <a:ext cx="3790752" cy="5981204"/>
          </a:xfrm>
          <a:prstGeom prst="roundRect">
            <a:avLst>
              <a:gd name="adj" fmla="val 3518"/>
            </a:avLst>
          </a:prstGeom>
          <a:solidFill>
            <a:srgbClr val="F1EEE8"/>
          </a:solidFill>
          <a:ln w="6350">
            <a:solidFill>
              <a:srgbClr val="16242A">
                <a:alpha val="12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3699481" y="3524746"/>
            <a:ext cx="38624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75" kern="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Đổi gốc tọa độ</a:t>
            </a:r>
            <a:endParaRPr lang="en-US" sz="16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30599" y="5597723"/>
            <a:ext cx="2000250" cy="155575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699481" y="8997950"/>
            <a:ext cx="38624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0.8047</a:t>
            </a:r>
            <a:endParaRPr lang="en-US" sz="1650" dirty="0"/>
          </a:p>
        </p:txBody>
      </p:sp>
      <p:sp>
        <p:nvSpPr>
          <p:cNvPr id="32" name="Shape 26"/>
          <p:cNvSpPr/>
          <p:nvPr/>
        </p:nvSpPr>
        <p:spPr>
          <a:xfrm>
            <a:off x="762000" y="94805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510540" y="9601200"/>
            <a:ext cx="172669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con đường, bốn phép biến đổi SE(2), </a:t>
            </a:r>
            <a:pPr algn="ctr" indent="0" marL="0">
              <a:buNone/>
            </a:pPr>
            <a:r>
              <a:rPr lang="en-US" sz="1875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điểm số </a:t>
            </a:r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bất biến là tính chất của kiến trúc, không phải của data augmentation.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SE2ROADNET ·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1: 7 kênh đặc trưng bất biến SE(2)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701800"/>
            <a:ext cx="9484023" cy="7543800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350" y="1708150"/>
            <a:ext cx="9471323" cy="762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2051050"/>
            <a:ext cx="970598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3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giữ đại lượng nội tại của đường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92200" y="2540000"/>
            <a:ext cx="384870" cy="385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2C3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534220" y="2514600"/>
            <a:ext cx="2933918" cy="429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Δs</a:t>
            </a:r>
            <a:pPr algn="l" indent="0" marL="0">
              <a:lnSpc>
                <a:spcPct val="135000"/>
              </a:lnSpc>
              <a:buNone/>
            </a:pPr>
            <a:r>
              <a:rPr lang="en-US" sz="1688" baseline="-400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chiều dài đoạn </a:t>
            </a:r>
            <a:pPr algn="l" indent="0" marL="0">
              <a:lnSpc>
                <a:spcPct val="135000"/>
              </a:lnSpc>
              <a:buNone/>
            </a:pPr>
            <a:r>
              <a:rPr lang="en-US" sz="202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092200" y="3036292"/>
            <a:ext cx="384870" cy="385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2C3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534220" y="3010892"/>
            <a:ext cx="4101177" cy="429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|Δθ</a:t>
            </a:r>
            <a:pPr algn="l" indent="0" marL="0">
              <a:lnSpc>
                <a:spcPct val="135000"/>
              </a:lnSpc>
              <a:buNone/>
            </a:pPr>
            <a:r>
              <a:rPr lang="en-US" sz="1688" baseline="-400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— biến thiên góc </a:t>
            </a:r>
            <a:pPr algn="l" indent="0" marL="0">
              <a:lnSpc>
                <a:spcPct val="135000"/>
              </a:lnSpc>
              <a:buNone/>
            </a:pPr>
            <a:r>
              <a:rPr lang="en-US" sz="202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tuyệt đối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092200" y="3532584"/>
            <a:ext cx="384870" cy="385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2C3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534220" y="3507184"/>
            <a:ext cx="4014083" cy="429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</a:t>
            </a:r>
            <a:pPr algn="l" indent="0" marL="0">
              <a:lnSpc>
                <a:spcPct val="135000"/>
              </a:lnSpc>
              <a:buNone/>
            </a:pPr>
            <a:r>
              <a:rPr lang="en-US" sz="1688" baseline="-400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Δθ</a:t>
            </a:r>
            <a:pPr algn="l" indent="0" marL="0">
              <a:lnSpc>
                <a:spcPct val="135000"/>
              </a:lnSpc>
              <a:buNone/>
            </a:pPr>
            <a:r>
              <a:rPr lang="en-US" sz="1688" baseline="-400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/Δs</a:t>
            </a:r>
            <a:pPr algn="l" indent="0" marL="0">
              <a:lnSpc>
                <a:spcPct val="135000"/>
              </a:lnSpc>
              <a:buNone/>
            </a:pPr>
            <a:r>
              <a:rPr lang="en-US" sz="1688" baseline="-400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độ cong có dấu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092200" y="4028877"/>
            <a:ext cx="384870" cy="385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2C3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534220" y="4003477"/>
            <a:ext cx="5639514" cy="385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dκ/ds — đạo hàm độ cong (jerk hình học)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092200" y="4506218"/>
            <a:ext cx="384870" cy="385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2C3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534220" y="4480818"/>
            <a:ext cx="3495993" cy="385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d²κ/ds² — đạo hàm bậc 2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092200" y="4983560"/>
            <a:ext cx="384870" cy="385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2C3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534220" y="4958160"/>
            <a:ext cx="6562626" cy="385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s_norm = s/L ∈ [0,1] — chiều dài cung tương đối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092200" y="5460901"/>
            <a:ext cx="384870" cy="385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2C3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534220" y="5435501"/>
            <a:ext cx="6272967" cy="385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σ_local(κ) — độ lệch chuẩn cục bộ (cửa sổ 11)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092200" y="8418513"/>
            <a:ext cx="8823623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92200" y="8558213"/>
            <a:ext cx="908833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</a:t>
            </a:r>
            <a:pPr algn="l" indent="0" marL="0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kênh phụ thuộc khung quy chiếu (đã bỏ sinθ, cosθ, θ).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0512723" y="1701800"/>
            <a:ext cx="7013278" cy="7543800"/>
          </a:xfrm>
          <a:prstGeom prst="roundRect">
            <a:avLst>
              <a:gd name="adj" fmla="val 1901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9073" y="1708150"/>
            <a:ext cx="7000577" cy="76200"/>
          </a:xfrm>
          <a:prstGeom prst="rect">
            <a:avLst/>
          </a:prstGeom>
          <a:solidFill>
            <a:srgbClr val="E0772B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04823" y="2841526"/>
            <a:ext cx="6429077" cy="4362549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10804823" y="8166100"/>
            <a:ext cx="6429077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0804823" y="8305800"/>
            <a:ext cx="66219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đại lượng nội tại tính trên từng cặp điểm liền kề — không thay đổi khi xoay/tịnh tiến.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62000" y="93789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10540" y="9537700"/>
            <a:ext cx="1726692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biến SE(2) được đảm bảo từ khâu đặc trưng — trước khi mô hình học.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SE2ROADNET ·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2: Kiến trúc SE2RoadNet (InvariantBlock ×6)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3013075"/>
            <a:ext cx="5143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0748" y="3190875"/>
            <a:ext cx="486600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7→192 + LN + GELU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3262313" y="3736975"/>
            <a:ext cx="219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762000" y="4079875"/>
            <a:ext cx="5143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0748" y="4257675"/>
            <a:ext cx="486600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 token [CLS]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3262313" y="4803775"/>
            <a:ext cx="219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762000" y="5146675"/>
            <a:ext cx="5143500" cy="711200"/>
          </a:xfrm>
          <a:prstGeom prst="roundRect">
            <a:avLst>
              <a:gd name="adj" fmla="val 18750"/>
            </a:avLst>
          </a:prstGeom>
          <a:solidFill>
            <a:srgbClr val="E0772B">
              <a:alpha val="12000"/>
            </a:srgbClr>
          </a:solidFill>
          <a:ln w="19050">
            <a:solidFill>
              <a:srgbClr val="E07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3448" y="5356225"/>
            <a:ext cx="484060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InvariantBlock ×6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3262313" y="5915025"/>
            <a:ext cx="219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762000" y="6257925"/>
            <a:ext cx="51435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748" y="6435725"/>
            <a:ext cx="486600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 theo [CLS]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3262313" y="6981825"/>
            <a:ext cx="219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762000" y="7324725"/>
            <a:ext cx="5143500" cy="647700"/>
          </a:xfrm>
          <a:prstGeom prst="roundRect">
            <a:avLst>
              <a:gd name="adj" fmla="val 20588"/>
            </a:avLst>
          </a:prstGeom>
          <a:solidFill>
            <a:srgbClr val="2E7D5B">
              <a:alpha val="12000"/>
            </a:srgbClr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3448" y="7515225"/>
            <a:ext cx="48406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Head: LN → 64 → 1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286500" y="3894336"/>
            <a:ext cx="14426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506964" y="3894336"/>
            <a:ext cx="5674767" cy="428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điểm trên đường ⇒ một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192 chiều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286500" y="4522986"/>
            <a:ext cx="14426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06964" y="4522986"/>
            <a:ext cx="11398756" cy="428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block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MHA (8 heads) + FFN (512) + LayerNorm, với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relative-arclength bias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(Bước 3).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286500" y="5151636"/>
            <a:ext cx="14426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506964" y="5151636"/>
            <a:ext cx="4820414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[CLS] → 1 logit = xác suất FAIL.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286500" y="5856486"/>
            <a:ext cx="11239500" cy="1234678"/>
          </a:xfrm>
          <a:prstGeom prst="roundRect">
            <a:avLst>
              <a:gd name="adj" fmla="val 10800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286500" y="7084814"/>
            <a:ext cx="112395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86500" y="5856486"/>
            <a:ext cx="112395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86500" y="5856486"/>
            <a:ext cx="76200" cy="123467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8" name="Shape 26"/>
          <p:cNvSpPr/>
          <p:nvPr/>
        </p:nvSpPr>
        <p:spPr>
          <a:xfrm>
            <a:off x="17519650" y="5856486"/>
            <a:ext cx="9525" cy="1234678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6091436"/>
            <a:ext cx="1168590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QUY MÔ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629400" y="6466086"/>
            <a:ext cx="11685905" cy="428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2.11 M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tham số (~2.5× RoadFury) — vẫn nhẹ, train 24 phút.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762000" y="93789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10540" y="9537700"/>
            <a:ext cx="1726692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Transformer bất biến nhẹ — token hóa từng điểm đường, 6 InvariantBlock, đầu ra xác suất FAIL.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SE2ROADNET ·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8953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3: Attention với bias hiệu số Δs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8170168" cy="2028825"/>
          </a:xfrm>
          <a:prstGeom prst="roundRect">
            <a:avLst>
              <a:gd name="adj" fmla="val 6573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350" y="1593850"/>
            <a:ext cx="8157468" cy="76200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6" name="Text 4"/>
          <p:cNvSpPr/>
          <p:nvPr/>
        </p:nvSpPr>
        <p:spPr>
          <a:xfrm>
            <a:off x="1035050" y="1879600"/>
            <a:ext cx="83864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với PE tuyệt đối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35050" y="2279650"/>
            <a:ext cx="7852790" cy="1158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chuẩn (sin/cos của index i) khóa mô hình vào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vị trí tuyệt đối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của token. Xoay/cắt đường khác ⇒ index ứng với arclength khác ⇒ vỡ bất biến.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62000" y="3787775"/>
            <a:ext cx="8170168" cy="5540375"/>
          </a:xfrm>
          <a:prstGeom prst="roundRect">
            <a:avLst>
              <a:gd name="adj" fmla="val 2407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350" y="3794125"/>
            <a:ext cx="8157468" cy="762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1035050" y="5298182"/>
            <a:ext cx="83864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pháp: relative-arclength RFF bias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35050" y="5736332"/>
            <a:ext cx="7852790" cy="857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bias vào ma trận attention, chỉ phụ thuộc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số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Δs</a:t>
            </a:r>
            <a:pPr algn="l" indent="0" marL="0">
              <a:lnSpc>
                <a:spcPct val="150000"/>
              </a:lnSpc>
              <a:buNone/>
            </a:pPr>
            <a:r>
              <a:rPr lang="en-US" sz="1625" baseline="-400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ij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</a:t>
            </a:r>
            <a:pPr algn="l" indent="0" marL="0">
              <a:lnSpc>
                <a:spcPct val="150000"/>
              </a:lnSpc>
              <a:buNone/>
            </a:pPr>
            <a:r>
              <a:rPr lang="en-US" sz="1625" baseline="-400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s</a:t>
            </a:r>
            <a:pPr algn="l" indent="0" marL="0">
              <a:lnSpc>
                <a:spcPct val="150000"/>
              </a:lnSpc>
              <a:buNone/>
            </a:pPr>
            <a:r>
              <a:rPr lang="en-US" sz="1625" baseline="-400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(bất biến tại tham số hóa):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35050" y="6689428"/>
            <a:ext cx="7624068" cy="728266"/>
          </a:xfrm>
          <a:prstGeom prst="roundRect">
            <a:avLst>
              <a:gd name="adj" fmla="val 13079"/>
            </a:avLst>
          </a:prstGeom>
          <a:solidFill>
            <a:srgbClr val="F6F4EF"/>
          </a:solidFill>
          <a:ln w="6350">
            <a:solidFill>
              <a:srgbClr val="16242A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389" y="6848178"/>
            <a:ext cx="7573390" cy="4488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dirty="0">
                <a:solidFill>
                  <a:srgbClr val="23373B"/>
                </a:solidFill>
                <a:highlight>
                  <a:srgbClr val="F6F4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</a:t>
            </a:r>
            <a:pPr algn="ctr" indent="0" marL="0">
              <a:buNone/>
            </a:pPr>
            <a:r>
              <a:rPr lang="en-US" sz="1813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 </a:t>
            </a:r>
            <a:pPr algn="ctr" indent="0" marL="0">
              <a:buNone/>
            </a:pPr>
            <a:r>
              <a:rPr lang="en-US" sz="2175" dirty="0">
                <a:solidFill>
                  <a:srgbClr val="23373B"/>
                </a:solidFill>
                <a:highlight>
                  <a:srgbClr val="F6F4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MLP( sin(Δs</a:t>
            </a:r>
            <a:pPr algn="ctr" indent="0" marL="0">
              <a:buNone/>
            </a:pPr>
            <a:r>
              <a:rPr lang="en-US" sz="1813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 </a:t>
            </a:r>
            <a:pPr algn="ctr" indent="0" marL="0">
              <a:buNone/>
            </a:pPr>
            <a:r>
              <a:rPr lang="en-US" sz="2175" dirty="0">
                <a:solidFill>
                  <a:srgbClr val="23373B"/>
                </a:solidFill>
                <a:highlight>
                  <a:srgbClr val="F6F4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ω) ) ∈ R⁸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035050" y="7551043"/>
            <a:ext cx="83864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ω ∈ R³² là tần số Fourier ngẫu nhiên (RFF) cố định.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98868" y="1587500"/>
            <a:ext cx="8327132" cy="7740650"/>
          </a:xfrm>
          <a:prstGeom prst="roundRect">
            <a:avLst>
              <a:gd name="adj" fmla="val 1723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71918" y="1803400"/>
            <a:ext cx="7781032" cy="166727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47884" y="3604022"/>
            <a:ext cx="3429000" cy="31432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355203" y="6880622"/>
            <a:ext cx="8014463" cy="662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Heatmap: attention giảm theo |Δs</a:t>
            </a:r>
            <a:pPr algn="ctr" indent="0" marL="0">
              <a:lnSpc>
                <a:spcPct val="140000"/>
              </a:lnSpc>
              <a:buNone/>
            </a:pPr>
            <a:r>
              <a:rPr lang="en-US" sz="1375" i="1" baseline="-4000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ij</a:t>
            </a:r>
            <a:pPr algn="ctr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— bias chỉ phụ thuộc hiệu số, không bao giờ i,j riêng lẻ.</a:t>
            </a:r>
            <a:endParaRPr lang="en-US" sz="1650" dirty="0"/>
          </a:p>
        </p:txBody>
      </p:sp>
      <p:sp>
        <p:nvSpPr>
          <p:cNvPr id="19" name="Shape 15"/>
          <p:cNvSpPr/>
          <p:nvPr/>
        </p:nvSpPr>
        <p:spPr>
          <a:xfrm>
            <a:off x="762000" y="946150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510540" y="9601200"/>
            <a:ext cx="172669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phí: </a:t>
            </a:r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O(B · L² · 32) mỗi block — điểm tốn nhất (24 phút train). </a:t>
            </a:r>
            <a:pPr algn="ctr" indent="0" marL="0">
              <a:buNone/>
            </a:pPr>
            <a:r>
              <a:rPr lang="en-US" sz="1875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Cải tiến tương lai: </a:t>
            </a:r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RoPE-1D trên s_norm.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SE2ROADNET ·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Buớc 4: Huấn luyện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701800"/>
            <a:ext cx="8456018" cy="7543800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350" y="1708150"/>
            <a:ext cx="8443317" cy="7620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6" name="Text 4"/>
          <p:cNvSpPr/>
          <p:nvPr/>
        </p:nvSpPr>
        <p:spPr>
          <a:xfrm>
            <a:off x="1054100" y="2012950"/>
            <a:ext cx="865899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Loss (γ=1.5): dồn sức học ca khó</a:t>
            </a:r>
            <a:endParaRPr lang="en-US" sz="202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4100" y="2368550"/>
            <a:ext cx="7871817" cy="66992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484718" y="1701800"/>
            <a:ext cx="8041283" cy="2241550"/>
          </a:xfrm>
          <a:prstGeom prst="roundRect">
            <a:avLst>
              <a:gd name="adj" fmla="val 5949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91067" y="1708150"/>
            <a:ext cx="8028583" cy="7620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0" name="Text 7"/>
          <p:cNvSpPr/>
          <p:nvPr/>
        </p:nvSpPr>
        <p:spPr>
          <a:xfrm>
            <a:off x="9757767" y="1993900"/>
            <a:ext cx="824470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Focal Loss?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9757767" y="2406650"/>
            <a:ext cx="7495183" cy="514350"/>
          </a:xfrm>
          <a:prstGeom prst="roundRect">
            <a:avLst>
              <a:gd name="adj" fmla="val 14815"/>
            </a:avLst>
          </a:prstGeom>
          <a:solidFill>
            <a:srgbClr val="F6F4EF"/>
          </a:solidFill>
          <a:ln/>
        </p:spPr>
      </p:sp>
      <p:sp>
        <p:nvSpPr>
          <p:cNvPr id="12" name="Text 9"/>
          <p:cNvSpPr/>
          <p:nvPr/>
        </p:nvSpPr>
        <p:spPr>
          <a:xfrm>
            <a:off x="9910167" y="2520950"/>
            <a:ext cx="741523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−α(1 − p̂_t)ᴳ log p̂_t, γ = 1.5.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9757767" y="3035300"/>
            <a:ext cx="7720039" cy="730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chỉ ~30–40%; BCE thuần ⇒ model "đoán PASS hết". Hệ số (1 − p̂_t)ᴳ </a:t>
            </a:r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down-weight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dễ, </a:t>
            </a:r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up-weight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khó.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484718" y="4152900"/>
            <a:ext cx="8041283" cy="5092700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491067" y="4159250"/>
            <a:ext cx="8028583" cy="762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6" name="Text 13"/>
          <p:cNvSpPr/>
          <p:nvPr/>
        </p:nvSpPr>
        <p:spPr>
          <a:xfrm>
            <a:off x="9757767" y="4425950"/>
            <a:ext cx="824470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C3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9757767" y="4819650"/>
            <a:ext cx="19362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708507" y="4819650"/>
            <a:ext cx="609888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AdamW (wd 1e-3)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757767" y="5175250"/>
            <a:ext cx="19362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1708507" y="5175250"/>
            <a:ext cx="609888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5e-4 cosine + warmup 5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9757767" y="5530850"/>
            <a:ext cx="19362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/ Epochs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1708507" y="5530850"/>
            <a:ext cx="609888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384 / 80 (SWA từ 56)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9757767" y="5886450"/>
            <a:ext cx="19362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1708507" y="5886450"/>
            <a:ext cx="609888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bf16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9757767" y="6242050"/>
            <a:ext cx="19362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Sampler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1708507" y="6242050"/>
            <a:ext cx="609888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WeightedRandom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9757767" y="6597650"/>
            <a:ext cx="19362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Wall-clock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1708507" y="6597650"/>
            <a:ext cx="609888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24.2 phút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9757767" y="6953250"/>
            <a:ext cx="19362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1708507" y="6953250"/>
            <a:ext cx="609888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2.11 M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762000" y="93789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510540" y="9537700"/>
            <a:ext cx="1726692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γ=1.5 + WeightedRandom ép model đầu tư vào ca FAIL hiếm mà không đổi siêu tham số.</a:t>
            </a:r>
            <a:endParaRPr lang="en-US" sz="1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38409" y="2000250"/>
            <a:ext cx="718887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spc="-1800" kern="0" dirty="0">
                <a:solidFill>
                  <a:srgbClr val="FFFFFF">
                    <a:alpha val="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15500" y="2857500"/>
            <a:ext cx="742950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33400"/>
            <a:ext cx="35529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ROADFURY → SE2ROADNET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6293405" y="533400"/>
            <a:ext cx="11563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05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840956"/>
            <a:ext cx="1810512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37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PHẦN 04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914400" y="4387056"/>
            <a:ext cx="18105120" cy="89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900" b="1" spc="-150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thực nghiệm</a:t>
            </a:r>
            <a:endParaRPr lang="en-US" sz="6900" dirty="0"/>
          </a:p>
        </p:txBody>
      </p:sp>
      <p:sp>
        <p:nvSpPr>
          <p:cNvPr id="9" name="Shape 6"/>
          <p:cNvSpPr/>
          <p:nvPr/>
        </p:nvSpPr>
        <p:spPr>
          <a:xfrm>
            <a:off x="914400" y="5607745"/>
            <a:ext cx="1143000" cy="47625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017320"/>
            <a:ext cx="120491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spc="75" kern="0" dirty="0">
                <a:solidFill>
                  <a:srgbClr val="9DAE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APFD · giao thức · bất biến Δ=0 · leaderboard</a:t>
            </a:r>
            <a:endParaRPr lang="en-US" sz="2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ĐÁNH GIÁ · 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số APFD &amp; Giao thức đánh giá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682750"/>
            <a:ext cx="9621342" cy="4349552"/>
          </a:xfrm>
          <a:prstGeom prst="roundRect">
            <a:avLst>
              <a:gd name="adj" fmla="val 3066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350" y="1689100"/>
            <a:ext cx="9608641" cy="7620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6" name="Text 4"/>
          <p:cNvSpPr/>
          <p:nvPr/>
        </p:nvSpPr>
        <p:spPr>
          <a:xfrm>
            <a:off x="1054100" y="1974850"/>
            <a:ext cx="994085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Percentage of Faults Detected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054100" y="2406650"/>
            <a:ext cx="9308256" cy="420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hoán vị π trên n test (m là FAIL), TF</a:t>
            </a:r>
            <a:pPr algn="l" indent="0" marL="0">
              <a:lnSpc>
                <a:spcPct val="150000"/>
              </a:lnSpc>
              <a:buNone/>
            </a:pPr>
            <a:r>
              <a:rPr lang="en-US" sz="1500" baseline="-400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vị trí fault thứ i: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4100" y="2922191"/>
            <a:ext cx="9037141" cy="685800"/>
          </a:xfrm>
          <a:prstGeom prst="roundRect">
            <a:avLst>
              <a:gd name="adj" fmla="val 13889"/>
            </a:avLst>
          </a:prstGeom>
          <a:solidFill>
            <a:srgbClr val="F6F4EF"/>
          </a:solidFill>
          <a:ln w="6350">
            <a:solidFill>
              <a:srgbClr val="16242A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0143" y="3080941"/>
            <a:ext cx="9105056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3373B"/>
                </a:solidFill>
                <a:highlight>
                  <a:srgbClr val="F6F4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APFD(π) = 1 − (Σ TF</a:t>
            </a:r>
            <a:pPr algn="ctr" indent="0" marL="0">
              <a:buNone/>
            </a:pPr>
            <a:r>
              <a:rPr lang="en-US" sz="1875" b="1" baseline="-4000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ctr" indent="0" marL="0">
              <a:buNone/>
            </a:pPr>
            <a:r>
              <a:rPr lang="en-US" sz="2250" b="1" dirty="0">
                <a:solidFill>
                  <a:srgbClr val="23373B"/>
                </a:solidFill>
                <a:highlight>
                  <a:srgbClr val="F6F4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)/(n·m) + 1/(2n)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54100" y="3741341"/>
            <a:ext cx="99408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[0,1], càng cao càng tốt. Ngẫu nhiên ~ 0.5; Lý tưởng ~ 1.0.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50042" y="1682750"/>
            <a:ext cx="6875959" cy="4349552"/>
          </a:xfrm>
          <a:prstGeom prst="roundRect">
            <a:avLst>
              <a:gd name="adj" fmla="val 3066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6391" y="1689100"/>
            <a:ext cx="6863259" cy="76200"/>
          </a:xfrm>
          <a:prstGeom prst="rect">
            <a:avLst/>
          </a:prstGeom>
          <a:solidFill>
            <a:srgbClr val="E0772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04041" y="1936750"/>
            <a:ext cx="6367959" cy="35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85643" y="5550694"/>
            <a:ext cx="7004755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tốt ⇒ đường cong dốc đứng từ đầu.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762000" y="6241852"/>
            <a:ext cx="5156200" cy="2984699"/>
          </a:xfrm>
          <a:prstGeom prst="roundRect">
            <a:avLst>
              <a:gd name="adj" fmla="val 4468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350" y="6248202"/>
            <a:ext cx="5143500" cy="762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6533952"/>
            <a:ext cx="511302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C3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Single-pass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016000" y="6946702"/>
            <a:ext cx="4787646" cy="1403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hạng 1 lần trên toàn Competition split (956 test)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016000" y="8445500"/>
            <a:ext cx="4648200" cy="565150"/>
          </a:xfrm>
          <a:prstGeom prst="roundRect">
            <a:avLst>
              <a:gd name="adj" fmla="val 16854"/>
            </a:avLst>
          </a:prstGeom>
          <a:solidFill>
            <a:srgbClr val="F6F4EF"/>
          </a:solidFill>
          <a:ln w="6350">
            <a:solidFill>
              <a:srgbClr val="2C3E6B">
                <a:alpha val="2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8827" y="8566150"/>
            <a:ext cx="46225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C3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APFD = 0.8047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6051550" y="6241852"/>
            <a:ext cx="457200" cy="3022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19"/>
          <p:cNvSpPr/>
          <p:nvPr/>
        </p:nvSpPr>
        <p:spPr>
          <a:xfrm>
            <a:off x="6565900" y="6241852"/>
            <a:ext cx="5156200" cy="2984699"/>
          </a:xfrm>
          <a:prstGeom prst="roundRect">
            <a:avLst>
              <a:gd name="adj" fmla="val 4468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72250" y="6248202"/>
            <a:ext cx="5143500" cy="7620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24" name="Text 21"/>
          <p:cNvSpPr/>
          <p:nvPr/>
        </p:nvSpPr>
        <p:spPr>
          <a:xfrm>
            <a:off x="6819900" y="6533952"/>
            <a:ext cx="511302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Multi-trial (30 lần)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6819900" y="6927652"/>
            <a:ext cx="4787646" cy="1053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trial: lấy ngẫu nhiên 287/956 test → APFD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819900" y="8056959"/>
            <a:ext cx="4648200" cy="546100"/>
          </a:xfrm>
          <a:prstGeom prst="roundRect">
            <a:avLst>
              <a:gd name="adj" fmla="val 17442"/>
            </a:avLst>
          </a:prstGeom>
          <a:solidFill>
            <a:srgbClr val="F6F4EF"/>
          </a:solidFill>
          <a:ln w="6350">
            <a:solidFill>
              <a:srgbClr val="E0772B">
                <a:alpha val="3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32727" y="8177609"/>
            <a:ext cx="46225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0.8048 ± 0.0118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6819900" y="8717360"/>
            <a:ext cx="5113020" cy="3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"may rủi" do thứ tự cố định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1855451" y="6241852"/>
            <a:ext cx="457200" cy="3022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30" name="Shape 27"/>
          <p:cNvSpPr/>
          <p:nvPr/>
        </p:nvSpPr>
        <p:spPr>
          <a:xfrm>
            <a:off x="12369801" y="6241852"/>
            <a:ext cx="5156200" cy="2984699"/>
          </a:xfrm>
          <a:prstGeom prst="roundRect">
            <a:avLst>
              <a:gd name="adj" fmla="val 4468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2376150" y="6248202"/>
            <a:ext cx="5143500" cy="762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2" name="Text 29"/>
          <p:cNvSpPr/>
          <p:nvPr/>
        </p:nvSpPr>
        <p:spPr>
          <a:xfrm>
            <a:off x="12623800" y="6533952"/>
            <a:ext cx="511302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Rotation probe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12623800" y="6946702"/>
            <a:ext cx="4787646" cy="1422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Xoay toàn bộ split bằng {0,30,60,90,180,−45}° rồi đánh giá lại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2623800" y="8464550"/>
            <a:ext cx="4648200" cy="546100"/>
          </a:xfrm>
          <a:prstGeom prst="roundRect">
            <a:avLst>
              <a:gd name="adj" fmla="val 17442"/>
            </a:avLst>
          </a:prstGeom>
          <a:solidFill>
            <a:srgbClr val="F6F4EF"/>
          </a:solidFill>
          <a:ln w="6350">
            <a:solidFill>
              <a:srgbClr val="2E7D5B">
                <a:alpha val="3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636627" y="8585200"/>
            <a:ext cx="46225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= max − min APFD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762000" y="93789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510540" y="9537700"/>
            <a:ext cx="1726692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lớp: single-pass (điểm chính) → multi-trial (độ ổn định) → rotation probe (kiểm chứng bất biến).</a:t>
            </a:r>
            <a:endParaRPr lang="en-US" sz="1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ĐÁNH GIÁ · 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headline: Bất biến phép xoay Δ = 0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701800"/>
            <a:ext cx="9718080" cy="752475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5050" y="1936750"/>
            <a:ext cx="10089178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Xoay đường ⇒ baseline trôi điểm, SE2RoadNet bất biến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050" y="2334816"/>
            <a:ext cx="9171980" cy="63646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82615" y="8737600"/>
            <a:ext cx="249364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54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ITS4SDC (Δ=0.057)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35315" y="8737600"/>
            <a:ext cx="299656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SE2RoadNet (Δ=0.0000)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746780" y="1701800"/>
            <a:ext cx="6779221" cy="391160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53130" y="1708150"/>
            <a:ext cx="6766521" cy="533400"/>
          </a:xfrm>
          <a:prstGeom prst="rect">
            <a:avLst/>
          </a:prstGeom>
          <a:solidFill>
            <a:srgbClr val="23373B"/>
          </a:solidFill>
          <a:ln/>
        </p:spPr>
      </p:sp>
      <p:sp>
        <p:nvSpPr>
          <p:cNvPr id="11" name="Text 8"/>
          <p:cNvSpPr/>
          <p:nvPr/>
        </p:nvSpPr>
        <p:spPr>
          <a:xfrm>
            <a:off x="10924580" y="1822450"/>
            <a:ext cx="14535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Xoay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568635" y="1822450"/>
            <a:ext cx="19123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ITS4SDC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737860" y="1822450"/>
            <a:ext cx="26103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SE2RoadNet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753130" y="2714625"/>
            <a:ext cx="6766521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924580" y="2327275"/>
            <a:ext cx="1453555" cy="3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0°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568635" y="2327275"/>
            <a:ext cx="1912342" cy="3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0.7810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737860" y="2327275"/>
            <a:ext cx="2610340" cy="3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2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0.8047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0753130" y="3197225"/>
            <a:ext cx="6766521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0924580" y="2806700"/>
            <a:ext cx="145355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+30°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568635" y="2806700"/>
            <a:ext cx="1912342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0.7240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4737860" y="2806700"/>
            <a:ext cx="261034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2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0.8047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0753130" y="3679825"/>
            <a:ext cx="6766521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0924580" y="3289300"/>
            <a:ext cx="145355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+60°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568635" y="3289300"/>
            <a:ext cx="1912342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0.7518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737860" y="3289300"/>
            <a:ext cx="261034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2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0.8047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0753130" y="4162425"/>
            <a:ext cx="6766521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0924580" y="3771900"/>
            <a:ext cx="145355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+90°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2568635" y="3771900"/>
            <a:ext cx="1912342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0.7396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4737860" y="3771900"/>
            <a:ext cx="261034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2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0.8047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0753130" y="4645025"/>
            <a:ext cx="6766521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0924580" y="4254500"/>
            <a:ext cx="145355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+180°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2568635" y="4254500"/>
            <a:ext cx="1912342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0.7334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4737860" y="4254500"/>
            <a:ext cx="261034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2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0.8047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0753130" y="5121275"/>
            <a:ext cx="6766521" cy="19050"/>
          </a:xfrm>
          <a:prstGeom prst="rect">
            <a:avLst/>
          </a:prstGeom>
          <a:solidFill>
            <a:srgbClr val="16242A">
              <a:alpha val="22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10924580" y="4737100"/>
            <a:ext cx="14535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-45°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2568635" y="4737100"/>
            <a:ext cx="1912342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0.7627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4737860" y="4737100"/>
            <a:ext cx="261034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2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0.8047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0924580" y="5245100"/>
            <a:ext cx="14535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2568635" y="5245100"/>
            <a:ext cx="191234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0.0570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14652427" y="5140325"/>
            <a:ext cx="2867224" cy="466725"/>
          </a:xfrm>
          <a:prstGeom prst="rect">
            <a:avLst/>
          </a:prstGeom>
          <a:solidFill>
            <a:srgbClr val="2E7D5B">
              <a:alpha val="14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14737860" y="5245100"/>
            <a:ext cx="26103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10746780" y="5784850"/>
            <a:ext cx="6779221" cy="3441700"/>
          </a:xfrm>
          <a:prstGeom prst="roundRect">
            <a:avLst>
              <a:gd name="adj" fmla="val 3875"/>
            </a:avLst>
          </a:prstGeom>
          <a:solidFill>
            <a:srgbClr val="2E7D5B">
              <a:alpha val="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10746780" y="9220200"/>
            <a:ext cx="6779221" cy="9525"/>
          </a:xfrm>
          <a:prstGeom prst="rect">
            <a:avLst/>
          </a:prstGeom>
          <a:solidFill>
            <a:srgbClr val="2E7D5B">
              <a:alpha val="45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10746780" y="5784850"/>
            <a:ext cx="6779221" cy="9525"/>
          </a:xfrm>
          <a:prstGeom prst="rect">
            <a:avLst/>
          </a:prstGeom>
          <a:solidFill>
            <a:srgbClr val="2E7D5B">
              <a:alpha val="45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0746780" y="5784850"/>
            <a:ext cx="76200" cy="34417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6" name="Shape 43"/>
          <p:cNvSpPr/>
          <p:nvPr/>
        </p:nvSpPr>
        <p:spPr>
          <a:xfrm>
            <a:off x="17519651" y="5784850"/>
            <a:ext cx="9525" cy="3441700"/>
          </a:xfrm>
          <a:prstGeom prst="rect">
            <a:avLst/>
          </a:prstGeom>
          <a:solidFill>
            <a:srgbClr val="2E7D5B">
              <a:alpha val="45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11070630" y="6000750"/>
            <a:ext cx="682150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"trong sai số"</a:t>
            </a:r>
            <a:endParaRPr lang="en-US" sz="2025" dirty="0"/>
          </a:p>
        </p:txBody>
      </p:sp>
      <p:sp>
        <p:nvSpPr>
          <p:cNvPr id="48" name="Text 45"/>
          <p:cNvSpPr/>
          <p:nvPr/>
        </p:nvSpPr>
        <p:spPr>
          <a:xfrm>
            <a:off x="11070630" y="6394450"/>
            <a:ext cx="6387411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góc xoay, APFD bằng nhau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đến từng bit float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(=0, không phải ~10⁻³): pipeline 7 kênh trả vector </a:t>
            </a:r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pixel-identical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xoay ⇒ logit y nguyên.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762000" y="935990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510540" y="9518650"/>
            <a:ext cx="172669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thuyết được xác minh bằng thực nghiệm, không cần nói "xấp xỉ".</a:t>
            </a:r>
            <a:endParaRPr lang="en-US" sz="1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ĐÁNH GIÁ · 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xếp hạng: so với 8 baselines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701800"/>
            <a:ext cx="9550103" cy="7543800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4100" y="1955800"/>
            <a:ext cx="9862493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xếp hạng APFD </a:t>
            </a:r>
            <a:pPr algn="l" indent="0" marL="0">
              <a:buNone/>
            </a:pPr>
            <a:r>
              <a:rPr lang="en-US" sz="1575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(956 test OOD, 30 trials)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054100" y="2400300"/>
            <a:ext cx="19050" cy="63817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11175" y="8788400"/>
            <a:ext cx="11620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ngẫu nhiên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835025" y="2400300"/>
            <a:ext cx="24098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zero-shot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3378200" y="2409825"/>
            <a:ext cx="6641803" cy="247650"/>
          </a:xfrm>
          <a:prstGeom prst="roundRect">
            <a:avLst>
              <a:gd name="adj" fmla="val 19231"/>
            </a:avLst>
          </a:prstGeom>
          <a:solidFill>
            <a:srgbClr val="16242A">
              <a:alpha val="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78200" y="2409825"/>
            <a:ext cx="1281807" cy="247650"/>
          </a:xfrm>
          <a:prstGeom prst="roundRect">
            <a:avLst>
              <a:gd name="adj" fmla="val 19231"/>
            </a:avLst>
          </a:prstGeom>
          <a:solidFill>
            <a:srgbClr val="2E7CA6"/>
          </a:solidFill>
          <a:ln/>
        </p:spPr>
      </p:sp>
      <p:sp>
        <p:nvSpPr>
          <p:cNvPr id="11" name="Text 9"/>
          <p:cNvSpPr/>
          <p:nvPr/>
        </p:nvSpPr>
        <p:spPr>
          <a:xfrm>
            <a:off x="4736207" y="2428875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0.487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5025" y="2771775"/>
            <a:ext cx="24098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Ngẫu nhiên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3378200" y="2781300"/>
            <a:ext cx="6641803" cy="247650"/>
          </a:xfrm>
          <a:prstGeom prst="roundRect">
            <a:avLst>
              <a:gd name="adj" fmla="val 19231"/>
            </a:avLst>
          </a:prstGeom>
          <a:solidFill>
            <a:srgbClr val="16242A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378200" y="2781300"/>
            <a:ext cx="1374775" cy="247650"/>
          </a:xfrm>
          <a:prstGeom prst="roundRect">
            <a:avLst>
              <a:gd name="adj" fmla="val 19231"/>
            </a:avLst>
          </a:prstGeom>
          <a:solidFill>
            <a:srgbClr val="2E7CA6"/>
          </a:solidFill>
          <a:ln/>
        </p:spPr>
      </p:sp>
      <p:sp>
        <p:nvSpPr>
          <p:cNvPr id="15" name="Text 13"/>
          <p:cNvSpPr/>
          <p:nvPr/>
        </p:nvSpPr>
        <p:spPr>
          <a:xfrm>
            <a:off x="4829175" y="2800350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0.493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5025" y="3143250"/>
            <a:ext cx="24098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(đồ thị)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3378200" y="3152775"/>
            <a:ext cx="6641803" cy="247650"/>
          </a:xfrm>
          <a:prstGeom prst="roundRect">
            <a:avLst>
              <a:gd name="adj" fmla="val 19231"/>
            </a:avLst>
          </a:prstGeom>
          <a:solidFill>
            <a:srgbClr val="16242A">
              <a:alpha val="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78200" y="3152775"/>
            <a:ext cx="1965920" cy="247650"/>
          </a:xfrm>
          <a:prstGeom prst="roundRect">
            <a:avLst>
              <a:gd name="adj" fmla="val 19231"/>
            </a:avLst>
          </a:prstGeom>
          <a:solidFill>
            <a:srgbClr val="2E7CA6"/>
          </a:solidFill>
          <a:ln/>
        </p:spPr>
      </p:sp>
      <p:sp>
        <p:nvSpPr>
          <p:cNvPr id="19" name="Text 17"/>
          <p:cNvSpPr/>
          <p:nvPr/>
        </p:nvSpPr>
        <p:spPr>
          <a:xfrm>
            <a:off x="5420320" y="3171825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025" y="3514725"/>
            <a:ext cx="24098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ResNet-50 (ảnh)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3378200" y="3524250"/>
            <a:ext cx="6641803" cy="247650"/>
          </a:xfrm>
          <a:prstGeom prst="roundRect">
            <a:avLst>
              <a:gd name="adj" fmla="val 19231"/>
            </a:avLst>
          </a:prstGeom>
          <a:solidFill>
            <a:srgbClr val="16242A">
              <a:alpha val="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378200" y="3524250"/>
            <a:ext cx="2537123" cy="247650"/>
          </a:xfrm>
          <a:prstGeom prst="roundRect">
            <a:avLst>
              <a:gd name="adj" fmla="val 19231"/>
            </a:avLst>
          </a:prstGeom>
          <a:solidFill>
            <a:srgbClr val="2E7CA6"/>
          </a:solidFill>
          <a:ln/>
        </p:spPr>
      </p:sp>
      <p:sp>
        <p:nvSpPr>
          <p:cNvPr id="23" name="Text 21"/>
          <p:cNvSpPr/>
          <p:nvPr/>
        </p:nvSpPr>
        <p:spPr>
          <a:xfrm>
            <a:off x="5991523" y="3543300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0.572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7900" y="3886200"/>
            <a:ext cx="22669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SO-SDC-Prioritizer (GA)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3378200" y="4029075"/>
            <a:ext cx="6641803" cy="247650"/>
          </a:xfrm>
          <a:prstGeom prst="roundRect">
            <a:avLst>
              <a:gd name="adj" fmla="val 19231"/>
            </a:avLst>
          </a:prstGeom>
          <a:solidFill>
            <a:srgbClr val="16242A">
              <a:alpha val="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378200" y="4029075"/>
            <a:ext cx="5386487" cy="247650"/>
          </a:xfrm>
          <a:prstGeom prst="roundRect">
            <a:avLst>
              <a:gd name="adj" fmla="val 19231"/>
            </a:avLst>
          </a:prstGeom>
          <a:solidFill>
            <a:srgbClr val="2E7CA6"/>
          </a:solidFill>
          <a:ln/>
        </p:spPr>
      </p:sp>
      <p:sp>
        <p:nvSpPr>
          <p:cNvPr id="27" name="Text 25"/>
          <p:cNvSpPr/>
          <p:nvPr/>
        </p:nvSpPr>
        <p:spPr>
          <a:xfrm>
            <a:off x="8840887" y="4048125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5025" y="4524375"/>
            <a:ext cx="24098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ITS4SDC (ICST'25)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3378200" y="4533900"/>
            <a:ext cx="6641803" cy="247650"/>
          </a:xfrm>
          <a:prstGeom prst="roundRect">
            <a:avLst>
              <a:gd name="adj" fmla="val 19231"/>
            </a:avLst>
          </a:prstGeom>
          <a:solidFill>
            <a:srgbClr val="16242A">
              <a:alpha val="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78200" y="4533900"/>
            <a:ext cx="5625604" cy="247650"/>
          </a:xfrm>
          <a:prstGeom prst="roundRect">
            <a:avLst>
              <a:gd name="adj" fmla="val 19231"/>
            </a:avLst>
          </a:prstGeom>
          <a:solidFill>
            <a:srgbClr val="2E7CA6"/>
          </a:solidFill>
          <a:ln/>
        </p:spPr>
      </p:sp>
      <p:sp>
        <p:nvSpPr>
          <p:cNvPr id="31" name="Text 29"/>
          <p:cNvSpPr/>
          <p:nvPr/>
        </p:nvSpPr>
        <p:spPr>
          <a:xfrm>
            <a:off x="9080004" y="4552950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025" y="4895850"/>
            <a:ext cx="24098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Greedy-diversity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3378200" y="4905375"/>
            <a:ext cx="6641803" cy="247650"/>
          </a:xfrm>
          <a:prstGeom prst="roundRect">
            <a:avLst>
              <a:gd name="adj" fmla="val 19231"/>
            </a:avLst>
          </a:prstGeom>
          <a:solidFill>
            <a:srgbClr val="16242A">
              <a:alpha val="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378200" y="4905375"/>
            <a:ext cx="5831483" cy="247650"/>
          </a:xfrm>
          <a:prstGeom prst="roundRect">
            <a:avLst>
              <a:gd name="adj" fmla="val 19231"/>
            </a:avLst>
          </a:prstGeom>
          <a:solidFill>
            <a:srgbClr val="2E7CA6"/>
          </a:solidFill>
          <a:ln/>
        </p:spPr>
      </p:sp>
      <p:sp>
        <p:nvSpPr>
          <p:cNvPr id="35" name="Text 33"/>
          <p:cNvSpPr/>
          <p:nvPr/>
        </p:nvSpPr>
        <p:spPr>
          <a:xfrm>
            <a:off x="9285883" y="4924425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5025" y="5267325"/>
            <a:ext cx="24098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RoadFury (nền tảng)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3378200" y="5276850"/>
            <a:ext cx="6641803" cy="247650"/>
          </a:xfrm>
          <a:prstGeom prst="roundRect">
            <a:avLst>
              <a:gd name="adj" fmla="val 19231"/>
            </a:avLst>
          </a:prstGeom>
          <a:solidFill>
            <a:srgbClr val="16242A">
              <a:alpha val="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378200" y="5276850"/>
            <a:ext cx="5964337" cy="247650"/>
          </a:xfrm>
          <a:prstGeom prst="roundRect">
            <a:avLst>
              <a:gd name="adj" fmla="val 19231"/>
            </a:avLst>
          </a:prstGeom>
          <a:solidFill>
            <a:srgbClr val="2E7CA6"/>
          </a:solidFill>
          <a:ln/>
        </p:spPr>
      </p:sp>
      <p:sp>
        <p:nvSpPr>
          <p:cNvPr id="39" name="Text 37"/>
          <p:cNvSpPr/>
          <p:nvPr/>
        </p:nvSpPr>
        <p:spPr>
          <a:xfrm>
            <a:off x="9418737" y="5295900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0.804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77900" y="5638800"/>
            <a:ext cx="226695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SE2RoadNet (của nhóm)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3378200" y="5737225"/>
            <a:ext cx="6641803" cy="285750"/>
          </a:xfrm>
          <a:prstGeom prst="roundRect">
            <a:avLst>
              <a:gd name="adj" fmla="val 16667"/>
            </a:avLst>
          </a:prstGeom>
          <a:solidFill>
            <a:srgbClr val="E0772B">
              <a:alpha val="1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378200" y="5737225"/>
            <a:ext cx="5977533" cy="285750"/>
          </a:xfrm>
          <a:prstGeom prst="roundRect">
            <a:avLst>
              <a:gd name="adj" fmla="val 16667"/>
            </a:avLst>
          </a:prstGeom>
          <a:solidFill>
            <a:srgbClr val="E0772B"/>
          </a:solidFill>
          <a:ln/>
        </p:spPr>
      </p:sp>
      <p:sp>
        <p:nvSpPr>
          <p:cNvPr id="43" name="Text 41"/>
          <p:cNvSpPr/>
          <p:nvPr/>
        </p:nvSpPr>
        <p:spPr>
          <a:xfrm>
            <a:off x="9431933" y="5765800"/>
            <a:ext cx="711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0.805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0597853" y="1701800"/>
            <a:ext cx="6928148" cy="1727200"/>
          </a:xfrm>
          <a:prstGeom prst="roundRect">
            <a:avLst>
              <a:gd name="adj" fmla="val 7721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604203" y="1708150"/>
            <a:ext cx="6915448" cy="527050"/>
          </a:xfrm>
          <a:prstGeom prst="rect">
            <a:avLst/>
          </a:prstGeom>
          <a:solidFill>
            <a:srgbClr val="23373B"/>
          </a:solidFill>
          <a:ln/>
        </p:spPr>
      </p:sp>
      <p:sp>
        <p:nvSpPr>
          <p:cNvPr id="46" name="Text 44"/>
          <p:cNvSpPr/>
          <p:nvPr/>
        </p:nvSpPr>
        <p:spPr>
          <a:xfrm>
            <a:off x="10813753" y="1841500"/>
            <a:ext cx="273352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Phương pháp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13741202" y="1841500"/>
            <a:ext cx="172729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15620901" y="1841500"/>
            <a:ext cx="172729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APFD</a:t>
            </a:r>
            <a:endParaRPr lang="en-US" sz="1575" dirty="0"/>
          </a:p>
        </p:txBody>
      </p:sp>
      <p:sp>
        <p:nvSpPr>
          <p:cNvPr id="49" name="Shape 47"/>
          <p:cNvSpPr/>
          <p:nvPr/>
        </p:nvSpPr>
        <p:spPr>
          <a:xfrm>
            <a:off x="10604203" y="2844800"/>
            <a:ext cx="6915448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813753" y="2387600"/>
            <a:ext cx="27335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RoadFury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3741202" y="2387600"/>
            <a:ext cx="17272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0.917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5620901" y="2387600"/>
            <a:ext cx="17272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0.804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0604203" y="2851150"/>
            <a:ext cx="6915448" cy="571500"/>
          </a:xfrm>
          <a:prstGeom prst="rect">
            <a:avLst/>
          </a:prstGeom>
          <a:solidFill>
            <a:srgbClr val="E0772B">
              <a:alpha val="1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604203" y="2851150"/>
            <a:ext cx="44450" cy="57150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55" name="Text 53"/>
          <p:cNvSpPr/>
          <p:nvPr/>
        </p:nvSpPr>
        <p:spPr>
          <a:xfrm>
            <a:off x="10858202" y="3003550"/>
            <a:ext cx="27131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SE2RoadNet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3765907" y="3003550"/>
            <a:ext cx="17148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0.934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5633204" y="3003550"/>
            <a:ext cx="17148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0.805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0597853" y="3600450"/>
            <a:ext cx="6928148" cy="5183684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604203" y="3606800"/>
            <a:ext cx="6915448" cy="762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60" name="Text 58"/>
          <p:cNvSpPr/>
          <p:nvPr/>
        </p:nvSpPr>
        <p:spPr>
          <a:xfrm>
            <a:off x="10870903" y="5470327"/>
            <a:ext cx="702025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bảng</a:t>
            </a:r>
            <a:endParaRPr lang="en-US" sz="1950" dirty="0"/>
          </a:p>
        </p:txBody>
      </p:sp>
      <p:sp>
        <p:nvSpPr>
          <p:cNvPr id="61" name="Text 59"/>
          <p:cNvSpPr/>
          <p:nvPr/>
        </p:nvSpPr>
        <p:spPr>
          <a:xfrm>
            <a:off x="10870903" y="5864027"/>
            <a:ext cx="6573509" cy="11644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SE2RoadNet </a:t>
            </a:r>
            <a:pPr algn="l" indent="0" marL="0">
              <a:lnSpc>
                <a:spcPct val="155000"/>
              </a:lnSpc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ngang APFD </a:t>
            </a:r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tốt nhất, nhưng </a:t>
            </a:r>
            <a:pPr algn="l" indent="0" marL="0">
              <a:lnSpc>
                <a:spcPct val="155000"/>
              </a:lnSpc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AUC </a:t>
            </a:r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(+0.017) và </a:t>
            </a:r>
            <a:pPr algn="l" indent="0" marL="0">
              <a:lnSpc>
                <a:spcPct val="155000"/>
              </a:lnSpc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bảo chứng </a:t>
            </a:r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Δ=0 mà không method nào có ⇒ cải thiện theo nghĩa </a:t>
            </a:r>
            <a:pPr algn="l" indent="0" marL="0">
              <a:lnSpc>
                <a:spcPct val="155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</a:t>
            </a:r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62" name="Text 60"/>
          <p:cNvSpPr/>
          <p:nvPr/>
        </p:nvSpPr>
        <p:spPr>
          <a:xfrm>
            <a:off x="10597853" y="8955584"/>
            <a:ext cx="7620963" cy="32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i="1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zero-shot &amp; Greedy-diversity: baseline nhóm tái lập trong cùng harness.</a:t>
            </a:r>
            <a:endParaRPr lang="en-US" sz="1575" dirty="0"/>
          </a:p>
        </p:txBody>
      </p:sp>
      <p:sp>
        <p:nvSpPr>
          <p:cNvPr id="63" name="Shape 61"/>
          <p:cNvSpPr/>
          <p:nvPr/>
        </p:nvSpPr>
        <p:spPr>
          <a:xfrm>
            <a:off x="762000" y="93789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10540" y="9537700"/>
            <a:ext cx="1726692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đánh đổi: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APFD đỉnh, tăng AUC, và là phương pháp duy nhất bất biến SE(2) tuyệt đối.</a:t>
            </a:r>
            <a:endParaRPr lang="en-US" sz="1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ĐÁNH GIÁ · 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vs APFD: vì sao tách bạch?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701800"/>
            <a:ext cx="8248650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350" y="1708150"/>
            <a:ext cx="8235950" cy="762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6" name="Text 4"/>
          <p:cNvSpPr/>
          <p:nvPr/>
        </p:nvSpPr>
        <p:spPr>
          <a:xfrm>
            <a:off x="1054100" y="2012950"/>
            <a:ext cx="7911529" cy="815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2C3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</a:t>
            </a:r>
            <a:pPr algn="l" indent="0" marL="0">
              <a:lnSpc>
                <a:spcPct val="150000"/>
              </a:lnSpc>
              <a:buNone/>
            </a:pPr>
            <a:r>
              <a:rPr lang="en-US" sz="202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 năng phân loại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trên </a:t>
            </a:r>
            <a:pPr algn="l" indent="0" marL="0">
              <a:lnSpc>
                <a:spcPct val="150000"/>
              </a:lnSpc>
              <a:buNone/>
            </a:pPr>
            <a:r>
              <a:rPr lang="en-US" sz="202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từng cặp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không quan tâm thứ hạng tuyệt đối.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277350" y="1701800"/>
            <a:ext cx="8248650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3700" y="1708150"/>
            <a:ext cx="8235950" cy="7620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9" name="Text 7"/>
          <p:cNvSpPr/>
          <p:nvPr/>
        </p:nvSpPr>
        <p:spPr>
          <a:xfrm>
            <a:off x="9569450" y="2012950"/>
            <a:ext cx="7911529" cy="815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APFD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</a:t>
            </a:r>
            <a:pPr algn="l" indent="0" marL="0">
              <a:lnSpc>
                <a:spcPct val="150000"/>
              </a:lnSpc>
              <a:buNone/>
            </a:pPr>
            <a:r>
              <a:rPr lang="en-US" sz="202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tốc độ lộ lỗi theo thứ tự chạy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chính là cái Competition tối ưu.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762000" y="5233988"/>
            <a:ext cx="3238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62050" y="5233988"/>
            <a:ext cx="9265232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gần như mọi thí nghiệm của nhóm, AUC và APFD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kỳ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tăng AUC không đảm bảo tăng APFD.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2000" y="6249988"/>
            <a:ext cx="3238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62050" y="6249988"/>
            <a:ext cx="972934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SE2RoadNet tăng AUC (0.917 → 0.934) trong khi APFD giữ đỉnh (~0.805).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2000" y="6888163"/>
            <a:ext cx="29557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33773" y="6888163"/>
            <a:ext cx="9340583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báo cáo phải nói rõ </a:t>
            </a:r>
            <a:pPr algn="l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nào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được tối ưu cho tình huống nào.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62221" y="3254375"/>
            <a:ext cx="7063780" cy="5991225"/>
          </a:xfrm>
          <a:prstGeom prst="roundRect">
            <a:avLst>
              <a:gd name="adj" fmla="val 2226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54320" y="3489325"/>
            <a:ext cx="712753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SE2ROADNET · CÙNG 1 MÔ HÌNH</a:t>
            </a:r>
            <a:endParaRPr lang="en-US" sz="16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54320" y="3902075"/>
            <a:ext cx="6479580" cy="484187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430341" y="8743950"/>
            <a:ext cx="71275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tăng, APFD gần như phẳng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762000" y="93789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10540" y="9537700"/>
            <a:ext cx="1726692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gộp AUC và APFD thành "một điểm tốt hơn" — chúng đo hai thứ khác nhau.</a:t>
            </a:r>
            <a:endParaRPr lang="en-US" sz="1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76509" y="2000250"/>
            <a:ext cx="718887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spc="-1800" kern="0" dirty="0">
                <a:solidFill>
                  <a:srgbClr val="FFFFFF">
                    <a:alpha val="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4600" y="2762250"/>
            <a:ext cx="7239000" cy="476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33400"/>
            <a:ext cx="35529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ROADFURY → SE2ROADNET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6293405" y="533400"/>
            <a:ext cx="11563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05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439319"/>
            <a:ext cx="1810512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37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PHẦN 05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914400" y="3985419"/>
            <a:ext cx="16952976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50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&amp; Hướng phát triển</a:t>
            </a:r>
            <a:endParaRPr lang="en-US" sz="6600" dirty="0"/>
          </a:p>
        </p:txBody>
      </p:sp>
      <p:sp>
        <p:nvSpPr>
          <p:cNvPr id="9" name="Shape 6"/>
          <p:cNvSpPr/>
          <p:nvPr/>
        </p:nvSpPr>
        <p:spPr>
          <a:xfrm>
            <a:off x="914400" y="6023769"/>
            <a:ext cx="1143000" cy="47625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433344"/>
            <a:ext cx="12049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DAE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nhìn thẳng điểm yếu · bốn hướng mở rộng</a:t>
            </a:r>
            <a:endParaRPr lang="en-US" sz="2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HẠN CHẾ · 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chế: nhìn thẳng vào điểm yếu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701800"/>
            <a:ext cx="8248650" cy="3597275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350" y="1708150"/>
            <a:ext cx="8235950" cy="76200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2032000"/>
            <a:ext cx="834707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Về chỉ số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92200" y="2533650"/>
            <a:ext cx="7815898" cy="75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và APFD phân kỳ: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cao hơn không kéo theo APFD cao hơn — phải lập luận cẩn thận metric nào quan trọng khi nào.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092200" y="3425825"/>
            <a:ext cx="7815898" cy="75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Listwise loss chưa tăng APFD trung bình: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giảm σ ⇒ đóng góp 'ổn định', không phải headline.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092200" y="4318000"/>
            <a:ext cx="7815898" cy="765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APFD ở bench FAIL cao: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95% FAIL ⇒ APFD ~ 0.52 là </a:t>
            </a:r>
            <a:pPr algn="l" indent="0" marL="0">
              <a:lnSpc>
                <a:spcPct val="150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không phải thất bại.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77350" y="1701800"/>
            <a:ext cx="8248650" cy="3597275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83700" y="1708150"/>
            <a:ext cx="8235950" cy="76200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7550" y="2032000"/>
            <a:ext cx="834707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Về phương pháp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607550" y="2533650"/>
            <a:ext cx="7815898" cy="75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an toàn còn dở: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valid-nhưng-vô nghĩa, v2 informative-nhưng-invalid; cần v3 mới ship.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607550" y="3425825"/>
            <a:ext cx="7815898" cy="75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phân phối chưa đóng: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IRM / TENT chưa thu hẹp gap SensoDat→Competition (negative đã biết).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607550" y="4318000"/>
            <a:ext cx="7815898" cy="765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biến lấy mẫu là xấp xỉ: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probe Δ ~ 0.0012 (rất nhỏ) — chưa </a:t>
            </a:r>
            <a:pPr algn="l" indent="0" marL="0">
              <a:lnSpc>
                <a:spcPct val="150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 phép xoay.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762000" y="5527675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10540" y="5686425"/>
            <a:ext cx="1726692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biến xoay là </a:t>
            </a:r>
            <a:pPr algn="ctr" indent="0" marL="0">
              <a:buNone/>
            </a:pPr>
            <a:r>
              <a:rPr lang="en-US" sz="1950" i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các đảm bảo khác (resolution, conformal) vẫn đang hoàn thiện — báo cáo trung thực thay vì giấu.</a:t>
            </a:r>
            <a:endParaRPr lang="en-US" sz="1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HƯỚNG PHÁT TRIỂN · 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701800"/>
            <a:ext cx="8258175" cy="3648075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350" y="1708150"/>
            <a:ext cx="8245475" cy="762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6" name="Text 4"/>
          <p:cNvSpPr/>
          <p:nvPr/>
        </p:nvSpPr>
        <p:spPr>
          <a:xfrm>
            <a:off x="8148836" y="1765300"/>
            <a:ext cx="6935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dirty="0">
                <a:solidFill>
                  <a:srgbClr val="E0772B">
                    <a:alpha val="1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100" dirty="0"/>
          </a:p>
        </p:txBody>
      </p:sp>
      <p:sp>
        <p:nvSpPr>
          <p:cNvPr id="7" name="Text 5"/>
          <p:cNvSpPr/>
          <p:nvPr/>
        </p:nvSpPr>
        <p:spPr>
          <a:xfrm>
            <a:off x="1092200" y="2051050"/>
            <a:ext cx="835755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3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quát hóa đa benchmark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92200" y="2514600"/>
            <a:ext cx="7825708" cy="80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công thức, 8+ benchmark công khai (OOB, SDC-Scissor, sdc-travel...) — APFD không tinh chỉnh theo từng bench.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267825" y="1701800"/>
            <a:ext cx="8258175" cy="3648075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74175" y="1708150"/>
            <a:ext cx="8245475" cy="762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16654661" y="1765300"/>
            <a:ext cx="6935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dirty="0">
                <a:solidFill>
                  <a:srgbClr val="E0772B">
                    <a:alpha val="1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100" dirty="0"/>
          </a:p>
        </p:txBody>
      </p:sp>
      <p:sp>
        <p:nvSpPr>
          <p:cNvPr id="12" name="Text 10"/>
          <p:cNvSpPr/>
          <p:nvPr/>
        </p:nvSpPr>
        <p:spPr>
          <a:xfrm>
            <a:off x="9598025" y="2051050"/>
            <a:ext cx="835755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toàn có bảo chứng (Conformal v3)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98025" y="2514600"/>
            <a:ext cx="7825708" cy="812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Chặn dưới prefix-APFD vừa </a:t>
            </a:r>
            <a:pPr algn="l" indent="0" marL="0">
              <a:lnSpc>
                <a:spcPct val="155000"/>
              </a:lnSpc>
              <a:buNone/>
            </a:pPr>
            <a:r>
              <a:rPr lang="en-US" sz="1950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vừa </a:t>
            </a:r>
            <a:pPr algn="l" indent="0" marL="0">
              <a:lnSpc>
                <a:spcPct val="155000"/>
              </a:lnSpc>
              <a:buNone/>
            </a:pPr>
            <a:r>
              <a:rPr lang="en-US" sz="1950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non-vacuous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audit tỉ lệ vi phạm độ cong.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2000" y="5597525"/>
            <a:ext cx="8258175" cy="3648075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350" y="5603875"/>
            <a:ext cx="8245475" cy="76200"/>
          </a:xfrm>
          <a:prstGeom prst="rect">
            <a:avLst/>
          </a:prstGeom>
          <a:solidFill>
            <a:srgbClr val="2E7CA6"/>
          </a:solidFill>
          <a:ln/>
        </p:spPr>
      </p:sp>
      <p:sp>
        <p:nvSpPr>
          <p:cNvPr id="16" name="Text 14"/>
          <p:cNvSpPr/>
          <p:nvPr/>
        </p:nvSpPr>
        <p:spPr>
          <a:xfrm>
            <a:off x="8148836" y="5661025"/>
            <a:ext cx="6935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dirty="0">
                <a:solidFill>
                  <a:srgbClr val="E0772B">
                    <a:alpha val="1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100" dirty="0"/>
          </a:p>
        </p:txBody>
      </p:sp>
      <p:sp>
        <p:nvSpPr>
          <p:cNvPr id="17" name="Text 15"/>
          <p:cNvSpPr/>
          <p:nvPr/>
        </p:nvSpPr>
        <p:spPr>
          <a:xfrm>
            <a:off x="1092200" y="5946775"/>
            <a:ext cx="835755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biến lấy mẫu </a:t>
            </a:r>
            <a:pPr algn="l" indent="0" marL="0">
              <a:buNone/>
            </a:pPr>
            <a:r>
              <a:rPr lang="en-US" sz="2250" b="1" i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92200" y="6410325"/>
            <a:ext cx="7825708" cy="80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RoPE-1D trên s_norm thay RFF bias ⇒ rẻ hơn và tiến tới resolution-Δ = 0.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67825" y="5597525"/>
            <a:ext cx="8258175" cy="3648075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74175" y="5603875"/>
            <a:ext cx="8245475" cy="76200"/>
          </a:xfrm>
          <a:prstGeom prst="rect">
            <a:avLst/>
          </a:prstGeom>
          <a:solidFill>
            <a:srgbClr val="C5A33F"/>
          </a:solidFill>
          <a:ln/>
        </p:spPr>
      </p:sp>
      <p:sp>
        <p:nvSpPr>
          <p:cNvPr id="21" name="Text 19"/>
          <p:cNvSpPr/>
          <p:nvPr/>
        </p:nvSpPr>
        <p:spPr>
          <a:xfrm>
            <a:off x="16654661" y="5661025"/>
            <a:ext cx="6935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dirty="0">
                <a:solidFill>
                  <a:srgbClr val="E0772B">
                    <a:alpha val="1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100" dirty="0"/>
          </a:p>
        </p:txBody>
      </p:sp>
      <p:sp>
        <p:nvSpPr>
          <p:cNvPr id="22" name="Text 20"/>
          <p:cNvSpPr/>
          <p:nvPr/>
        </p:nvSpPr>
        <p:spPr>
          <a:xfrm>
            <a:off x="9598025" y="5946775"/>
            <a:ext cx="835755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5A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vật lý (physics-informed)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598025" y="6410325"/>
            <a:ext cx="7825708" cy="80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Pretext task gắn với độ cong/jerk để học biểu diễn nền — thay SSL hình học ngây thơ (chuyển kém).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762000" y="93789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10540" y="9537700"/>
            <a:ext cx="1726692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một baseline bất biến cho SDC → </a:t>
            </a:r>
            <a:pPr algn="ctr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thức chung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biến &amp; audit-readable cho mọi benchmark.</a:t>
            </a:r>
            <a:endParaRPr lang="en-US" sz="1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THAM KHẢO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334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tham khảo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762000" y="1758950"/>
            <a:ext cx="8280273" cy="1105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Birchler, C. Rohrbach, T. Kehrer, S. Panichella. </a:t>
            </a:r>
            <a:pPr algn="l" indent="0" marL="0">
              <a:lnSpc>
                <a:spcPct val="145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SensoDat: Simulation-based Sensor Dataset of Self-driving Cars.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MSR, 2024.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(nguồn dữ liệu)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62000" y="3036094"/>
            <a:ext cx="8280273" cy="111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Birchler, S. Khatiri, B. Bosshard, A. Gambi, S. Panichella. </a:t>
            </a:r>
            <a:pPr algn="l" indent="0" marL="0">
              <a:lnSpc>
                <a:spcPct val="145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and Multi-objective Test Cases Prioritization for Self-driving Cars in Virtual Environments.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 TOSEM, 2023.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62000" y="4319588"/>
            <a:ext cx="8280273" cy="760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</a:t>
            </a:r>
            <a:pPr algn="l" indent="0" marL="0">
              <a:lnSpc>
                <a:spcPct val="145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ICST/SBFT Tool Competition — Self-Driving Car Testing (Cyber-Physical Systems).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2023–2025.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(giao thức APFD)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62000" y="5251450"/>
            <a:ext cx="8280273" cy="760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Rothermel, R. Untch, C. Chu, M. Harrold. </a:t>
            </a:r>
            <a:pPr algn="l" indent="0" marL="0">
              <a:lnSpc>
                <a:spcPct val="145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Prioritizing Test Cases for Regression Testing.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TSE, 2001.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(định nghĩa APFD)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62000" y="6183313"/>
            <a:ext cx="8843010" cy="408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Vaswani et al. </a:t>
            </a:r>
            <a:pPr algn="l" indent="0" marL="0">
              <a:lnSpc>
                <a:spcPct val="145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NeurIPS, 2017.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9486900" y="1758950"/>
            <a:ext cx="8280273" cy="760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[6]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T.-Y. Lin, P. Goyal, R. Girshick, K. He, P. Dollar. </a:t>
            </a:r>
            <a:pPr algn="l" indent="0" marL="0">
              <a:lnSpc>
                <a:spcPct val="145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Loss for Dense Object Detection.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ICCV, 2017.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486900" y="2690813"/>
            <a:ext cx="8280273" cy="760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[7]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Izmailov et al. </a:t>
            </a:r>
            <a:pPr algn="l" indent="0" marL="0">
              <a:lnSpc>
                <a:spcPct val="145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Weights Leads to Wider Optima and Better Generalization (SWA).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UAI, 2018.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486900" y="3622675"/>
            <a:ext cx="8280273" cy="754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[8]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Cohen, M. Welling. </a:t>
            </a:r>
            <a:pPr algn="l" indent="0" marL="0">
              <a:lnSpc>
                <a:spcPct val="145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Equivariant Convolutional Networks.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ICML, 2016.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(nền tảng bất biến nhóm)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9486900" y="4548188"/>
            <a:ext cx="8280273" cy="760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[9]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Rahimi, B. Recht. </a:t>
            </a:r>
            <a:pPr algn="l" indent="0" marL="0">
              <a:lnSpc>
                <a:spcPct val="145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Features for Large-Scale Kernel Machines (RFF).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NeurIPS, 2007.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486900" y="5480050"/>
            <a:ext cx="8280273" cy="760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[10]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Angelopoulos, S. Bates. </a:t>
            </a:r>
            <a:pPr algn="l" indent="0" marL="0">
              <a:lnSpc>
                <a:spcPct val="145000"/>
              </a:lnSpc>
              <a:buNone/>
            </a:pPr>
            <a:r>
              <a:rPr lang="en-US" sz="1875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Gentle Introduction to Conformal Prediction.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2021.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(hướng an toàn)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762000" y="944880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0540" y="9588500"/>
            <a:ext cx="1726692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RoadFury &amp; SE2RoadNet là phương pháp của nhóm; các baseline khác được tái lập trong cùng harness.</a:t>
            </a:r>
            <a:endParaRPr lang="en-US" sz="17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66702" y="6858000"/>
            <a:ext cx="5392530" cy="499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0" dirty="0">
                <a:solidFill>
                  <a:srgbClr val="E0772B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39000" dirty="0"/>
          </a:p>
        </p:txBody>
      </p:sp>
      <p:sp>
        <p:nvSpPr>
          <p:cNvPr id="3" name="Text 1"/>
          <p:cNvSpPr/>
          <p:nvPr/>
        </p:nvSpPr>
        <p:spPr>
          <a:xfrm>
            <a:off x="6823671" y="1558925"/>
            <a:ext cx="51047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 TRÌNH BÀY (METHOD 60%)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524250" y="2187575"/>
            <a:ext cx="11239500" cy="4953000"/>
          </a:xfrm>
          <a:prstGeom prst="roundRect">
            <a:avLst>
              <a:gd name="adj" fmla="val 3462"/>
            </a:avLst>
          </a:prstGeom>
          <a:solidFill>
            <a:srgbClr val="16242A"/>
          </a:solidFill>
          <a:ln w="25400">
            <a:solidFill>
              <a:srgbClr val="E0772B"/>
            </a:solidFill>
            <a:prstDash val="solid"/>
          </a:ln>
          <a:effectLst>
            <a:outerShdw sx="100000" sy="100000" kx="0" ky="0" algn="bl" rotWithShape="0" blurRad="457200" dist="171450" dir="5400000">
              <a:srgbClr val="16242A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34400" y="3463925"/>
            <a:ext cx="1219200" cy="1219200"/>
          </a:xfrm>
          <a:prstGeom prst="ellipse">
            <a:avLst/>
          </a:prstGeom>
          <a:solidFill>
            <a:srgbClr val="E0772B"/>
          </a:solidFill>
          <a:ln/>
          <a:effectLst>
            <a:outerShdw sx="100000" sy="100000" kx="0" ky="0" algn="bl" rotWithShape="0" blurRad="247650" dist="762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43975" y="3749675"/>
            <a:ext cx="533400" cy="647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772275" y="4930775"/>
            <a:ext cx="521779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5" kern="0" dirty="0">
                <a:solidFill>
                  <a:srgbClr val="F6F4E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thumbnail sẽ được thay sau ]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777038" y="5508625"/>
            <a:ext cx="520731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75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RoadFury → SE2RoadNet · demo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749032" y="7464425"/>
            <a:ext cx="3757910" cy="647700"/>
          </a:xfrm>
          <a:prstGeom prst="roundRect">
            <a:avLst>
              <a:gd name="adj" fmla="val 17647"/>
            </a:avLst>
          </a:prstGeom>
          <a:solidFill>
            <a:srgbClr val="E0772B"/>
          </a:solidFill>
          <a:ln/>
          <a:effectLst>
            <a:outerShdw sx="100000" sy="100000" kx="0" ky="0" algn="bl" rotWithShape="0" blurRad="209550" dist="76200" dir="5400000">
              <a:srgbClr val="E0772B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91932" y="7648575"/>
            <a:ext cx="32137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451402" y="7635875"/>
            <a:ext cx="279402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trên Google Drive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773643" y="7464425"/>
            <a:ext cx="2765227" cy="647700"/>
          </a:xfrm>
          <a:prstGeom prst="roundRect">
            <a:avLst>
              <a:gd name="adj" fmla="val 17647"/>
            </a:avLst>
          </a:prstGeom>
          <a:ln w="19050">
            <a:solidFill>
              <a:srgbClr val="2337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16543" y="7648575"/>
            <a:ext cx="32137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6012" y="7635875"/>
            <a:ext cx="1796158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Facebook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208940" y="8435975"/>
            <a:ext cx="787002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Thay ảnh thumbnail thật vào đây trước khi nộp; link đã chèn sẵn.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20500" y="5143500"/>
            <a:ext cx="7962900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E0772B">
                    <a:alpha val="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6318136" y="3533775"/>
            <a:ext cx="56516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UNIVERSITY OF SCIENCE · VNU-HCM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979412" y="4162425"/>
            <a:ext cx="83291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00" b="1" spc="-150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đã lắng nghe!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8572500" y="5267325"/>
            <a:ext cx="1143000" cy="3810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6" name="Text 4"/>
          <p:cNvSpPr/>
          <p:nvPr/>
        </p:nvSpPr>
        <p:spPr>
          <a:xfrm>
            <a:off x="6471146" y="5610225"/>
            <a:ext cx="5345708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C3C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— Questions &amp; Discussion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8985250"/>
            <a:ext cx="16459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9166225"/>
            <a:ext cx="8791714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RoadFury → SE2RoadNet: bất biến SE(2) cho ưu tiên kiểm thử SDC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9572625"/>
            <a:ext cx="8791714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DAE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Chí Nguyên · Huỳnh Trung Kiệt · Đào Sỹ Duy Minh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582900" y="9163050"/>
            <a:ext cx="7810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35300" y="9277350"/>
            <a:ext cx="476250" cy="4762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592550" y="9163050"/>
            <a:ext cx="7810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4950" y="9277350"/>
            <a:ext cx="476250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 · B1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APFD — ví dụ tính tay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762000" y="1682750"/>
            <a:ext cx="1844040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 sử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5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test,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2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FAIL. Hai cách xếp hạng: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2317750"/>
            <a:ext cx="8248650" cy="688975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350" y="2324100"/>
            <a:ext cx="8235950" cy="762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7" name="Text 5"/>
          <p:cNvSpPr/>
          <p:nvPr/>
        </p:nvSpPr>
        <p:spPr>
          <a:xfrm>
            <a:off x="733743" y="4811713"/>
            <a:ext cx="830516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tốt </a:t>
            </a:r>
            <a:pPr algn="ctr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(FAIL ở vị trí 1, 2)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095625" y="5389563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2E7D5B"/>
          </a:solidFill>
          <a:ln/>
        </p:spPr>
      </p:sp>
      <p:sp>
        <p:nvSpPr>
          <p:cNvPr id="9" name="Text 7"/>
          <p:cNvSpPr/>
          <p:nvPr/>
        </p:nvSpPr>
        <p:spPr>
          <a:xfrm>
            <a:off x="3057525" y="5389563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3838575" y="5389563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3800475" y="5389563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581525" y="5389563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EDEAE3"/>
          </a:solidFill>
          <a:ln/>
        </p:spPr>
      </p:sp>
      <p:sp>
        <p:nvSpPr>
          <p:cNvPr id="13" name="Text 11"/>
          <p:cNvSpPr/>
          <p:nvPr/>
        </p:nvSpPr>
        <p:spPr>
          <a:xfrm>
            <a:off x="4543425" y="5389563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324475" y="5389563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EDEAE3"/>
          </a:solidFill>
          <a:ln/>
        </p:spPr>
      </p:sp>
      <p:sp>
        <p:nvSpPr>
          <p:cNvPr id="15" name="Text 13"/>
          <p:cNvSpPr/>
          <p:nvPr/>
        </p:nvSpPr>
        <p:spPr>
          <a:xfrm>
            <a:off x="5286375" y="5389563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6067425" y="5389563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EDEAE3"/>
          </a:solidFill>
          <a:ln/>
        </p:spPr>
      </p:sp>
      <p:sp>
        <p:nvSpPr>
          <p:cNvPr id="17" name="Text 15"/>
          <p:cNvSpPr/>
          <p:nvPr/>
        </p:nvSpPr>
        <p:spPr>
          <a:xfrm>
            <a:off x="6029325" y="5389563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97998" y="6246813"/>
            <a:ext cx="777665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APFD = 1 − (1+2)/(5·2) + 1/10 = </a:t>
            </a:r>
            <a:pPr algn="ctr" indent="0" marL="0">
              <a:lnSpc>
                <a:spcPct val="150000"/>
              </a:lnSpc>
              <a:buNone/>
            </a:pPr>
            <a:r>
              <a:rPr lang="en-US" sz="285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277350" y="2317750"/>
            <a:ext cx="8248650" cy="688975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3700" y="2324100"/>
            <a:ext cx="8235950" cy="76200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21" name="Text 19"/>
          <p:cNvSpPr/>
          <p:nvPr/>
        </p:nvSpPr>
        <p:spPr>
          <a:xfrm>
            <a:off x="9249093" y="4811713"/>
            <a:ext cx="830516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kém </a:t>
            </a:r>
            <a:pPr algn="ctr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(FAIL ở vị trí 4, 5)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1610975" y="5389563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EDEAE3"/>
          </a:solidFill>
          <a:ln/>
        </p:spPr>
      </p:sp>
      <p:sp>
        <p:nvSpPr>
          <p:cNvPr id="23" name="Text 21"/>
          <p:cNvSpPr/>
          <p:nvPr/>
        </p:nvSpPr>
        <p:spPr>
          <a:xfrm>
            <a:off x="11572875" y="5389563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2353925" y="5389563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EDEAE3"/>
          </a:solidFill>
          <a:ln/>
        </p:spPr>
      </p:sp>
      <p:sp>
        <p:nvSpPr>
          <p:cNvPr id="25" name="Text 23"/>
          <p:cNvSpPr/>
          <p:nvPr/>
        </p:nvSpPr>
        <p:spPr>
          <a:xfrm>
            <a:off x="12315825" y="5389563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3096875" y="5389563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EDEAE3"/>
          </a:solidFill>
          <a:ln/>
        </p:spPr>
      </p:sp>
      <p:sp>
        <p:nvSpPr>
          <p:cNvPr id="27" name="Text 25"/>
          <p:cNvSpPr/>
          <p:nvPr/>
        </p:nvSpPr>
        <p:spPr>
          <a:xfrm>
            <a:off x="13058775" y="5389563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3839825" y="5389563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B5483F"/>
          </a:solidFill>
          <a:ln/>
        </p:spPr>
      </p:sp>
      <p:sp>
        <p:nvSpPr>
          <p:cNvPr id="29" name="Text 27"/>
          <p:cNvSpPr/>
          <p:nvPr/>
        </p:nvSpPr>
        <p:spPr>
          <a:xfrm>
            <a:off x="13801725" y="5389563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4582775" y="5389563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B5483F"/>
          </a:solidFill>
          <a:ln/>
        </p:spPr>
      </p:sp>
      <p:sp>
        <p:nvSpPr>
          <p:cNvPr id="31" name="Text 29"/>
          <p:cNvSpPr/>
          <p:nvPr/>
        </p:nvSpPr>
        <p:spPr>
          <a:xfrm>
            <a:off x="14544675" y="5389563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513348" y="6246813"/>
            <a:ext cx="777665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APFD = 1 − (4+5)/(5·2) + 1/10 = </a:t>
            </a:r>
            <a:pPr algn="ctr" indent="0" marL="0">
              <a:lnSpc>
                <a:spcPct val="150000"/>
              </a:lnSpc>
              <a:buNone/>
            </a:pPr>
            <a:r>
              <a:rPr lang="en-US" sz="2850" b="1" dirty="0">
                <a:solidFill>
                  <a:srgbClr val="B54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762000" y="93789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10540" y="9537700"/>
            <a:ext cx="1726692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tập lỗi — chỉ khác </a:t>
            </a:r>
            <a:pPr algn="ctr" indent="0" marL="0">
              <a:buNone/>
            </a:pPr>
            <a:r>
              <a:rPr lang="en-US" sz="1950" i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thứ tự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APFD chênh nhau 4 lần. Đó là toàn bộ giá trị của test prioritization.</a:t>
            </a:r>
            <a:endParaRPr lang="en-US" sz="1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 · B2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Multi-trial protocol (vì sao 30 lần?)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3348435"/>
            <a:ext cx="133350" cy="133350"/>
          </a:xfrm>
          <a:prstGeom prst="ellipse">
            <a:avLst/>
          </a:prstGeom>
          <a:solidFill>
            <a:srgbClr val="2E7CA6"/>
          </a:solidFill>
          <a:ln/>
        </p:spPr>
      </p:sp>
      <p:sp>
        <p:nvSpPr>
          <p:cNvPr id="5" name="Text 3"/>
          <p:cNvSpPr/>
          <p:nvPr/>
        </p:nvSpPr>
        <p:spPr>
          <a:xfrm>
            <a:off x="1085850" y="3243660"/>
            <a:ext cx="11395701" cy="457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APFD single-pass nhạy với </a:t>
            </a:r>
            <a:pPr algn="l" indent="0" marL="0">
              <a:lnSpc>
                <a:spcPct val="155000"/>
              </a:lnSpc>
              <a:buNone/>
            </a:pPr>
            <a:r>
              <a:rPr lang="en-US" sz="2100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thứ tự cố định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của tập test ⇒ một con số dễ “may rủi”.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2000" y="3977680"/>
            <a:ext cx="133350" cy="133350"/>
          </a:xfrm>
          <a:prstGeom prst="ellipse">
            <a:avLst/>
          </a:prstGeom>
          <a:solidFill>
            <a:srgbClr val="2E7CA6"/>
          </a:solidFill>
          <a:ln/>
        </p:spPr>
      </p:sp>
      <p:sp>
        <p:nvSpPr>
          <p:cNvPr id="7" name="Text 5"/>
          <p:cNvSpPr/>
          <p:nvPr/>
        </p:nvSpPr>
        <p:spPr>
          <a:xfrm>
            <a:off x="1085850" y="3872905"/>
            <a:ext cx="11078319" cy="457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trial: lấy ngẫu nhiên max(50, 0.3·|test|) = </a:t>
            </a:r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287/956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test, tính APFD độc lập.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62000" y="4606925"/>
            <a:ext cx="133350" cy="133350"/>
          </a:xfrm>
          <a:prstGeom prst="ellipse">
            <a:avLst/>
          </a:prstGeom>
          <a:solidFill>
            <a:srgbClr val="2E7CA6"/>
          </a:solidFill>
          <a:ln/>
        </p:spPr>
      </p:sp>
      <p:sp>
        <p:nvSpPr>
          <p:cNvPr id="9" name="Text 7"/>
          <p:cNvSpPr/>
          <p:nvPr/>
        </p:nvSpPr>
        <p:spPr>
          <a:xfrm>
            <a:off x="1085850" y="4502150"/>
            <a:ext cx="5957768" cy="457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APFD ± σ qua </a:t>
            </a:r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trials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seed = 42.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62000" y="5236171"/>
            <a:ext cx="133350" cy="133350"/>
          </a:xfrm>
          <a:prstGeom prst="ellipse">
            <a:avLst/>
          </a:prstGeom>
          <a:solidFill>
            <a:srgbClr val="2E7CA6"/>
          </a:solidFill>
          <a:ln/>
        </p:spPr>
      </p:sp>
      <p:sp>
        <p:nvSpPr>
          <p:cNvPr id="11" name="Text 9"/>
          <p:cNvSpPr/>
          <p:nvPr/>
        </p:nvSpPr>
        <p:spPr>
          <a:xfrm>
            <a:off x="1085850" y="5131396"/>
            <a:ext cx="10669369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thường là con số xuất bản quan trọng hơn mean (độ ổn định của ranking).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384528" y="5906691"/>
            <a:ext cx="5518944" cy="1854200"/>
          </a:xfrm>
          <a:prstGeom prst="roundRect">
            <a:avLst>
              <a:gd name="adj" fmla="val 7192"/>
            </a:avLst>
          </a:prstGeom>
          <a:solidFill>
            <a:srgbClr val="E0772B">
              <a:alpha val="10000"/>
            </a:srgbClr>
          </a:solidFill>
          <a:ln w="6350">
            <a:solidFill>
              <a:srgbClr val="E0772B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7531" y="6160691"/>
            <a:ext cx="50929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SE2ROADNET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97531" y="6560741"/>
            <a:ext cx="5092938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233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0.8048 ± 0.0118</a:t>
            </a:r>
            <a:endParaRPr lang="en-US" sz="4050" dirty="0"/>
          </a:p>
        </p:txBody>
      </p:sp>
      <p:sp>
        <p:nvSpPr>
          <p:cNvPr id="15" name="Text 13"/>
          <p:cNvSpPr/>
          <p:nvPr/>
        </p:nvSpPr>
        <p:spPr>
          <a:xfrm>
            <a:off x="6597531" y="7214791"/>
            <a:ext cx="5092938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(mean ± σ, 30 trials)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93789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10540" y="9537700"/>
            <a:ext cx="1726692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trials biến một con số đơn lẻ thành phân phối có σ — độ tin cậy thay vì may rủi.</a:t>
            </a:r>
            <a:endParaRPr lang="en-US" sz="1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 · B3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probe (bất biến lấy mẫu)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4117975"/>
            <a:ext cx="133350" cy="133350"/>
          </a:xfrm>
          <a:prstGeom prst="ellipse">
            <a:avLst/>
          </a:prstGeom>
          <a:solidFill>
            <a:srgbClr val="2E7CA6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4003675"/>
            <a:ext cx="9097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Lấy cùng một con đường, resample ở N ∈ {64,...,197} điểm rồi đánh giá lại.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2000" y="5108575"/>
            <a:ext cx="133350" cy="133350"/>
          </a:xfrm>
          <a:prstGeom prst="ellipse">
            <a:avLst/>
          </a:prstGeom>
          <a:solidFill>
            <a:srgbClr val="2E7CA6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4994275"/>
            <a:ext cx="562663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Δ = max − min APFD qua các mức 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62000" y="5699125"/>
            <a:ext cx="133350" cy="133350"/>
          </a:xfrm>
          <a:prstGeom prst="ellipse">
            <a:avLst/>
          </a:prstGeom>
          <a:solidFill>
            <a:srgbClr val="2E7CA6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5584825"/>
            <a:ext cx="9547949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quả: Δ ~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0.0012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rất nhỏ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nhưng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B54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exact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 phép xoay (Δ=0).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62000" y="6296025"/>
            <a:ext cx="133350" cy="133350"/>
          </a:xfrm>
          <a:prstGeom prst="ellipse">
            <a:avLst/>
          </a:prstGeom>
          <a:solidFill>
            <a:srgbClr val="2E7CA6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6181725"/>
            <a:ext cx="9097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do: bias RFF theo Δs là gần-bất-biến tại tham số hóa, không tuyệt đối ⇒ hướng RoPE-1D.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203756" y="1739900"/>
            <a:ext cx="7322245" cy="7505700"/>
          </a:xfrm>
          <a:prstGeom prst="roundRect">
            <a:avLst>
              <a:gd name="adj" fmla="val 1821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10106" y="1746250"/>
            <a:ext cx="7309545" cy="76200"/>
          </a:xfrm>
          <a:prstGeom prst="rect">
            <a:avLst/>
          </a:prstGeom>
          <a:solidFill>
            <a:srgbClr val="2E7CA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4906" y="2089150"/>
            <a:ext cx="736993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APFD VS N (RESAMPLE)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514906" y="8197850"/>
            <a:ext cx="6699945" cy="19050"/>
          </a:xfrm>
          <a:prstGeom prst="rect">
            <a:avLst/>
          </a:prstGeom>
          <a:solidFill>
            <a:srgbClr val="16242A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061899" y="3014960"/>
            <a:ext cx="438150" cy="4801890"/>
          </a:xfrm>
          <a:prstGeom prst="roundRect">
            <a:avLst>
              <a:gd name="adj" fmla="val 8696"/>
            </a:avLst>
          </a:prstGeom>
          <a:solidFill>
            <a:srgbClr val="2E7CA6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2600" y="2748260"/>
            <a:ext cx="55294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.8060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784535" y="2751138"/>
            <a:ext cx="438150" cy="5065713"/>
          </a:xfrm>
          <a:prstGeom prst="roundRect">
            <a:avLst>
              <a:gd name="adj" fmla="val 8696"/>
            </a:avLst>
          </a:prstGeom>
          <a:solidFill>
            <a:srgbClr val="2E7CA6"/>
          </a:solidFill>
          <a:ln/>
        </p:spPr>
      </p:sp>
      <p:sp>
        <p:nvSpPr>
          <p:cNvPr id="19" name="Text 17"/>
          <p:cNvSpPr/>
          <p:nvPr/>
        </p:nvSpPr>
        <p:spPr>
          <a:xfrm>
            <a:off x="12765237" y="2484438"/>
            <a:ext cx="55294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.8066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4507170" y="2540000"/>
            <a:ext cx="438150" cy="5276850"/>
          </a:xfrm>
          <a:prstGeom prst="roundRect">
            <a:avLst>
              <a:gd name="adj" fmla="val 8696"/>
            </a:avLst>
          </a:prstGeom>
          <a:solidFill>
            <a:srgbClr val="2E7CA6"/>
          </a:solidFill>
          <a:ln/>
        </p:spPr>
      </p:sp>
      <p:sp>
        <p:nvSpPr>
          <p:cNvPr id="21" name="Text 19"/>
          <p:cNvSpPr/>
          <p:nvPr/>
        </p:nvSpPr>
        <p:spPr>
          <a:xfrm>
            <a:off x="14487873" y="2273300"/>
            <a:ext cx="55294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.8072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6229807" y="2698353"/>
            <a:ext cx="438150" cy="5118497"/>
          </a:xfrm>
          <a:prstGeom prst="roundRect">
            <a:avLst>
              <a:gd name="adj" fmla="val 8696"/>
            </a:avLst>
          </a:prstGeom>
          <a:solidFill>
            <a:srgbClr val="2E7CA6"/>
          </a:solidFill>
          <a:ln/>
        </p:spPr>
      </p:sp>
      <p:sp>
        <p:nvSpPr>
          <p:cNvPr id="23" name="Text 21"/>
          <p:cNvSpPr/>
          <p:nvPr/>
        </p:nvSpPr>
        <p:spPr>
          <a:xfrm>
            <a:off x="16210508" y="2431653"/>
            <a:ext cx="55294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.8067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438299" y="8293100"/>
            <a:ext cx="16853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160935" y="8293100"/>
            <a:ext cx="16853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883571" y="8293100"/>
            <a:ext cx="16853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606207" y="8293100"/>
            <a:ext cx="16853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179909" y="8718550"/>
            <a:ext cx="7369939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</a:t>
            </a:r>
            <a:pPr algn="ctr" indent="0" marL="0">
              <a:buNone/>
            </a:pPr>
            <a:r>
              <a:rPr lang="en-US" sz="195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0.0012 </a:t>
            </a:r>
            <a:pPr algn="ctr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(max − min)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762000" y="93789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10540" y="9537700"/>
            <a:ext cx="1726692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Phép xoay: Δ=0 exact (bằng kiến trúc). Lấy mẫu: Δ ~ 0.0012 (gần như, đang tiến tới exact).</a:t>
            </a:r>
            <a:endParaRPr lang="en-US" sz="1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 · B4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ở quy mô lớn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3348435"/>
            <a:ext cx="16764000" cy="927695"/>
          </a:xfrm>
          <a:prstGeom prst="roundRect">
            <a:avLst>
              <a:gd name="adj" fmla="val 1437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4269780"/>
            <a:ext cx="167640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3348435"/>
            <a:ext cx="167640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3348435"/>
            <a:ext cx="76200" cy="927695"/>
          </a:xfrm>
          <a:prstGeom prst="rect">
            <a:avLst/>
          </a:prstGeom>
          <a:solidFill>
            <a:srgbClr val="2E7CA6"/>
          </a:solidFill>
          <a:ln/>
        </p:spPr>
      </p:sp>
      <p:sp>
        <p:nvSpPr>
          <p:cNvPr id="8" name="Shape 6"/>
          <p:cNvSpPr/>
          <p:nvPr/>
        </p:nvSpPr>
        <p:spPr>
          <a:xfrm>
            <a:off x="17519650" y="3348435"/>
            <a:ext cx="9525" cy="92769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0243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676400" y="3602434"/>
            <a:ext cx="11821677" cy="457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Inference: </a:t>
            </a:r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forward pass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/đường, batch (n,7,197) ⇒ chấm cả tập trong vài giây GPU.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62000" y="4485680"/>
            <a:ext cx="16764000" cy="927695"/>
          </a:xfrm>
          <a:prstGeom prst="roundRect">
            <a:avLst>
              <a:gd name="adj" fmla="val 14374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5407025"/>
            <a:ext cx="167640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4485680"/>
            <a:ext cx="167640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4485680"/>
            <a:ext cx="76200" cy="927695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7519650" y="4485680"/>
            <a:ext cx="9525" cy="92769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73968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07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676400" y="4739680"/>
            <a:ext cx="11484977" cy="457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thật nằm ở </a:t>
            </a:r>
            <a:pPr algn="l" indent="0" marL="0">
              <a:lnSpc>
                <a:spcPct val="155000"/>
              </a:lnSpc>
              <a:buNone/>
            </a:pPr>
            <a:r>
              <a:rPr lang="en-US" sz="2100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phỏng vật lý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của các test được chọn — không phải ở scorer.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62000" y="5622925"/>
            <a:ext cx="16764000" cy="927695"/>
          </a:xfrm>
          <a:prstGeom prst="roundRect">
            <a:avLst>
              <a:gd name="adj" fmla="val 14374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6544271"/>
            <a:ext cx="167640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5622925"/>
            <a:ext cx="167640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5622925"/>
            <a:ext cx="76200" cy="927695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2" name="Shape 20"/>
          <p:cNvSpPr/>
          <p:nvPr/>
        </p:nvSpPr>
        <p:spPr>
          <a:xfrm>
            <a:off x="17519650" y="5622925"/>
            <a:ext cx="9525" cy="92769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87692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676400" y="5876925"/>
            <a:ext cx="13031828" cy="457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tốt dồn lỗi lên đầu ⇒ chạy ít kịch bản đầu đã lộ phần lớn lỗi, tiết kiệm </a:t>
            </a:r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giờ CPU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762000" y="6760171"/>
            <a:ext cx="16764000" cy="927695"/>
          </a:xfrm>
          <a:prstGeom prst="roundRect">
            <a:avLst>
              <a:gd name="adj" fmla="val 14374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7681516"/>
            <a:ext cx="167640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6760171"/>
            <a:ext cx="167640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6760171"/>
            <a:ext cx="76200" cy="927695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29" name="Shape 27"/>
          <p:cNvSpPr/>
          <p:nvPr/>
        </p:nvSpPr>
        <p:spPr>
          <a:xfrm>
            <a:off x="17519650" y="6760171"/>
            <a:ext cx="9525" cy="92769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7014171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3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676400" y="7014171"/>
            <a:ext cx="8552151" cy="457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một lần: </a:t>
            </a:r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 phút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(Kaggle), </a:t>
            </a:r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2.11 M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tham số ⇒ tái lập rẻ.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762000" y="941070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10540" y="9569450"/>
            <a:ext cx="1726692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i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best simulation is the one you never run." — scorer rẻ, ngân sách dồn cho các test có khả năng lộ lỗi cao nhất.</a:t>
            </a:r>
            <a:endParaRPr lang="en-US" sz="1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 · B5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1844040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7 kênh là bất biến SE(2)? (chứng minh ngắn)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1701800"/>
            <a:ext cx="8823226" cy="7543800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350" y="1708150"/>
            <a:ext cx="8810526" cy="76200"/>
          </a:xfrm>
          <a:prstGeom prst="rect">
            <a:avLst/>
          </a:prstGeom>
          <a:solidFill>
            <a:srgbClr val="2E7CA6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2051050"/>
            <a:ext cx="897910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luận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92200" y="2533650"/>
            <a:ext cx="8979109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SE(2): biến đổi p → R·p + t (R xoay, t tịnh tiến).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92200" y="3063875"/>
            <a:ext cx="8407711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Chiều dài đoạn Δs = ||p(i+1)-pi||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biến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 trực giao bảo toàn khoảng cách, t triệt tiêu).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92200" y="3965575"/>
            <a:ext cx="8979109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giữa hai vector liên tiếp ⇒ |Δθ|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biến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 bảo toàn góc).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92200" y="4495800"/>
            <a:ext cx="8407711" cy="793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 = Δθ/Δs và các đạo hàm theo s ⇒ hàm của đại lượng bất biến ⇒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biến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92200" y="5403850"/>
            <a:ext cx="8407711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2E7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bỏ sinθ, cosθ, θ (phụ thuộc R) là điều kiện </a:t>
            </a:r>
            <a:pPr algn="l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bất biến tuyệt đối.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851927" y="1701800"/>
            <a:ext cx="7674075" cy="7543800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6350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58276" y="1708150"/>
            <a:ext cx="7661374" cy="762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4026" y="2051050"/>
            <a:ext cx="779886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quả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144026" y="2533650"/>
            <a:ext cx="7089874" cy="933450"/>
          </a:xfrm>
          <a:prstGeom prst="roundRect">
            <a:avLst>
              <a:gd name="adj" fmla="val 10204"/>
            </a:avLst>
          </a:prstGeom>
          <a:solidFill>
            <a:srgbClr val="F0F6F2"/>
          </a:solidFill>
          <a:ln w="6350">
            <a:solidFill>
              <a:srgbClr val="2E7D5B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74291" y="2692400"/>
            <a:ext cx="230544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F(R·R+t) = F(R)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85112" y="3028950"/>
            <a:ext cx="740770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(pixel-identical, 7 kênh)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144026" y="3619500"/>
            <a:ext cx="7302570" cy="75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mọi tầng phía sau (Linear, attention bias theo Δs, pool) chỉ nhận đầu vào bất biến ⇒ </a:t>
            </a:r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bất biến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C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4026" y="5875338"/>
            <a:ext cx="7089874" cy="17145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62000" y="93789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10540" y="9537700"/>
            <a:ext cx="1726692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biến </a:t>
            </a:r>
            <a:pPr algn="ctr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bằng kiến trúc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đảm bảo bởi xây dựng, không phụ thuộc dữ liệu hay augmentation.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2026-06-24T13:40:48Z</dcterms:created>
  <dcterms:modified xsi:type="dcterms:W3CDTF">2026-06-24T13:40:48Z</dcterms:modified>
</cp:coreProperties>
</file>