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embeddedFontLst>
    <p:embeddedFont>
      <p:font typeface="Be Vietnam Pro"/>
      <p:regular r:id="rId9001"/>
      <p:bold r:id="rId9002"/>
      <p:italic r:id="rId9003"/>
      <p:boldItalic r:id="rId9004"/>
    </p:embeddedFont>
    <p:embeddedFont>
      <p:font typeface="JetBrains Mono"/>
      <p:regular r:id="rId9005"/>
      <p:bold r:id="rId9006"/>
      <p:italic r:id="rId9007"/>
      <p:boldItalic r:id="rId900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Relationship Id="rId9005" Type="http://schemas.openxmlformats.org/officeDocument/2006/relationships/font" Target="fonts/font5.fntdata"/><Relationship Id="rId9006" Type="http://schemas.openxmlformats.org/officeDocument/2006/relationships/font" Target="fonts/font6.fntdata"/><Relationship Id="rId9007" Type="http://schemas.openxmlformats.org/officeDocument/2006/relationships/font" Target="fonts/font7.fntdata"/><Relationship Id="rId900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hyperlink" Target="https://drive.google.com/file/d/1JC0NY3qfW-if9cM74Zi3d0VaTcA-1el_/view?usp=sharing" TargetMode="External"/><Relationship Id="rId4" Type="http://schemas.openxmlformats.org/officeDocument/2006/relationships/hyperlink" Target="https://www.facebook.com/reel/1528755028625867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cmus.edu.vn" TargetMode="External"/><Relationship Id="rId3" Type="http://schemas.openxmlformats.org/officeDocument/2006/relationships/hyperlink" Target="https://conf.researchr.org/home/icst-2026" TargetMode="External"/><Relationship Id="rId4" Type="http://schemas.openxmlformats.org/officeDocument/2006/relationships/hyperlink" Target="https://drive.google.com/file/d/1JC0NY3qfW-if9cM74Zi3d0VaTcA-1el_/view?usp=sharing" TargetMode="External"/><Relationship Id="rId5" Type="http://schemas.openxmlformats.org/officeDocument/2006/relationships/hyperlink" Target="https://www.facebook.com/reel/1528755028625867" TargetMode="External"/><Relationship Id="rId6" Type="http://schemas.openxmlformats.org/officeDocument/2006/relationships/hyperlink" Target="https://github.com/christianbirchler-org/sensodat" TargetMode="External"/><Relationship Id="rId7" Type="http://schemas.openxmlformats.org/officeDocument/2006/relationships/hyperlink" Target="https://www.beamng.tech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6575"/>
            <a:ext cx="431423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8BA0A2"/>
                </a:solidFill>
                <a:latin typeface="JetBrains Mono"/>
              </a:rPr>
              <a:t>UNIVERSITY OF SCIENCE · VNU-HCM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21037"/>
            <a:ext cx="118618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THE SELF-DRIVING CAR TESTING COMPETITION · ICST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81387"/>
            <a:ext cx="11861800" cy="941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150">
                <a:solidFill>
                  <a:srgbClr val="F6F4EF"/>
                </a:solidFill>
                <a:latin typeface="Be Vietnam Pro"/>
              </a:rPr>
              <a:t>RoadFury </a:t>
            </a:r>
            <a:r>
              <a:rPr sz="4600" b="1" i="0" spc="-150">
                <a:solidFill>
                  <a:srgbClr val="E0772B"/>
                </a:solidFill>
                <a:latin typeface="Be Vietnam Pro"/>
              </a:rPr>
              <a:t>→</a:t>
            </a:r>
            <a:r>
              <a:rPr sz="4600" b="1" i="0" spc="-150">
                <a:solidFill>
                  <a:srgbClr val="F6F4EF"/>
                </a:solidFill>
                <a:latin typeface="Be Vietnam Pro"/>
              </a:rPr>
              <a:t> SE2RoadNet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62437"/>
            <a:ext cx="9779000" cy="389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3CDCE"/>
                </a:solidFill>
                <a:latin typeface="Be Vietnam Pro"/>
              </a:rPr>
              <a:t>Ưu tiên kiểm thử xe tự lái — bất biến SE(2) bằng kiến trúc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561509"/>
            <a:ext cx="7747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TÓM TẮT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859959"/>
            <a:ext cx="69596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3CDCE"/>
                </a:solidFill>
                <a:latin typeface="Be Vietnam Pro"/>
              </a:rPr>
              <a:t>Xếp hạng kịch bản kiểm thử SDC để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lộ lỗi sớm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; mô hình bất biến phép xoay / lấy mẫu bằng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ràng buộc kiến trúc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, không bằng augmentation.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8325" y="5561509"/>
            <a:ext cx="3013075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NHÓM THỰC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8325" y="587265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Trần Chí Nguyên · 23122044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8325" y="611643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Huỳnh Trung Kiệt · 23122039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8325" y="6360220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Đào Sỹ Duy Minh · 23122041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MỤC LỤC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Nội dung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1968500"/>
            <a:ext cx="5988645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Bối cảnh, bài toán &amp; công trình liên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724150"/>
            <a:ext cx="6381055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RoadFury: phương pháp nền tảng của nhóm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3479800"/>
            <a:ext cx="4887020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772B"/>
                </a:solidFill>
                <a:latin typeface="Be Vietnam Pro"/>
              </a:rPr>
              <a:t>SE2RoadNet: đề xuất của nhóm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4241800"/>
            <a:ext cx="3636863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Đánh giá thực nghiệm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997450"/>
            <a:ext cx="4316512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Hạn chế &amp; 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" y="636905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JetBrains Mono"/>
              </a:rPr>
              <a:t>+ 5 slide Backup cho Q&amp;A: APFD ví dụ tay · Multi-trial · AUC vs APFD · Resolution probe · Chi phí quy mô lớn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46350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98452"/>
            <a:ext cx="11861800" cy="13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150">
                <a:solidFill>
                  <a:srgbClr val="F6F4EF"/>
                </a:solidFill>
                <a:latin typeface="Be Vietnam Pro"/>
              </a:rPr>
              <a:t>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30973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Bối cảnh · phát biểu · bộ dữ liệu · công trình liên quan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Bối cảnh: Kiểm thử Self-Driving Car trong mô phỏng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892399"/>
            <a:ext cx="389046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Hàng ngàn kịch bản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2254349"/>
            <a:ext cx="3103066" cy="10349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Sinh tự động các con đường (AmbieGen, Frenetic...) trên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BeamNG.tech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 Mỗi đường = một bài kiểm thử giữ làn.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5316" y="1892399"/>
            <a:ext cx="389046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772B"/>
                </a:solidFill>
                <a:latin typeface="Be Vietnam Pro"/>
              </a:rPr>
              <a:t>Mô phỏng tốn kém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5316" y="2254349"/>
            <a:ext cx="3103066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Mỗi kịch bản chạy vật lý thời gian thực ⇒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nhiều giờ CPU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cho toàn tập.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783" y="1892399"/>
            <a:ext cx="389046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Phải ưu tiên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783" y="2254349"/>
            <a:ext cx="3103066" cy="7791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Xếp thứ tự để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lỗi lộ sớm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chỉ cần chạy phần đầu hàng đợi đã lộ phần lớn lỗi, tiết kiệm chi phí mô phỏng.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350" y="5314752"/>
            <a:ext cx="116713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JetBrains Mono"/>
              </a:rPr>
              <a:t>Một con đường giữ làn: xe có thể đi đúng làn (PASS) hoặc lệch ra ngoài (FAIL)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Một thay đổi nhỏ có thể khiến xe lệch làn ở kịch bản hiếm ⇒ cần kiểm thử quy mô lớn, nhưng chạy hết thì quá đắt.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Phát biểu bài toán &amp; Tiêu chí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9450" y="1339850"/>
            <a:ext cx="3894634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23373B"/>
                </a:solidFill>
                <a:latin typeface="JetBrains Mono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" y="1625600"/>
            <a:ext cx="3107234" cy="5130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Đường = chuỗi điểm 2D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373B"/>
                </a:solidFill>
                <a:latin typeface="JetBrains Mono"/>
              </a:rPr>
              <a:t>R = {p1,...,pN} ⊂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450" y="2174081"/>
            <a:ext cx="38946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E"/>
                </a:solidFill>
                <a:latin typeface="Be Vietnam Pro"/>
              </a:rPr>
              <a:t>N thay đổi: 64-197 điểm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" y="2472531"/>
            <a:ext cx="38946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E"/>
                </a:solidFill>
                <a:latin typeface="Be Vietnam Pro"/>
              </a:rPr>
              <a:t>Chỉ hình học, không có hành vi 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6817" y="1339850"/>
            <a:ext cx="3894634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2E7D5B"/>
                </a:solidFill>
                <a:latin typeface="JetBrains Mono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6817" y="1625600"/>
            <a:ext cx="38946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Hoán vị π của n kịch bản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6817" y="1941116"/>
            <a:ext cx="38946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Sắp giảm dần theo điểm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3094831"/>
            <a:ext cx="117602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Success Criterion: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lỗi (FAIL) được xếp càng sớm càng tốt ⇒ APFD cao ⇒ tiết kiệm chi phí mô phỏng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3753247"/>
            <a:ext cx="421213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E6B"/>
                </a:solidFill>
                <a:latin typeface="Be Vietnam Pro"/>
              </a:rPr>
              <a:t>Cho trước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4064397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Nhãn train y ∈ {0,1} (PASS/FAIL)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370784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Cùng ngân sách cho mọi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384" y="3753247"/>
            <a:ext cx="421213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Khó khăn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384" y="4064397"/>
            <a:ext cx="3424734" cy="488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Chỉ có hình học đường, không có phản ứng 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384" y="4600972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Tập thử out-of-distribution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017" y="3753247"/>
            <a:ext cx="421213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2B"/>
                </a:solidFill>
                <a:latin typeface="Be Vietnam Pro"/>
              </a:rPr>
              <a:t>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017" y="4064397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APFD (primary)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017" y="4370784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AUC (phụ), Rotation 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Vì sao cần ưu tiên kiểm thử?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33500"/>
            <a:ext cx="6870998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Đường cong APFD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1498" y="1162050"/>
            <a:ext cx="5511502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2B"/>
                </a:solidFill>
                <a:latin typeface="Be Vietnam Pro"/>
              </a:rPr>
              <a:t>Trực giác: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1498" y="1511300"/>
            <a:ext cx="4724102" cy="5530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•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Xếp hạng </a:t>
            </a:r>
            <a:r>
              <a:rPr sz="1300" b="1" i="0">
                <a:solidFill>
                  <a:srgbClr val="2E7D5B"/>
                </a:solidFill>
                <a:latin typeface="Be Vietnam Pro"/>
              </a:rPr>
              <a:t>tốt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lỗi dồn lên đầu ⇒ đường cong dốc đứng từ sớm.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1498" y="2120900"/>
            <a:ext cx="4724102" cy="5530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483F"/>
                </a:solidFill>
                <a:latin typeface="Be Vietnam Pro"/>
              </a:rPr>
              <a:t>•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Xếp hạng </a:t>
            </a:r>
            <a:r>
              <a:rPr sz="1300" b="1" i="0">
                <a:solidFill>
                  <a:srgbClr val="B5483F"/>
                </a:solidFill>
                <a:latin typeface="Be Vietnam Pro"/>
              </a:rPr>
              <a:t>kém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lỗi nằm cuối hàng đợi ⇒ tốn nhiều giờ mô phỏng.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1498" y="2730500"/>
            <a:ext cx="5511502" cy="3054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B6E"/>
                </a:solidFill>
                <a:latin typeface="Be Vietnam Pro"/>
              </a:rPr>
              <a:t>•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APFD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đo chính diện tích dưới đường cong này.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298" y="5308600"/>
            <a:ext cx="4368502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956 kịch bản × mô phỏng vật lý ⇒ </a:t>
            </a:r>
            <a:r>
              <a:rPr sz="1300" b="1" i="0">
                <a:solidFill>
                  <a:srgbClr val="B5483F"/>
                </a:solidFill>
                <a:latin typeface="Be Vietnam Pro"/>
              </a:rPr>
              <a:t>nhiều giờ CPU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nếu chạy hết.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40450"/>
            <a:ext cx="11277600" cy="4832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Ranking tốt dồn lỗi lên đầu hàng đợi ⇒ tiết kiệm phần lớn chi phí mô phỏng — bài toán không phải "chạy nhanh hơn" mà là "chạy đúng thứ tự".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Dataset: SensoDat </a:t>
            </a:r>
            <a:r>
              <a:rPr sz="1300" b="1" i="0" spc="-25">
                <a:solidFill>
                  <a:srgbClr val="5C6B6E"/>
                </a:solidFill>
                <a:latin typeface="Be Vietnam Pro"/>
              </a:rPr>
              <a:t>(Birchler et al., MSR 2024 [1])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81100"/>
            <a:ext cx="5115123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Bộ dữ liệu công khai các kịch bản SDC sinh tự động trên BeamNG.tech, chia 3 split: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6973" y="1346200"/>
            <a:ext cx="6403777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Đường càng dài ⇒ càng dễ FAIL </a:t>
            </a:r>
            <a:r>
              <a:rPr sz="1100" b="0" i="0">
                <a:solidFill>
                  <a:srgbClr val="5C6B6E"/>
                </a:solidFill>
                <a:latin typeface="Be Vietnam Pro"/>
              </a:rPr>
              <a:t>(dữ liệu thật)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Competition có khoảng độ dài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hẹp hơn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(129-229m) ⇒ dịch phân phối (distribution shift).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55600"/>
            <a:ext cx="121666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550"/>
            <a:ext cx="121666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Ví dụ kịch bản: hình dạng quyết định nhãn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250" y="1270000"/>
            <a:ext cx="4373959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Hình dạng đường (SensoDat)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250" y="3441303"/>
            <a:ext cx="3586559" cy="4047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Đường thật từ SensoDat · </a:t>
            </a:r>
            <a:r>
              <a:rPr sz="1050" b="1" i="1">
                <a:solidFill>
                  <a:srgbClr val="2E7D5B"/>
                </a:solidFill>
                <a:latin typeface="Be Vietnam Pro"/>
              </a:rPr>
              <a:t>PASS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mượt, </a:t>
            </a:r>
            <a:r>
              <a:rPr sz="1050" b="1" i="1">
                <a:solidFill>
                  <a:srgbClr val="B5483F"/>
                </a:solidFill>
                <a:latin typeface="Be Vietnam Pro"/>
              </a:rPr>
              <a:t>FAIL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chicane gắt.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2709" y="1270000"/>
            <a:ext cx="419477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Xe trong làn (BeamNG.tech)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2709" y="2744887"/>
            <a:ext cx="3407370" cy="4047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Mô phỏng BeamNG.tech: trái </a:t>
            </a:r>
            <a:r>
              <a:rPr sz="1050" b="1" i="1">
                <a:solidFill>
                  <a:srgbClr val="2E7D5B"/>
                </a:solidFill>
                <a:latin typeface="Be Vietnam Pro"/>
              </a:rPr>
              <a:t>PASS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(trong làn) · phải </a:t>
            </a:r>
            <a:r>
              <a:rPr sz="1050" b="1" i="1">
                <a:solidFill>
                  <a:srgbClr val="B5483F"/>
                </a:solidFill>
                <a:latin typeface="Be Vietnam Pro"/>
              </a:rPr>
              <a:t>FAIL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(lệch làn).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2980" y="1270000"/>
            <a:ext cx="419477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FAIL tập trung ở đường "xoắn" hơn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2980" y="3733602"/>
            <a:ext cx="4194770" cy="21812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Tổng độ đổi hướng (radian) — FAIL lệch phải.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" y="6388100"/>
            <a:ext cx="121666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3373B"/>
                </a:solidFill>
                <a:latin typeface="Be Vietnam Pro"/>
              </a:rPr>
              <a:t>⇒ Không có tọa độ (x,y) tuyệt đối nào quyết định nhãn — chỉ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hình dạng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. Gợi ý cho ràng buộc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CÔNG TRÌNH LIÊN QUAN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Related Work: 3 hướng tiếp cận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2438102"/>
            <a:ext cx="317380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E6B"/>
                </a:solidFill>
                <a:latin typeface="Be Vietnam Pro"/>
              </a:rPr>
              <a:t>Search-based / Diversity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2849562"/>
            <a:ext cx="32385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GA / heuristic chọn tập test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đa dạng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hành vi (SO-SDC-Prioritizer, Greedy-diversity).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703638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không cần nhãn, truyền thống SBST.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4319588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đa dạng ≠ lộ lỗi; đặc trưng phụ thuộc khung.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8550" y="2557165"/>
            <a:ext cx="2561233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A33F"/>
                </a:solidFill>
                <a:latin typeface="Be Vietnam Pro"/>
              </a:rPr>
              <a:t>Feature-based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968625"/>
            <a:ext cx="32385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vài đặc trưng đường (góc, chiều dài) → mạng chuỗi gọn → rank (ITS4SDC: bi-LSTM, ICST'25).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550" y="3822700"/>
            <a:ext cx="40259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rẻ, dễ giải thích.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550" y="4200525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ít đặc trưng, phụ thuộc khung, tinh chỉnh theo từng bench.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3150" y="2450505"/>
            <a:ext cx="2857500" cy="49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Deep: GNN / CNN /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150" y="3035895"/>
            <a:ext cx="32385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học biểu diễn từ đồ thị đường / ảnh render / chuỗi điểm (GNN, ResNet, RoadFury).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150" y="3889970"/>
            <a:ext cx="40259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APFD cao nhất (RoadFury 0.804).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2150" y="4267795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</a:t>
            </a:r>
            <a:r>
              <a:rPr sz="1250" b="0" i="1">
                <a:solidFill>
                  <a:srgbClr val="B5483F"/>
                </a:solidFill>
                <a:latin typeface="Be Vietnam Pro"/>
              </a:rPr>
              <a:t>không bất biến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— xoay / lấy mẫu là điểm trôi.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46800"/>
            <a:ext cx="11277600" cy="476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Khoảng trống: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chưa phương pháp nào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đảm bảo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với phép xoay / tần số lấy mẫu — tất cả dựa vào augmentation (xấp xỉ) hoặc đặc trưng phụ thuộc khung.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CÔNG TRÌNH LIÊN QUAN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Related Work: Tổng hợp &amp; Khoảng trống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50" y="5441950"/>
            <a:ext cx="5767090" cy="418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E"/>
                </a:solidFill>
                <a:latin typeface="Be Vietnam Pro"/>
              </a:rPr>
              <a:t>APFD trên 956 test OOD (30 trials). Các baseline tái lập trong cùng harness; RoadFury &amp; SE2RoadNet là của nhóm.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1840" y="1371600"/>
            <a:ext cx="543431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Hai trục độc lập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1840" y="5397500"/>
            <a:ext cx="4646910" cy="4362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4C50"/>
                </a:solidFill>
                <a:latin typeface="Be Vietnam Pro"/>
              </a:rPr>
              <a:t>SE2RoadNet thêm một </a:t>
            </a:r>
            <a:r>
              <a:rPr sz="1100" b="0" i="1">
                <a:solidFill>
                  <a:srgbClr val="3C4C50"/>
                </a:solidFill>
                <a:latin typeface="Be Vietnam Pro"/>
              </a:rPr>
              <a:t>trục đảm bảo mới</a:t>
            </a:r>
            <a:r>
              <a:rPr sz="1100" b="0" i="0">
                <a:solidFill>
                  <a:srgbClr val="3C4C50"/>
                </a:solidFill>
                <a:latin typeface="Be Vietnam Pro"/>
              </a:rPr>
              <a:t> chứ không chỉ tăng APFD.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46800"/>
            <a:ext cx="11277600" cy="476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Khoảng trống: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cùng một con đường — chỉ khác hướng đặt hoặc số điểm lấy mẫu — không được làm điểm số thay đổi. Chưa method nào đảm bảo điều đó.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46350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98452"/>
            <a:ext cx="11861800" cy="13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150">
                <a:solidFill>
                  <a:srgbClr val="F6F4EF"/>
                </a:solidFill>
                <a:latin typeface="Be Vietnam Pro"/>
              </a:rPr>
              <a:t>RoadFury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30973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Phương pháp nền tảng của nhóm: Transformer + SWA + Focal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ROADFURY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RoadFury: Pipeline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" y="6413500"/>
            <a:ext cx="1206500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Chuẩn hoá &amp; trích đặc trưng → RoadTransformer → SWA → inference (chấm điểm, sắp xếp giảm dần). </a:t>
            </a:r>
            <a:r>
              <a:rPr sz="1200" b="0" i="0">
                <a:solidFill>
                  <a:srgbClr val="23373B"/>
                </a:solidFill>
                <a:latin typeface="Be Vietnam Pro"/>
              </a:rPr>
              <a:t>Chi tiết 2 điểm mù ở slide kế.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ROADFURY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RoadFury (chi tiet): mạnh, nhưng có điểm mù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84300"/>
            <a:ext cx="59944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CA6"/>
                </a:solidFill>
                <a:latin typeface="Be Vietnam Pro"/>
              </a:rPr>
              <a:t>Trích xuất đặc trưng (10 kênh)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5050631"/>
            <a:ext cx="59944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JetBrains Mono"/>
              </a:rPr>
              <a:t>Z-norm ⇒ ma trận (197 × 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4450" y="1384300"/>
            <a:ext cx="59690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RoadTransformer (829K tham số)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4450" y="1739900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Linear 10→128 + LayerNorm + GELU.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4450" y="2111375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Token [CLS] + learned PE </a:t>
            </a:r>
            <a:r>
              <a:rPr sz="1350" b="1" i="0">
                <a:solidFill>
                  <a:srgbClr val="B5483F"/>
                </a:solidFill>
                <a:latin typeface="Be Vietnam Pro"/>
              </a:rPr>
              <a:t>(vị trí tuyệt đối)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4450" y="2482850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4 lớp Pre-LN Transformer, 8 heads, FFN 512.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4450" y="2854325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Pool [CLS] → 128→64→1 → Sigmoid.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4950" y="4975027"/>
            <a:ext cx="561975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2E7D5B"/>
                </a:solidFill>
                <a:latin typeface="JetBrains Mono"/>
              </a:rPr>
              <a:t>KẾT QUẢ ICST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4950" y="5260777"/>
            <a:ext cx="4832350" cy="6041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373B"/>
                </a:solidFill>
                <a:latin typeface="Be Vietnam Pro"/>
              </a:rPr>
              <a:t>APFD = </a:t>
            </a:r>
            <a:r>
              <a:rPr sz="1700" b="1" i="0">
                <a:solidFill>
                  <a:srgbClr val="2E7D5B"/>
                </a:solidFill>
                <a:latin typeface="Be Vietnam Pro"/>
              </a:rPr>
              <a:t>0.804 ± 0.012</a:t>
            </a:r>
            <a:r>
              <a:rPr sz="1350" b="0" i="0">
                <a:solidFill>
                  <a:srgbClr val="23373B"/>
                </a:solidFill>
                <a:latin typeface="Be Vietnam Pro"/>
              </a:rPr>
              <a:t>, AUC 0.917 (30 trials, 956 test). </a:t>
            </a:r>
            <a:r>
              <a:rPr sz="1350" b="1" i="0">
                <a:solidFill>
                  <a:srgbClr val="2E7D5B"/>
                </a:solidFill>
                <a:latin typeface="Be Vietnam Pro"/>
              </a:rPr>
              <a:t>Tốt nhất competition.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3/10 kênh và PE tuyệt đối phụ thuộc khung quy chiếu ⇒ APFD cao nhưng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không có bảo chứng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— đây là 2 điểm mù.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ROADFURY → SE2ROADNET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Từ RoadFury đến SE2RoadNet: Vá 2 điểm mù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1885950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✗</a:t>
            </a:r>
            <a:r>
              <a:rPr sz="1400" b="1" i="0">
                <a:solidFill>
                  <a:srgbClr val="B5483F"/>
                </a:solidFill>
                <a:latin typeface="Be Vietnam Pro"/>
              </a:rPr>
              <a:t> Nhạy phép xoay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2171700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Cùng đường, xoay 30°/90° ⇒ điểm trồi (ITS4SDC Δ=0.057).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4075509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✓</a:t>
            </a:r>
            <a:r>
              <a:rPr sz="1400" b="1" i="0">
                <a:solidFill>
                  <a:srgbClr val="2E7D5B"/>
                </a:solidFill>
                <a:latin typeface="Be Vietnam Pro"/>
              </a:rPr>
              <a:t> 7 kênh bất biến SE(2)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4361259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Bỏ sinθ, cosθ, θ; chỉ giữ Δs, κ, dκ/ds...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6200" y="1885950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✗</a:t>
            </a:r>
            <a:r>
              <a:rPr sz="1400" b="1" i="0">
                <a:solidFill>
                  <a:srgbClr val="B5483F"/>
                </a:solidFill>
                <a:latin typeface="Be Vietnam Pro"/>
              </a:rPr>
              <a:t> Nhạy tần số lấy mẫu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6200" y="2171700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Cùng đường, N=64 vs 197 điểm ⇒ điểm đổi theo cách rời rạc hóa.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6200" y="4075509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✓</a:t>
            </a:r>
            <a:r>
              <a:rPr sz="1400" b="1" i="0">
                <a:solidFill>
                  <a:srgbClr val="2E7D5B"/>
                </a:solidFill>
                <a:latin typeface="Be Vietnam Pro"/>
              </a:rPr>
              <a:t> Attention bias theo Δs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200" y="4361259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Thay PE tuyệt đối bằng hiệu số cung — bất biến tại tham số hóa.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1520" y="5522020"/>
            <a:ext cx="4957961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15">
                <a:solidFill>
                  <a:srgbClr val="FFFFFF"/>
                </a:solidFill>
                <a:latin typeface="Be Vietnam Pro"/>
              </a:rPr>
              <a:t>SE2RoadNet: Bất biến SE(2) bằng kiến trúc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8414" y="5826820"/>
            <a:ext cx="7344172" cy="2888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483F"/>
                </a:solidFill>
                <a:latin typeface="Be Vietnam Pro"/>
              </a:rPr>
              <a:t>Augmentation (xấp xỉ)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</a:t>
            </a:r>
            <a:r>
              <a:rPr sz="1300" b="1" i="0">
                <a:solidFill>
                  <a:srgbClr val="E0772B"/>
                </a:solidFill>
                <a:latin typeface="JetBrains Mono"/>
              </a:rPr>
              <a:t>· paradigm shift →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</a:t>
            </a:r>
            <a:r>
              <a:rPr sz="1300" b="1" i="0">
                <a:solidFill>
                  <a:srgbClr val="2E7D5B"/>
                </a:solidFill>
                <a:latin typeface="Be Vietnam Pro"/>
              </a:rPr>
              <a:t>ràng buộc kiến trúc (bảo chứng)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3373B"/>
                </a:solidFill>
                <a:latin typeface="Be Vietnam Pro"/>
              </a:rPr>
              <a:t>Mỗi điểm mù RoadFury → một thành phần SE2RoadNet: </a:t>
            </a:r>
            <a:r>
              <a:rPr sz="1300" b="1" i="0">
                <a:solidFill>
                  <a:srgbClr val="E0772B"/>
                </a:solidFill>
                <a:latin typeface="Be Vietnam Pro"/>
              </a:rPr>
              <a:t>vá có chủ đích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, không refactor mù.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46350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98452"/>
            <a:ext cx="11861800" cy="13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150">
                <a:solidFill>
                  <a:srgbClr val="F6F4EF"/>
                </a:solidFill>
                <a:latin typeface="Be Vietnam Pro"/>
              </a:rPr>
              <a:t>SE2RoadNet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30973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Đề xuất của nhóm: bất biến SE(2) bằng kiến trúc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SE2RoadNet: Tổng quan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" y="6413500"/>
            <a:ext cx="1206500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7 kênh bất biến → InvariantBlock×6 (bias theo Δs) → pool → Failure Score. </a:t>
            </a:r>
            <a:r>
              <a:rPr sz="1200" b="1" i="0">
                <a:solidFill>
                  <a:srgbClr val="2E7CA6"/>
                </a:solidFill>
                <a:latin typeface="Be Vietnam Pro"/>
              </a:rPr>
              <a:t>Rotation probe: ΔAPFD = 0.0000.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Ý tưởng cốt lõi: Bất biến SE(2)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162050"/>
            <a:ext cx="11626850" cy="3002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Định lý mục tiêu: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Mô hình f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θ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phải thỏa mãn, </a:t>
            </a:r>
            <a:r>
              <a:rPr sz="1300" b="1" i="0">
                <a:solidFill>
                  <a:srgbClr val="E0772B"/>
                </a:solidFill>
                <a:latin typeface="Be Vietnam Pro"/>
              </a:rPr>
              <a:t>bit-identical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, với mọi (R,t) ∈ SE(2):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945084"/>
            <a:ext cx="116268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6E"/>
                </a:solidFill>
                <a:latin typeface="Be Vietnam Pro"/>
              </a:rPr>
              <a:t>Xoay, tịnh tiến, hoặc đổi gốc tọa độ con đường ⇒ điểm số y nguyên.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" y="6400800"/>
            <a:ext cx="120650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Một con đường, bốn phép biến đổi SE(2), </a:t>
            </a:r>
            <a:r>
              <a:rPr sz="1250" b="1" i="0">
                <a:solidFill>
                  <a:srgbClr val="23373B"/>
                </a:solidFill>
                <a:latin typeface="Be Vietnam Pro"/>
              </a:rPr>
              <a:t>cùng một điểm số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— bất biến là tính chất của kiến trúc, không phải của data augmentation.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Bước 1: 7 kênh đặc trưng bất biến SE(2)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97000"/>
            <a:ext cx="676652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Chỉ giữ đại lượng nội tại của đường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27200"/>
            <a:ext cx="6766520" cy="3252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1.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Δs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chiều dài đoạn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2062262"/>
            <a:ext cx="6766520" cy="3252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2.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|Δθ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| — biến thiên góc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tuyệt đối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" y="2397323"/>
            <a:ext cx="6766520" cy="3252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3.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κ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= Δθ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/Δs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độ cong có dấu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" y="2732385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4.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dκ/ds — đạo hàm độ cong (jerk hình học)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250" y="3033613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5.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d²κ/ds² — đạo hàm bậc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250" y="3334841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6.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s_norm = s/L ∈ [0,1] — chiều dài cung tương đối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250" y="3636070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7.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σ_local(κ) — độ lệch chuẩn cục bộ (cửa sổ 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250" y="5711825"/>
            <a:ext cx="6766520" cy="3013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772B"/>
                </a:solidFill>
                <a:latin typeface="Be Vietnam Pro"/>
              </a:rPr>
              <a:t>⇒ </a:t>
            </a:r>
            <a:r>
              <a:rPr sz="1500" b="1" i="0">
                <a:solidFill>
                  <a:srgbClr val="E0772B"/>
                </a:solidFill>
                <a:latin typeface="Be Vietnam Pro"/>
              </a:rPr>
              <a:t>0</a:t>
            </a:r>
            <a:r>
              <a:rPr sz="1350" b="1" i="0">
                <a:solidFill>
                  <a:srgbClr val="E0772B"/>
                </a:solidFill>
                <a:latin typeface="Be Vietnam Pro"/>
              </a:rPr>
              <a:t> kênh phụ thuộc khung quy chiếu (đã bỏ sinθ, cosθ, θ).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4670" y="5549900"/>
            <a:ext cx="4384080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6E"/>
                </a:solidFill>
                <a:latin typeface="Be Vietnam Pro"/>
              </a:rPr>
              <a:t>Các đại lượng nội tại tính trên từng cặp điểm liền kề — không thay đổi khi xoay/tịnh tiến.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SE(2) được đảm bảo từ khâu đặc trưng — trước khi mô hình học.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Bước 2: Kiến trúc SE2RoadNet (InvariantBlock ×6)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7943" y="2627908"/>
            <a:ext cx="4457799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Mỗi điểm trên đường ⇒ một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token 192 chiều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7943" y="3047008"/>
            <a:ext cx="8233668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C4C50"/>
                </a:solidFill>
                <a:latin typeface="Be Vietnam Pro"/>
              </a:rPr>
              <a:t>Mỗi block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= MHA (8 heads) + FFN (512) + LayerNorm, với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relative-arclength bias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(Bước 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7943" y="3466108"/>
            <a:ext cx="381049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Pool [CLS] → 1 logit = xác suất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9600" y="4075708"/>
            <a:ext cx="796925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2E7D5B"/>
                </a:solidFill>
                <a:latin typeface="JetBrains Mono"/>
              </a:rPr>
              <a:t>QUY MÔ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4342408"/>
            <a:ext cx="796925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Tổng </a:t>
            </a:r>
            <a:r>
              <a:rPr sz="1300" b="1" i="0">
                <a:solidFill>
                  <a:srgbClr val="2E7D5B"/>
                </a:solidFill>
                <a:latin typeface="Be Vietnam Pro"/>
              </a:rPr>
              <a:t>2.11 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tham số (~2.5× RoadFury) — vẫn nhẹ, train 24 phút.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Một Transformer bất biến nhẹ — token hóa từng điểm đường, 6 InvariantBlock, đầu ra xác suất FAIL.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Bước 3: Attention với bias hiệu số Δs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50" y="1282700"/>
            <a:ext cx="596532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Vấn đề với PE tuyệt đối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150" y="1587500"/>
            <a:ext cx="5177929" cy="7626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PE chuẩn (sin/cos của index i) khóa mô hình vào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vị trí tuyệt đối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của token. Xoay/cắt đường khác ⇒ index ứng với arclength khác ⇒ vỡ bất biến.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150" y="3536355"/>
            <a:ext cx="596532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Giải pháp: relative-arclength RFF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150" y="3866555"/>
            <a:ext cx="5177929" cy="5776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Thêm bias vào ma trận attention, chỉ phụ thuộc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hiệu số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Δs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ij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= s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− s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j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(bất biến tại tham số hóa):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150" y="5093196"/>
            <a:ext cx="5965329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với ω ∈ R³² là tần số Fourier ngẫu nhiên (RFF) cố định.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779" y="4622602"/>
            <a:ext cx="5286871" cy="4492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B6E"/>
                </a:solidFill>
                <a:latin typeface="Be Vietnam Pro"/>
              </a:rPr>
              <a:t>Heatmap: attention giảm theo |Δs</a:t>
            </a:r>
            <a:r>
              <a:rPr sz="919" b="0" i="1">
                <a:solidFill>
                  <a:srgbClr val="5C6B6E"/>
                </a:solidFill>
                <a:latin typeface="Be Vietnam Pro"/>
              </a:rPr>
              <a:t>ij</a:t>
            </a:r>
            <a:r>
              <a:rPr sz="1100" b="0" i="1">
                <a:solidFill>
                  <a:srgbClr val="5C6B6E"/>
                </a:solidFill>
                <a:latin typeface="Be Vietnam Pro"/>
              </a:rPr>
              <a:t>| — bias chỉ phụ thuộc hiệu số, không bao giờ i,j riêng lẻ.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" y="6400800"/>
            <a:ext cx="120650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Be Vietnam Pro"/>
              </a:rPr>
              <a:t>Chi phí: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O(B · L² · 32) mỗi block — điểm tốn nhất (24 phút train). </a:t>
            </a:r>
            <a:r>
              <a:rPr sz="1250" b="1" i="0">
                <a:solidFill>
                  <a:srgbClr val="23373B"/>
                </a:solidFill>
                <a:latin typeface="Be Vietnam Pro"/>
              </a:rPr>
              <a:t>Cải tiến tương lai: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RoPE-1D trên s_norm.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Buớc 4: Huấn luyện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71600"/>
            <a:ext cx="6134695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73B"/>
                </a:solidFill>
                <a:latin typeface="Be Vietnam Pro"/>
              </a:rPr>
              <a:t>Focal Loss (γ=1.5): dồn sức học ca khó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9345" y="1358900"/>
            <a:ext cx="5879505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772B"/>
                </a:solidFill>
                <a:latin typeface="Be Vietnam Pro"/>
              </a:rPr>
              <a:t>Vì sao Focal Loss?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9345" y="2089150"/>
            <a:ext cx="5092105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FAIL chỉ ~30–40%; BCE thuần ⇒ model "đoán PASS hết". Hệ số (1 − p̂_t)ᴳ </a:t>
            </a:r>
            <a:r>
              <a:rPr sz="1200" b="0" i="1">
                <a:solidFill>
                  <a:srgbClr val="3C4C50"/>
                </a:solidFill>
                <a:latin typeface="Be Vietnam Pro"/>
              </a:rPr>
              <a:t>down-weight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ca dễ, </a:t>
            </a:r>
            <a:r>
              <a:rPr sz="1200" b="0" i="1">
                <a:solidFill>
                  <a:srgbClr val="3C4C50"/>
                </a:solidFill>
                <a:latin typeface="Be Vietnam Pro"/>
              </a:rPr>
              <a:t>up-weight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ca khó.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9345" y="2997200"/>
            <a:ext cx="5879505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Cấu hình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Focal γ=1.5 + WeightedRandom ép model đầu tư vào ca FAIL hiếm mà không đổi siêu tham số.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558554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44304"/>
            <a:ext cx="11861800" cy="941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100">
                <a:solidFill>
                  <a:srgbClr val="F6F4EF"/>
                </a:solidFill>
                <a:latin typeface="Be Vietnam Pro"/>
              </a:rPr>
              <a:t>Đánh giá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26396"/>
            <a:ext cx="8191500" cy="32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50">
                <a:solidFill>
                  <a:srgbClr val="9DAEB0"/>
                </a:solidFill>
                <a:latin typeface="JetBrains Mono"/>
              </a:rPr>
              <a:t>APFD · giao thức · bất biến Δ=0 · leaderboard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Chỉ số APFD &amp; Giao thức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46200"/>
            <a:ext cx="6908800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73B"/>
                </a:solidFill>
                <a:latin typeface="Be Vietnam Pro"/>
              </a:rPr>
              <a:t>Average Percentage of Faults Detected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1670050"/>
            <a:ext cx="6908800" cy="274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Với hoán vị π trên n test (m là FAIL), TF</a:t>
            </a:r>
            <a:r>
              <a:rPr sz="100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là vị trí fault thứ 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2614910"/>
            <a:ext cx="690880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Khoảng [0,1], càng cao càng tốt. Ngẫu nhiên ~ 0.5; Lý tưởng ~ 1.0.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6250" y="3734495"/>
            <a:ext cx="5130800" cy="22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4C50"/>
                </a:solidFill>
                <a:latin typeface="Be Vietnam Pro"/>
              </a:rPr>
              <a:t>Ranking tốt ⇒ đường cong dốc đứng từ đầu.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450" y="4387850"/>
            <a:ext cx="39835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6B"/>
                </a:solidFill>
                <a:latin typeface="Be Vietnam Pro"/>
              </a:rPr>
              <a:t>1. Single-pass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" y="4705350"/>
            <a:ext cx="3196134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Xếp hạng 1 lần trên toàn Competition split (956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8684" y="4387850"/>
            <a:ext cx="39835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2. Multi-trial (30 lần)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8684" y="4692650"/>
            <a:ext cx="3196134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Mỗi trial: lấy ngẫu nhiên 287/956 test → APFD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8684" y="5811540"/>
            <a:ext cx="3983534" cy="22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Be Vietnam Pro"/>
              </a:rPr>
              <a:t>loại "may rủi" do thứ tự cố định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917" y="4387850"/>
            <a:ext cx="39835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3. Rotation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917" y="4705350"/>
            <a:ext cx="3196134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Xoay toàn bộ split bằng {0,30,60,90,180,−45}° rồi đánh giá lại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Ba lớp: single-pass (điểm chính) → multi-trial (độ ổn định) → rotation probe (kiểm chứng bất biến).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Kết quả headline: Bất biến phép xoay Δ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50" y="1320800"/>
            <a:ext cx="7001173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Xoay đường ⇒ baseline trôi điểm, SE2RoadNet bất biến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2173" y="4032250"/>
            <a:ext cx="5019377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5B"/>
                </a:solidFill>
                <a:latin typeface="Be Vietnam Pro"/>
              </a:rPr>
              <a:t>Không phải "trong sai số"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2173" y="4330700"/>
            <a:ext cx="4231977" cy="701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6 góc xoay, APFD bằng nhau </a:t>
            </a:r>
            <a:r>
              <a:rPr sz="1200" b="1" i="0">
                <a:solidFill>
                  <a:srgbClr val="3C4C50"/>
                </a:solidFill>
                <a:latin typeface="Be Vietnam Pro"/>
              </a:rPr>
              <a:t>đến từng bit float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(=0, không phải ~10⁻³): pipeline 7 kênh trả vector </a:t>
            </a:r>
            <a:r>
              <a:rPr sz="1200" b="0" i="1">
                <a:solidFill>
                  <a:srgbClr val="3C4C50"/>
                </a:solidFill>
                <a:latin typeface="Be Vietnam Pro"/>
              </a:rPr>
              <a:t>pixel-identical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sau xoay ⇒ logit y nguyên.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⇒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Lý thuyết được xác minh bằng thực nghiệm, không cần nói "xấp xỉ".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Bảng xếp hạng: so với 8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33500"/>
            <a:ext cx="686385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373B"/>
                </a:solidFill>
                <a:latin typeface="Be Vietnam Pro"/>
              </a:rPr>
              <a:t>Bảng xếp hạng APFD </a:t>
            </a:r>
            <a:r>
              <a:rPr sz="1050" b="0" i="0">
                <a:solidFill>
                  <a:srgbClr val="5C6B6E"/>
                </a:solidFill>
                <a:latin typeface="JetBrains Mono"/>
              </a:rPr>
              <a:t>(956 test OOD, 30 trials)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1204" y="3565128"/>
            <a:ext cx="513764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Đọc bảng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204" y="3869928"/>
            <a:ext cx="4350246" cy="750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SE2RoadNet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ngang APFD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baseline tốt nhất, nhưng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tăng AUC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(+0.017) và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thêm bảo chứng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Δ=0 mà không method nào có ⇒ cải thiện theo nghĩa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Pareto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7054" y="5779294"/>
            <a:ext cx="4718546" cy="4114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LLM zero-shot &amp; Greedy-diversity: baseline nhóm tái lập trong cùng harness.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Không đánh đổi: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giữ APFD đỉnh, tăng AUC, và là phương pháp duy nhất bất biến SE(2) tuyệt đối.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AUC vs APFD: vì sao tách bạch?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90650"/>
            <a:ext cx="5207000" cy="5330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AUC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đo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khả năng phân loại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PASS/FAIL trên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từng cặp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không quan tâm thứ hạng tuyệt đối.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1390650"/>
            <a:ext cx="5207000" cy="5330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772B"/>
                </a:solidFill>
                <a:latin typeface="Be Vietnam Pro"/>
              </a:rPr>
              <a:t>APFD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đo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tốc độ lộ lỗi theo thứ tự chạy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chính là cái Competition tối ưu.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3524250"/>
            <a:ext cx="10541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" y="3524250"/>
            <a:ext cx="6096000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Trong gần như mọi thí nghiệm của nhóm, AUC và APFD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phân kỳ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: tăng AUC không đảm bảo tăng APFD.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197350"/>
            <a:ext cx="10541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700" y="4197350"/>
            <a:ext cx="678557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SE2RoadNet tăng AUC (0.917 → 0.934) trong khi APFD giữ đỉnh (~0.805).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4622800"/>
            <a:ext cx="1035248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848" y="4622800"/>
            <a:ext cx="664160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242A"/>
                </a:solidFill>
                <a:latin typeface="Be Vietnam Pro"/>
              </a:rPr>
              <a:t>Khi báo cáo phải nói rõ </a:t>
            </a:r>
            <a:r>
              <a:rPr sz="1300" b="0" i="1">
                <a:solidFill>
                  <a:srgbClr val="16242A"/>
                </a:solidFill>
                <a:latin typeface="Be Vietnam Pro"/>
              </a:rPr>
              <a:t>metric nào</a:t>
            </a:r>
            <a:r>
              <a:rPr sz="1300" b="0" i="0">
                <a:solidFill>
                  <a:srgbClr val="16242A"/>
                </a:solidFill>
                <a:latin typeface="Be Vietnam Pro"/>
              </a:rPr>
              <a:t> đang được tối ưu cho tình huống nào.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5822950"/>
            <a:ext cx="5207000" cy="22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Be Vietnam Pro"/>
              </a:rPr>
              <a:t>AUC tăng, APFD gần như phẳng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Không gộp AUC và APFD thành "một điểm tốt hơn" — chúng đo hai thứ khác nhau.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29076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82862"/>
            <a:ext cx="11074400" cy="14592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pc="-100">
                <a:solidFill>
                  <a:srgbClr val="F6F4EF"/>
                </a:solidFill>
                <a:latin typeface="Be Vietnam Pro"/>
              </a:rPr>
              <a:t>Hạn chế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pc="-100">
                <a:solidFill>
                  <a:srgbClr val="F6F4EF"/>
                </a:solidFill>
                <a:latin typeface="Be Vietnam Pro"/>
              </a:rPr>
              <a:t>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03712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nhìn thẳng điểm yếu · bốn hướng mở rộng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HẠN CHẾ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Hạn chế: nhìn thẳng vào điểm yếu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2622550"/>
            <a:ext cx="59436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73B"/>
                </a:solidFill>
                <a:latin typeface="Be Vietnam Pro"/>
              </a:rPr>
              <a:t>Về chỉ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30162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AUC và APFD phân kỳ: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AUC cao hơn không kéo theo APFD cao hơn — phải lập luận cẩn thận metric nào quan trọng khi nào.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363220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Listwise loss chưa tăng APFD trung bình: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chỉ giảm σ ⇒ đóng góp 'ổn định', không phải headline.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" y="42481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Trần APFD ở bench FAIL cao: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ví dụ 95% FAIL ⇒ APFD ~ 0.52 là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ceiling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, không phải thất bại.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7150" y="2622550"/>
            <a:ext cx="59436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73B"/>
                </a:solidFill>
                <a:latin typeface="Be Vietnam Pro"/>
              </a:rPr>
              <a:t>Về phương pháp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7150" y="30162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Conformal an toàn còn dở: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v1 valid-nhưng-vô nghĩa, v2 informative-nhưng-invalid; cần v3 mới 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7150" y="363220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Dịch phân phối chưa đóng: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IRM / TENT chưa thu hẹp gap SensoDat→Competition (negative đã biết).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7150" y="42481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Bất biến lấy mẫu là xấp xỉ: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resolution probe Δ ~ 0.0012 (rất nhỏ) — chưa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exact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như phép xoay.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xoay là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exact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; các đảm bảo khác (resolution, conformal) vẫn đang hoàn thiện — báo cáo trung thực thay vì giấu.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HƯỚNG PHÁT TRIỂN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97000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Tổng quát hóa đa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46250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Một công thức, 8+ benchmark công khai (OOB, SDC-Scissor, sdc-travel...) — APFD không tinh chỉnh theo từng bench.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97000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An toàn có bảo chứng (Conformal v3)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46250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Chặn dưới prefix-APFD vừa </a:t>
            </a:r>
            <a:r>
              <a:rPr sz="1300" b="0" i="1">
                <a:solidFill>
                  <a:srgbClr val="3C4C50"/>
                </a:solidFill>
                <a:latin typeface="Be Vietnam Pro"/>
              </a:rPr>
              <a:t>valid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vừa </a:t>
            </a:r>
            <a:r>
              <a:rPr sz="1300" b="0" i="1">
                <a:solidFill>
                  <a:srgbClr val="3C4C50"/>
                </a:solidFill>
                <a:latin typeface="Be Vietnam Pro"/>
              </a:rPr>
              <a:t>non-vacuous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; audit tỉ lệ vi phạm độ cong.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" y="3978275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CA6"/>
                </a:solidFill>
                <a:latin typeface="Be Vietnam Pro"/>
              </a:rPr>
              <a:t>Bất biến lấy mẫu </a:t>
            </a:r>
            <a:r>
              <a:rPr sz="1500" b="1" i="1">
                <a:solidFill>
                  <a:srgbClr val="2E7CA6"/>
                </a:solidFill>
                <a:latin typeface="Be Vietnam Pro"/>
              </a:rPr>
              <a:t>exact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250" y="4327525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RoPE-1D trên s_norm thay RFF bias ⇒ rẻ hơn và tiến tới resolution-Δ =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78275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5A33F"/>
                </a:solidFill>
                <a:latin typeface="Be Vietnam Pro"/>
              </a:rPr>
              <a:t>SSL vật lý (physics-informed)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27525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Pretext task gắn với độ cong/jerk để học biểu diễn nền — thay SSL hình học ngây thơ (chuyển kém).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Mục tiêu: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từ một baseline bất biến cho SDC →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công thức chung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&amp; audit-readable cho mọi benchmark.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810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THAM KHẢO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159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Tài liệu tham khảo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5461000" cy="72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[1]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C. Birchler, C. Rohrbach, T. Kehrer, S. Panichella.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SensoDat: Simulation-based Sensor Dataset of Self-driving Cars.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MSR, 2024.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(nguồn dữ liệu)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036762"/>
            <a:ext cx="5461000" cy="72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[2]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C. Birchler, S. Khatiri, B. Bosshard, A. Gambi, S. Panichella.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Single and Multi-objective Test Cases Prioritization for Self-driving Cars in Virtual Environments.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ACM TOSEM, 2023.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867025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[3]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ICST/SBFT Tool Competition — Self-Driving Car Testing (Cyber-Physical Systems).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2023–2025.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(giao thức APFD)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46710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[4]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G. Rothermel, R. Untch, C. Chu, M. Harrold.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Prioritizing Test Cases for Regression Testing.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IEEE TSE, 2001.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(định nghĩa APFD)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067175"/>
            <a:ext cx="6248400" cy="2714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[5]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A. Vaswani et al.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Attention Is All You Need.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NeurIPS, 2017.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20650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[6]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T.-Y. Lin, P. Goyal, R. Girshick, K. He, P. Dollar.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Focal Loss for Dense Object Detection.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ICCV, 2017.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1806575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[7]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P. Izmailov et al.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Averaging Weights Leads to Wider Optima and Better Generalization (SWA).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UAI, 2018.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40665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[8]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T. Cohen, M. Welling.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Group Equivariant Convolutional Networks.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ICML, 2016.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(nền tảng bất biến nhóm)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3006725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[9]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A. Rahimi, B. Recht.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Random Features for Large-Scale Kernel Machines (RFF).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NeurIPS, 2007.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360680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[10]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A. Angelopoulos, S. Bates.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A Gentle Introduction to Conformal Prediction.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2021.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(hướng an toàn)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" y="6394450"/>
            <a:ext cx="12065000" cy="235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6E"/>
                </a:solidFill>
                <a:latin typeface="Be Vietnam Pro"/>
              </a:rPr>
              <a:t>RoadFury &amp; SE2RoadNet là phương pháp của nhóm; các baseline khác được tái lập trong cùng harness.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49080" y="1219200"/>
            <a:ext cx="398274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VIDEO TRÌNH BÀY (METHOD 60%)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18025" y="3673475"/>
            <a:ext cx="404495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50">
                <a:solidFill>
                  <a:srgbClr val="F6F4EF"/>
                </a:solidFill>
                <a:latin typeface="JetBrains Mono"/>
              </a:rPr>
              <a:t>RoadFury → SE2RoadNet · demo</a:t>
            </a:r>
          </a:p>
        </p:txBody>
      </p:sp>
      <p:sp>
        <p:nvSpPr>
          <p:cNvPr id="5" name="Rectangle 4">
            <a:hlinkClick r:id="rId3"/>
          </p:cNvPr>
          <p:cNvSpPr/>
          <p:nvPr/>
        </p:nvSpPr>
        <p:spPr>
          <a:xfrm>
            <a:off x="2330450" y="1631950"/>
            <a:ext cx="7531100" cy="3340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3"/>
          </p:cNvPr>
          <p:cNvSpPr/>
          <p:nvPr/>
        </p:nvSpPr>
        <p:spPr>
          <a:xfrm>
            <a:off x="3677543" y="5187950"/>
            <a:ext cx="2685157" cy="450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4"/>
          </p:cNvPr>
          <p:cNvSpPr/>
          <p:nvPr/>
        </p:nvSpPr>
        <p:spPr>
          <a:xfrm>
            <a:off x="6540500" y="5187950"/>
            <a:ext cx="1973957" cy="450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8885" y="2343150"/>
            <a:ext cx="431423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UNIVERSITY OF SCIENCE · VNU-HCM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5594" y="2686050"/>
            <a:ext cx="6500812" cy="8597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pc="-100">
                <a:solidFill>
                  <a:srgbClr val="F6F4EF"/>
                </a:solidFill>
                <a:latin typeface="Be Vietnam Pro"/>
              </a:rPr>
              <a:t>Cảm ơn đã lắng nghe!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1273" y="3721100"/>
            <a:ext cx="4209455" cy="3721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C3CDCE"/>
                </a:solidFill>
                <a:latin typeface="Be Vietnam Pro"/>
              </a:rPr>
              <a:t>Q&amp;A —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11875"/>
            <a:ext cx="6217345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6F4EF"/>
                </a:solidFill>
                <a:latin typeface="Be Vietnam Pro"/>
              </a:rPr>
              <a:t>RoadFury → SE2RoadNet: bất biến SE(2) cho ưu tiên kiểm thử SDC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384925"/>
            <a:ext cx="621734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EB0"/>
                </a:solidFill>
                <a:latin typeface="Be Vietnam Pro"/>
              </a:rPr>
              <a:t>Trần Chí Nguyên · Huỳnh Trung Kiệt · Đào Sỹ Duy Minh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APFD — ví dụ tính tay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68400"/>
            <a:ext cx="1206500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Giả sử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n = 5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test,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m = 2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FAIL. Hai cách xếp hạng: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450" y="3206750"/>
            <a:ext cx="59182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Xếp tốt </a:t>
            </a:r>
            <a:r>
              <a:rPr sz="1300" b="0" i="0">
                <a:solidFill>
                  <a:srgbClr val="5C6B6E"/>
                </a:solidFill>
                <a:latin typeface="Be Vietnam Pro"/>
              </a:rPr>
              <a:t>(FAIL ở vị trí 1,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5350" y="3206750"/>
            <a:ext cx="59182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5483F"/>
                </a:solidFill>
                <a:latin typeface="Be Vietnam Pro"/>
              </a:rPr>
              <a:t>Xếp kém </a:t>
            </a:r>
            <a:r>
              <a:rPr sz="1300" b="0" i="0">
                <a:solidFill>
                  <a:srgbClr val="5C6B6E"/>
                </a:solidFill>
                <a:latin typeface="Be Vietnam Pro"/>
              </a:rPr>
              <a:t>(FAIL ở vị trí 4,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Cùng một tập lỗi — chỉ khác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thứ tự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— APFD chênh nhau 4 lần. Đó là toàn bộ giá trị của test prioritization.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Multi-trial protocol (vì sao 30 lần?)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176264"/>
            <a:ext cx="7853362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APFD single-pass nhạy với </a:t>
            </a:r>
            <a:r>
              <a:rPr sz="1400" b="0" i="1">
                <a:solidFill>
                  <a:srgbClr val="3C4C50"/>
                </a:solidFill>
                <a:latin typeface="Be Vietnam Pro"/>
              </a:rPr>
              <a:t>thứ tự cố định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của tập test ⇒ một con số dễ “may rủi”.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591495"/>
            <a:ext cx="776108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Mỗi trial: lấy ngẫu nhiên max(50, 0.3·|test|) =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287/956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test, tính APFD độc lập.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006725"/>
            <a:ext cx="4634607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Báo cáo APFD ± σ qua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30 trials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, seed = 42.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421955"/>
            <a:ext cx="735528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σ thường là con số xuất bản quan trọng hơn mean (độ ổn định của ranking).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30 trials biến một con số đơn lẻ thành phân phối có σ — độ tin cậy thay vì may rủi.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Resolution probe (bất biến lấy mẫu)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2568575"/>
            <a:ext cx="5987355" cy="551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Lấy cùng một con đường, resample ở N ∈ {64,...,197} điểm rồi đánh giá lại.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228975"/>
            <a:ext cx="429904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Đo Δ = max − min APFD qua các mức 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622675"/>
            <a:ext cx="5987355" cy="551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Kết quả: Δ ~ </a:t>
            </a:r>
            <a:r>
              <a:rPr sz="1400" b="1" i="0">
                <a:solidFill>
                  <a:srgbClr val="2E7CA6"/>
                </a:solidFill>
                <a:latin typeface="Be Vietnam Pro"/>
              </a:rPr>
              <a:t>0.0012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— </a:t>
            </a:r>
            <a:r>
              <a:rPr sz="1400" b="0" i="1">
                <a:solidFill>
                  <a:srgbClr val="3C4C50"/>
                </a:solidFill>
                <a:latin typeface="Be Vietnam Pro"/>
              </a:rPr>
              <a:t>rất nhỏ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nhưng </a:t>
            </a:r>
            <a:r>
              <a:rPr sz="1400" b="1" i="0">
                <a:solidFill>
                  <a:srgbClr val="B5483F"/>
                </a:solidFill>
                <a:latin typeface="Be Vietnam Pro"/>
              </a:rPr>
              <a:t>chưa exact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như phép xoay (Δ=0).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4283075"/>
            <a:ext cx="5987355" cy="551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Lý do: bias RFF theo Δs là gần-bất-biến tại tham số hóa, không tuyệt đối ⇒ hướng RoPE-1D.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Phép xoay: Δ=0 exact (bằng kiến trúc). Lấy mẫu: Δ ~ 0.0012 (gần như, đang tiến tới exact).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Chi phí ở quy mô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" y="2430264"/>
            <a:ext cx="819537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Inference: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1 forward pass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/đường, batch (n,7,197) ⇒ chấm cả tập trong vài giây GPU.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3188395"/>
            <a:ext cx="7964686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Chi phí thật nằm ở </a:t>
            </a:r>
            <a:r>
              <a:rPr sz="1400" b="0" i="1">
                <a:solidFill>
                  <a:srgbClr val="3C4C50"/>
                </a:solidFill>
                <a:latin typeface="Be Vietnam Pro"/>
              </a:rPr>
              <a:t>mô phỏng vật lý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của các test được chọn — không phải ở scorer.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946525"/>
            <a:ext cx="8863608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Ranking tốt dồn lỗi lên đầu ⇒ chạy ít kịch bản đầu đã lộ phần lớn lỗi, tiết kiệm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nhiều giờ CPU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4704655"/>
            <a:ext cx="6202958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Train một lần: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24.2 phút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(Kaggle),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2.11 M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tham số ⇒ tái lập rẻ.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0772B"/>
                </a:solidFill>
                <a:latin typeface="Be Vietnam Pro"/>
              </a:rPr>
              <a:t>"The best simulation is the one you never run." — scorer rẻ, ngân sách dồn cho các test có khả năng lộ lỗi cao nhất.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Vì sao 7 kênh là bất biến SE(2)? (chứng minh ngắn)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97000"/>
            <a:ext cx="632638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CA6"/>
                </a:solidFill>
                <a:latin typeface="Be Vietnam Pro"/>
              </a:rPr>
              <a:t>Lập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58950"/>
            <a:ext cx="632638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1.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SE(2): biến đổi p → R·p + t (R xoay, t tịnh tiến).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2108200"/>
            <a:ext cx="5538986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2.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Chiều dài đoạn Δs = ||p(i+1)-pi||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(R trực giao bảo toàn khoảng cách, t triệt tiêu).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" y="2705100"/>
            <a:ext cx="632638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3.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Góc giữa hai vector liên tiếp ⇒ |Δθ|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(R bảo toàn góc).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" y="3054350"/>
            <a:ext cx="5538986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4.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κ = Δθ/Δs và các đạo hàm theo s ⇒ hàm của đại lượng bất biến ⇒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250" y="3651250"/>
            <a:ext cx="5538986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5.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Loại bỏ sinθ, cosθ, θ (phụ thuộc R) là điều kiện </a:t>
            </a:r>
            <a:r>
              <a:rPr sz="1300" b="0" i="1">
                <a:solidFill>
                  <a:srgbClr val="3C4C50"/>
                </a:solidFill>
                <a:latin typeface="Be Vietnam Pro"/>
              </a:rPr>
              <a:t>cần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để bất biến tuyệt đối.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4536" y="1397000"/>
            <a:ext cx="5611614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Hệ quả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4536" y="2514600"/>
            <a:ext cx="4824214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⇒ mọi tầng phía sau (Linear, attention bias theo Δs, pool) chỉ nhận đầu vào bất biến ⇒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output bất biến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bằng kiến trúc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: đảm bảo bởi xây dựng, không phụ thuộc dữ liệu hay augmentation.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373B"/>
                </a:solidFill>
                <a:latin typeface="Be Vietnam Pro"/>
              </a:rPr>
              <a:t>Nguon hinh anh / Image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Logo HCMUS:  </a:t>
            </a:r>
            <a:r>
              <a:rPr sz="1600">
                <a:solidFill>
                  <a:srgbClr val="EB811B"/>
                </a:solidFill>
                <a:latin typeface="JetBrains Mono"/>
                <a:hlinkClick r:id="rId2"/>
              </a:rPr>
              <a:t>https://www.hcmus.edu.vn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Logo ICST 2026:  </a:t>
            </a:r>
            <a:r>
              <a:rPr sz="1600">
                <a:solidFill>
                  <a:srgbClr val="EB811B"/>
                </a:solidFill>
                <a:latin typeface="JetBrains Mono"/>
                <a:hlinkClick r:id="rId3"/>
              </a:rPr>
              <a:t>https://conf.researchr.org/home/icst-2026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Video demo (Google Drive):  </a:t>
            </a:r>
            <a:r>
              <a:rPr sz="1600">
                <a:solidFill>
                  <a:srgbClr val="EB811B"/>
                </a:solidFill>
                <a:latin typeface="JetBrains Mono"/>
                <a:hlinkClick r:id="rId4"/>
              </a:rPr>
              <a:t>https://drive.google.com/file/d/1JC0NY3qfW-if9cM74Zi3d0VaTcA-1el_/view?usp=sharing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Video demo (Facebook):  </a:t>
            </a:r>
            <a:r>
              <a:rPr sz="1600">
                <a:solidFill>
                  <a:srgbClr val="EB811B"/>
                </a:solidFill>
                <a:latin typeface="JetBrains Mono"/>
                <a:hlinkClick r:id="rId5"/>
              </a:rPr>
              <a:t>https://www.facebook.com/reel/1528755028625867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Anh duong &amp; histogram do cong:  </a:t>
            </a:r>
            <a:r>
              <a:rPr sz="1600">
                <a:solidFill>
                  <a:srgbClr val="EB811B"/>
                </a:solidFill>
                <a:latin typeface="JetBrains Mono"/>
                <a:hlinkClick r:id="rId6"/>
              </a:rPr>
              <a:t>https://github.com/christianbirchler-org/sensodat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Anh chup mo phong (BeamNG.tech):  </a:t>
            </a:r>
            <a:r>
              <a:rPr sz="1600">
                <a:solidFill>
                  <a:srgbClr val="EB811B"/>
                </a:solidFill>
                <a:latin typeface="JetBrains Mono"/>
                <a:hlinkClick r:id="rId7"/>
              </a:rPr>
              <a:t>https://www.beamng.tech/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Be Vietnam Pro"/>
              </a:rPr>
              <a:t>So do kien truc la hinh TikZ tu ve (fig_arch, fig_arch_se2); cac bieu do APFD/leaderboard/focal la SVG/CSS tu ve tu so lieu thi nghiem cua nhom -- khong can dan nguon. Anh duong &amp; histogram do cong ve tu bo du lieu SensoDat [1]; anh chup mo phong tu BeamNG.tech.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