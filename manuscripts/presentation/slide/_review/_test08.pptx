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0" autoCompressPictures="0" embedTrueTypeFonts="1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embeddedFontLst>
    <p:embeddedFont>
      <p:font typeface="Be Vietnam Pro"/>
      <p:regular r:id="rId9001"/>
      <p:bold r:id="rId9002"/>
      <p:italic r:id="rId9003"/>
      <p:boldItalic r:id="rId9004"/>
    </p:embeddedFont>
    <p:embeddedFont>
      <p:font typeface="JetBrains Mono"/>
      <p:regular r:id="rId9005"/>
      <p:bold r:id="rId9006"/>
      <p:italic r:id="rId9007"/>
      <p:boldItalic r:id="rId900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001" Type="http://schemas.openxmlformats.org/officeDocument/2006/relationships/font" Target="fonts/font1.fntdata"/><Relationship Id="rId9002" Type="http://schemas.openxmlformats.org/officeDocument/2006/relationships/font" Target="fonts/font2.fntdata"/><Relationship Id="rId9003" Type="http://schemas.openxmlformats.org/officeDocument/2006/relationships/font" Target="fonts/font3.fntdata"/><Relationship Id="rId9004" Type="http://schemas.openxmlformats.org/officeDocument/2006/relationships/font" Target="fonts/font4.fntdata"/><Relationship Id="rId9005" Type="http://schemas.openxmlformats.org/officeDocument/2006/relationships/font" Target="fonts/font5.fntdata"/><Relationship Id="rId9006" Type="http://schemas.openxmlformats.org/officeDocument/2006/relationships/font" Target="fonts/font6.fntdata"/><Relationship Id="rId9007" Type="http://schemas.openxmlformats.org/officeDocument/2006/relationships/font" Target="fonts/font7.fntdata"/><Relationship Id="rId9008" Type="http://schemas.openxmlformats.org/officeDocument/2006/relationships/font" Target="fonts/font8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536575"/>
            <a:ext cx="4314230" cy="2501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50">
                <a:solidFill>
                  <a:srgbClr val="8BA0A2"/>
                </a:solidFill>
                <a:latin typeface="JetBrains Mono"/>
              </a:rPr>
              <a:t>UNIVERSITY OF SCIENCE · VNU-HCM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421037"/>
            <a:ext cx="11861800" cy="2501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50">
                <a:solidFill>
                  <a:srgbClr val="E0772B"/>
                </a:solidFill>
                <a:latin typeface="JetBrains Mono"/>
              </a:rPr>
              <a:t>THE SELF-DRIVING CAR TESTING COMPETITION · ICST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2681387"/>
            <a:ext cx="11861800" cy="94107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 spc="-150">
                <a:solidFill>
                  <a:srgbClr val="F6F4EF"/>
                </a:solidFill>
                <a:latin typeface="Be Vietnam Pro"/>
              </a:rPr>
              <a:t>RoadFury </a:t>
            </a:r>
            <a:r>
              <a:rPr sz="4600" b="1" i="0" spc="-150">
                <a:solidFill>
                  <a:srgbClr val="E0772B"/>
                </a:solidFill>
                <a:latin typeface="Be Vietnam Pro"/>
              </a:rPr>
              <a:t>→</a:t>
            </a:r>
            <a:r>
              <a:rPr sz="4600" b="1" i="0" spc="-150">
                <a:solidFill>
                  <a:srgbClr val="F6F4EF"/>
                </a:solidFill>
                <a:latin typeface="Be Vietnam Pro"/>
              </a:rPr>
              <a:t> SE2RoadNet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3462437"/>
            <a:ext cx="9779000" cy="38925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C3CDCE"/>
                </a:solidFill>
                <a:latin typeface="Be Vietnam Pro"/>
              </a:rPr>
              <a:t>Ưu tiên kiểm thử xe tự lái — bất biến SE(2) bằng kiến trúc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5561509"/>
            <a:ext cx="7747000" cy="2501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50">
                <a:solidFill>
                  <a:srgbClr val="E0772B"/>
                </a:solidFill>
                <a:latin typeface="JetBrains Mono"/>
              </a:rPr>
              <a:t>TÓM TẮT ĐỀ TÀI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5859959"/>
            <a:ext cx="6959600" cy="4968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C3CDCE"/>
                </a:solidFill>
                <a:latin typeface="Be Vietnam Pro"/>
              </a:rPr>
              <a:t>Xếp hạng kịch bản kiểm thử SDC để </a:t>
            </a:r>
            <a:r>
              <a:rPr sz="1250" b="1" i="0">
                <a:solidFill>
                  <a:srgbClr val="F6F4EF"/>
                </a:solidFill>
                <a:latin typeface="Be Vietnam Pro"/>
              </a:rPr>
              <a:t>lộ lỗi sớm</a:t>
            </a:r>
            <a:r>
              <a:rPr sz="1250" b="0" i="0">
                <a:solidFill>
                  <a:srgbClr val="C3CDCE"/>
                </a:solidFill>
                <a:latin typeface="Be Vietnam Pro"/>
              </a:rPr>
              <a:t>; mô hình bất biến phép xoay / lấy mẫu bằng </a:t>
            </a:r>
            <a:r>
              <a:rPr sz="1250" b="1" i="0">
                <a:solidFill>
                  <a:srgbClr val="F6F4EF"/>
                </a:solidFill>
                <a:latin typeface="Be Vietnam Pro"/>
              </a:rPr>
              <a:t>ràng buộc kiến trúc</a:t>
            </a:r>
            <a:r>
              <a:rPr sz="1250" b="0" i="0">
                <a:solidFill>
                  <a:srgbClr val="C3CDCE"/>
                </a:solidFill>
                <a:latin typeface="Be Vietnam Pro"/>
              </a:rPr>
              <a:t>, không bằng augmentation.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58325" y="5561509"/>
            <a:ext cx="3013075" cy="2501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50">
                <a:solidFill>
                  <a:srgbClr val="E0772B"/>
                </a:solidFill>
                <a:latin typeface="JetBrains Mono"/>
              </a:rPr>
              <a:t>NHÓM THỰC HIỆN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58325" y="5872659"/>
            <a:ext cx="3013075" cy="243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3CDCE"/>
                </a:solidFill>
                <a:latin typeface="Be Vietnam Pro"/>
              </a:rPr>
              <a:t>Trần Chí Nguyên · 23102244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58325" y="6116439"/>
            <a:ext cx="3013075" cy="243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3CDCE"/>
                </a:solidFill>
                <a:latin typeface="Be Vietnam Pro"/>
              </a:rPr>
              <a:t>Huỳnh Trung Kiệt · 23122039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58325" y="6360220"/>
            <a:ext cx="3013075" cy="243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3CDCE"/>
                </a:solidFill>
                <a:latin typeface="Be Vietnam Pro"/>
              </a:rPr>
              <a:t>Đào Sỹ Duy Minh · 23122041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8000" y="406400"/>
            <a:ext cx="12065000" cy="2501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50">
                <a:solidFill>
                  <a:srgbClr val="E0772B"/>
                </a:solidFill>
                <a:latin typeface="JetBrains Mono"/>
              </a:rPr>
              <a:t>CÔNG TRÌNH LIÊN QUAN ·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41350"/>
            <a:ext cx="12065000" cy="4705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 spc="-25">
                <a:solidFill>
                  <a:srgbClr val="23373B"/>
                </a:solidFill>
                <a:latin typeface="Be Vietnam Pro"/>
              </a:rPr>
              <a:t>Related Work: 3 hướng tiếp cận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950" y="2438102"/>
            <a:ext cx="3173809" cy="284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C3E6B"/>
                </a:solidFill>
                <a:latin typeface="Be Vietnam Pro"/>
              </a:rPr>
              <a:t>Search-based / Diversity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2950" y="2849562"/>
            <a:ext cx="3238500" cy="7350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3C4C50"/>
                </a:solidFill>
                <a:latin typeface="Be Vietnam Pro"/>
              </a:rPr>
              <a:t>Ý tưởng:</a:t>
            </a:r>
            <a:r>
              <a:rPr sz="1250" b="0" i="0">
                <a:solidFill>
                  <a:srgbClr val="3C4C50"/>
                </a:solidFill>
                <a:latin typeface="Be Vietnam Pro"/>
              </a:rPr>
              <a:t> GA / heuristic chọn tập test </a:t>
            </a:r>
            <a:r>
              <a:rPr sz="1250" b="0" i="1">
                <a:solidFill>
                  <a:srgbClr val="3C4C50"/>
                </a:solidFill>
                <a:latin typeface="Be Vietnam Pro"/>
              </a:rPr>
              <a:t>đa dạng</a:t>
            </a:r>
            <a:r>
              <a:rPr sz="1250" b="0" i="0">
                <a:solidFill>
                  <a:srgbClr val="3C4C50"/>
                </a:solidFill>
                <a:latin typeface="Be Vietnam Pro"/>
              </a:rPr>
              <a:t> hành vi (SO-SDC-Prioritizer, Greedy-diversity).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2950" y="3703638"/>
            <a:ext cx="3238500" cy="4968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E7D5B"/>
                </a:solidFill>
                <a:latin typeface="Be Vietnam Pro"/>
              </a:rPr>
              <a:t>✓ Ưu:</a:t>
            </a:r>
            <a:r>
              <a:rPr sz="1250" b="0" i="0">
                <a:solidFill>
                  <a:srgbClr val="2E7D5B"/>
                </a:solidFill>
                <a:latin typeface="Be Vietnam Pro"/>
              </a:rPr>
              <a:t> không cần nhãn, truyền thống SBST.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2950" y="4319588"/>
            <a:ext cx="3238500" cy="4968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B5483F"/>
                </a:solidFill>
                <a:latin typeface="Be Vietnam Pro"/>
              </a:rPr>
              <a:t>✗ Hạn chế:</a:t>
            </a:r>
            <a:r>
              <a:rPr sz="1250" b="0" i="0">
                <a:solidFill>
                  <a:srgbClr val="B5483F"/>
                </a:solidFill>
                <a:latin typeface="Be Vietnam Pro"/>
              </a:rPr>
              <a:t> đa dạng ≠ lộ lỗi; đặc trưng phụ thuộc khung.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08550" y="2557165"/>
            <a:ext cx="2561233" cy="284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5A33F"/>
                </a:solidFill>
                <a:latin typeface="Be Vietnam Pro"/>
              </a:rPr>
              <a:t>Feature-based 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7550" y="2968625"/>
            <a:ext cx="3238500" cy="7350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3C4C50"/>
                </a:solidFill>
                <a:latin typeface="Be Vietnam Pro"/>
              </a:rPr>
              <a:t>Ý tưởng:</a:t>
            </a:r>
            <a:r>
              <a:rPr sz="1250" b="0" i="0">
                <a:solidFill>
                  <a:srgbClr val="3C4C50"/>
                </a:solidFill>
                <a:latin typeface="Be Vietnam Pro"/>
              </a:rPr>
              <a:t> vài đặc trưng đường (góc, chiều dài) → mạng chuỗi gọn → rank (ITS4SDC: bi-LSTM, ICST'25).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7550" y="3822700"/>
            <a:ext cx="4025900" cy="25876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E7D5B"/>
                </a:solidFill>
                <a:latin typeface="Be Vietnam Pro"/>
              </a:rPr>
              <a:t>✓ Ưu:</a:t>
            </a:r>
            <a:r>
              <a:rPr sz="1250" b="0" i="0">
                <a:solidFill>
                  <a:srgbClr val="2E7D5B"/>
                </a:solidFill>
                <a:latin typeface="Be Vietnam Pro"/>
              </a:rPr>
              <a:t> rẻ, dễ giải thích.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7550" y="4200525"/>
            <a:ext cx="3238500" cy="4968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B5483F"/>
                </a:solidFill>
                <a:latin typeface="Be Vietnam Pro"/>
              </a:rPr>
              <a:t>✗ Hạn chế:</a:t>
            </a:r>
            <a:r>
              <a:rPr sz="1250" b="0" i="0">
                <a:solidFill>
                  <a:srgbClr val="B5483F"/>
                </a:solidFill>
                <a:latin typeface="Be Vietnam Pro"/>
              </a:rPr>
              <a:t> ít đặc trưng, phụ thuộc khung, tinh chỉnh theo từng bench.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93150" y="2450505"/>
            <a:ext cx="2857500" cy="497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E7D5B"/>
                </a:solidFill>
                <a:latin typeface="Be Vietnam Pro"/>
              </a:rPr>
              <a:t>Deep: GNN / CNN / Transformer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12150" y="3035895"/>
            <a:ext cx="3238500" cy="7350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3C4C50"/>
                </a:solidFill>
                <a:latin typeface="Be Vietnam Pro"/>
              </a:rPr>
              <a:t>Ý tưởng:</a:t>
            </a:r>
            <a:r>
              <a:rPr sz="1250" b="0" i="0">
                <a:solidFill>
                  <a:srgbClr val="3C4C50"/>
                </a:solidFill>
                <a:latin typeface="Be Vietnam Pro"/>
              </a:rPr>
              <a:t> học biểu diễn từ đồ thị đường / ảnh render / chuỗi điểm (GNN, ResNet, RoadFury).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12150" y="3889970"/>
            <a:ext cx="4025900" cy="25876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E7D5B"/>
                </a:solidFill>
                <a:latin typeface="Be Vietnam Pro"/>
              </a:rPr>
              <a:t>✓ Ưu:</a:t>
            </a:r>
            <a:r>
              <a:rPr sz="1250" b="0" i="0">
                <a:solidFill>
                  <a:srgbClr val="2E7D5B"/>
                </a:solidFill>
                <a:latin typeface="Be Vietnam Pro"/>
              </a:rPr>
              <a:t> APFD cao nhất (RoadFury 0.804).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12150" y="4267795"/>
            <a:ext cx="3238500" cy="4968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B5483F"/>
                </a:solidFill>
                <a:latin typeface="Be Vietnam Pro"/>
              </a:rPr>
              <a:t>✗ Hạn chế:</a:t>
            </a:r>
            <a:r>
              <a:rPr sz="1250" b="0" i="0">
                <a:solidFill>
                  <a:srgbClr val="B5483F"/>
                </a:solidFill>
                <a:latin typeface="Be Vietnam Pro"/>
              </a:rPr>
              <a:t> </a:t>
            </a:r>
            <a:r>
              <a:rPr sz="1250" b="0" i="1">
                <a:solidFill>
                  <a:srgbClr val="B5483F"/>
                </a:solidFill>
                <a:latin typeface="Be Vietnam Pro"/>
              </a:rPr>
              <a:t>không bất biến</a:t>
            </a:r>
            <a:r>
              <a:rPr sz="1250" b="0" i="0">
                <a:solidFill>
                  <a:srgbClr val="B5483F"/>
                </a:solidFill>
                <a:latin typeface="Be Vietnam Pro"/>
              </a:rPr>
              <a:t> — xoay / lấy mẫu là điểm trôi.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146800"/>
            <a:ext cx="11277600" cy="47688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0772B"/>
                </a:solidFill>
                <a:latin typeface="Be Vietnam Pro"/>
              </a:rPr>
              <a:t>Khoảng trống:</a:t>
            </a:r>
            <a:r>
              <a:rPr sz="1300" b="0" i="0">
                <a:solidFill>
                  <a:srgbClr val="23373B"/>
                </a:solidFill>
                <a:latin typeface="Be Vietnam Pro"/>
              </a:rPr>
              <a:t> chưa phương pháp nào </a:t>
            </a:r>
            <a:r>
              <a:rPr sz="1300" b="0" i="1">
                <a:solidFill>
                  <a:srgbClr val="23373B"/>
                </a:solidFill>
                <a:latin typeface="Be Vietnam Pro"/>
              </a:rPr>
              <a:t>đảm bảo</a:t>
            </a:r>
            <a:r>
              <a:rPr sz="1300" b="0" i="0">
                <a:solidFill>
                  <a:srgbClr val="23373B"/>
                </a:solidFill>
                <a:latin typeface="Be Vietnam Pro"/>
              </a:rPr>
              <a:t> bất biến với phép xoay / tần số lấy mẫu — tất cả dựa vào augmentation (xấp xỉ) hoặc đặc trưng phụ thuộc khung.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