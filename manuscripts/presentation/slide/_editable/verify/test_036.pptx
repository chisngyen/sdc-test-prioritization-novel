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embeddedFontLst>
    <p:embeddedFont>
      <p:font typeface="Be Vietnam Pro"/>
      <p:regular r:id="rId9001"/>
      <p:bold r:id="rId9002"/>
      <p:italic r:id="rId9003"/>
      <p:boldItalic r:id="rId9004"/>
    </p:embeddedFont>
    <p:embeddedFont>
      <p:font typeface="JetBrains Mono"/>
      <p:regular r:id="rId9005"/>
      <p:bold r:id="rId9006"/>
      <p:italic r:id="rId9007"/>
      <p:boldItalic r:id="rId900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9001" Type="http://schemas.openxmlformats.org/officeDocument/2006/relationships/font" Target="fonts/font1.fntdata"/><Relationship Id="rId9002" Type="http://schemas.openxmlformats.org/officeDocument/2006/relationships/font" Target="fonts/font2.fntdata"/><Relationship Id="rId9003" Type="http://schemas.openxmlformats.org/officeDocument/2006/relationships/font" Target="fonts/font3.fntdata"/><Relationship Id="rId9004" Type="http://schemas.openxmlformats.org/officeDocument/2006/relationships/font" Target="fonts/font4.fntdata"/><Relationship Id="rId9005" Type="http://schemas.openxmlformats.org/officeDocument/2006/relationships/font" Target="fonts/font5.fntdata"/><Relationship Id="rId9006" Type="http://schemas.openxmlformats.org/officeDocument/2006/relationships/font" Target="fonts/font6.fntdata"/><Relationship Id="rId9007" Type="http://schemas.openxmlformats.org/officeDocument/2006/relationships/font" Target="fonts/font7.fntdata"/><Relationship Id="rId900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36000" y="3556000"/>
            <a:ext cx="3810000" cy="4819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0" b="0" i="0">
                <a:solidFill>
                  <a:srgbClr val="E0772B"/>
                </a:solidFill>
                <a:latin typeface="Be Vietnam Pro"/>
              </a:rPr>
              <a:t>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536575"/>
            <a:ext cx="3425230" cy="19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8BA0A2"/>
                </a:solidFill>
                <a:latin typeface="JetBrains Mono"/>
              </a:rPr>
              <a:t>UNIVERSITY OF SCIENCE · VNU-HCM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421037"/>
            <a:ext cx="10972800" cy="19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THE SELF-DRIVING CAR TESTING COMPETITION · ICST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81387"/>
            <a:ext cx="10972800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pc="-150">
                <a:solidFill>
                  <a:srgbClr val="F6F4EF"/>
                </a:solidFill>
                <a:latin typeface="Be Vietnam Pro"/>
              </a:rPr>
              <a:t>RoadFury </a:t>
            </a:r>
            <a:r>
              <a:rPr sz="4600" b="1" i="0" spc="-150">
                <a:solidFill>
                  <a:srgbClr val="E0772B"/>
                </a:solidFill>
                <a:latin typeface="Be Vietnam Pro"/>
              </a:rPr>
              <a:t>→</a:t>
            </a:r>
            <a:r>
              <a:rPr sz="4600" b="1" i="0" spc="-150">
                <a:solidFill>
                  <a:srgbClr val="F6F4EF"/>
                </a:solidFill>
                <a:latin typeface="Be Vietnam Pro"/>
              </a:rPr>
              <a:t> SE2RoadNet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62437"/>
            <a:ext cx="8890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3CDCE"/>
                </a:solidFill>
                <a:latin typeface="Be Vietnam Pro"/>
              </a:rPr>
              <a:t>Ưu tiên kiểm thử xe tự lái — bất biến SE(2) bằng kiến trúc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561509"/>
            <a:ext cx="6858000" cy="19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TÓM TẮT ĐỀ TÀI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859959"/>
            <a:ext cx="6858000" cy="441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3CDCE"/>
                </a:solidFill>
                <a:latin typeface="Be Vietnam Pro"/>
              </a:rPr>
              <a:t>Xếp hạng kịch bản kiểm thử SDC để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lộ lỗi sớm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; mô hình bất biến phép xoay / lấy mẫu bằng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ràng buộc kiến trúc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, không bằng augmentation.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8325" y="5561509"/>
            <a:ext cx="2124075" cy="19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NHÓM THỰC HIỆN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8325" y="5872659"/>
            <a:ext cx="2124075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Trần Chí Nguyên · 23102244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8325" y="6116439"/>
            <a:ext cx="2124075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Huỳnh Trung Kiệt · 23122039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8325" y="6360220"/>
            <a:ext cx="2124075" cy="190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Đào Sỹ Duy Minh · 23122041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1176000" cy="19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11760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Bối cảnh: Kiểm thử Self-Driving Car trong mô phỏng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892399"/>
            <a:ext cx="3001466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Hàng ngàn kịch bản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2254349"/>
            <a:ext cx="3001466" cy="9772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Sinh tự động các con đường (AmbieGen, Frenetic...) trên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BeamNG.tech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. Mỗi đường = một bài kiểm thử giữ làn.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3166" y="2350195"/>
            <a:ext cx="49530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0772B"/>
                </a:solidFill>
                <a:latin typeface="JetBrains Mono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5316" y="1892399"/>
            <a:ext cx="3001466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772B"/>
                </a:solidFill>
                <a:latin typeface="Be Vietnam Pro"/>
              </a:rPr>
              <a:t>Mô phỏng tốn kém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5316" y="2254349"/>
            <a:ext cx="3001466" cy="4654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Mỗi kịch bản chạy vật lý thời gian thực ⇒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nhiều giờ CPU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cho toàn tập.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3633" y="2350195"/>
            <a:ext cx="49530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0772B"/>
                </a:solidFill>
                <a:latin typeface="JetBrains Mono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783" y="1892399"/>
            <a:ext cx="3001466" cy="241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Phải ưu tiên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783" y="2254349"/>
            <a:ext cx="3001466" cy="721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Xếp thứ tự để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lỗi lộ sớm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⇒ chỉ cần chạy phần đầu hàng đợi đã lộ phần lớn lỗi, tiết kiệm chi phí mô phỏng.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5314752"/>
            <a:ext cx="10782300" cy="184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6E"/>
                </a:solidFill>
                <a:latin typeface="JetBrains Mono"/>
              </a:rPr>
              <a:t>Một con đường giữ làn: xe có thể đi đúng làn (PASS) hoặc lệch ra ngoài (FAIL)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6350000"/>
            <a:ext cx="11176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Một thay đổi nhỏ có thể khiến xe lệch làn ở kịch bản hiếm ⇒ cần kiểm thử quy mô lớn, nhưng chạy hết thì quá đắt.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1176000" cy="19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11760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Dataset: SensoDat </a:t>
            </a:r>
            <a:r>
              <a:rPr sz="1300" b="1" i="0" spc="-25">
                <a:solidFill>
                  <a:srgbClr val="5C6B6E"/>
                </a:solidFill>
                <a:latin typeface="Be Vietnam Pro"/>
              </a:rPr>
              <a:t>(Birchler et al., MSR 2024 [1])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81100"/>
            <a:ext cx="5013523" cy="4654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Bộ dữ liệu công khai các kịch bản SDC sinh tự động trên BeamNG.tech, chia 3 split: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050" y="1921470"/>
            <a:ext cx="1439069" cy="19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JetBrains Mono"/>
              </a:rPr>
              <a:t>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1719" y="1921470"/>
            <a:ext cx="899418" cy="19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JetBrains Mono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8937" y="1921470"/>
            <a:ext cx="899418" cy="19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JetBrains Mono"/>
              </a:rPr>
              <a:t>%FAIL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6155" y="1921470"/>
            <a:ext cx="899418" cy="196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JetBrains Mono"/>
              </a:rPr>
              <a:t>Dài (m)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050" y="2372320"/>
            <a:ext cx="1439069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1719" y="2365970"/>
            <a:ext cx="899418" cy="22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JetBrains Mono"/>
              </a:rPr>
              <a:t>28 804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8937" y="2365970"/>
            <a:ext cx="899418" cy="22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JetBrains Mono"/>
              </a:rPr>
              <a:t>38.4%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155" y="2365970"/>
            <a:ext cx="899418" cy="22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JetBrains Mono"/>
              </a:rPr>
              <a:t>61-454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050" y="2854920"/>
            <a:ext cx="1439069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Test (SensoDat)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1719" y="2848570"/>
            <a:ext cx="899418" cy="22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JetBrains Mono"/>
              </a:rPr>
              <a:t>7 202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8937" y="2848570"/>
            <a:ext cx="899418" cy="22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JetBrains Mono"/>
              </a:rPr>
              <a:t>38.4%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6155" y="2848570"/>
            <a:ext cx="899418" cy="22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JetBrains Mono"/>
              </a:rPr>
              <a:t>76-433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050" y="3331170"/>
            <a:ext cx="1439069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483F"/>
                </a:solidFill>
                <a:latin typeface="Be Vietnam Pro"/>
              </a:rPr>
              <a:t>Competition (OOD)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1719" y="3429595"/>
            <a:ext cx="899418" cy="22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JetBrains Mono"/>
              </a:rPr>
              <a:t>956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8937" y="3429595"/>
            <a:ext cx="899418" cy="22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483F"/>
                </a:solidFill>
                <a:latin typeface="JetBrains Mono"/>
              </a:rPr>
              <a:t>36.9%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6155" y="3429595"/>
            <a:ext cx="899418" cy="22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483F"/>
                </a:solidFill>
                <a:latin typeface="JetBrains Mono"/>
              </a:rPr>
              <a:t>129-229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6973" y="1346200"/>
            <a:ext cx="5514777" cy="22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373B"/>
                </a:solidFill>
                <a:latin typeface="Be Vietnam Pro"/>
              </a:rPr>
              <a:t>Đường càng dài ⇒ càng dễ FAIL </a:t>
            </a:r>
            <a:r>
              <a:rPr sz="1100" b="0" i="0">
                <a:solidFill>
                  <a:srgbClr val="5C6B6E"/>
                </a:solidFill>
                <a:latin typeface="Be Vietnam Pro"/>
              </a:rPr>
              <a:t>(dữ liệu thật)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8873" y="1860550"/>
            <a:ext cx="6858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6E"/>
                </a:solidFill>
                <a:latin typeface="JetBrains Mono"/>
              </a:rPr>
              <a:t>FAIL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6973" y="4419600"/>
            <a:ext cx="1230709" cy="158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5483F"/>
                </a:solidFill>
                <a:latin typeface="JetBrains Mono"/>
              </a:rPr>
              <a:t>TB toàn tập 38.4%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6603" y="4730750"/>
            <a:ext cx="274340" cy="146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772B"/>
                </a:solidFill>
                <a:latin typeface="JetBrains Mono"/>
              </a:rPr>
              <a:t>0.26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9200" y="4756150"/>
            <a:ext cx="274340" cy="146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772B"/>
                </a:solidFill>
                <a:latin typeface="JetBrains Mono"/>
              </a:rPr>
              <a:t>0.25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1798" y="4667250"/>
            <a:ext cx="274340" cy="146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772B"/>
                </a:solidFill>
                <a:latin typeface="JetBrains Mono"/>
              </a:rPr>
              <a:t>0.29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4396" y="4483100"/>
            <a:ext cx="274340" cy="146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772B"/>
                </a:solidFill>
                <a:latin typeface="JetBrains Mono"/>
              </a:rPr>
              <a:t>0.37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6993" y="4298950"/>
            <a:ext cx="274340" cy="146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772B"/>
                </a:solidFill>
                <a:latin typeface="JetBrains Mono"/>
              </a:rPr>
              <a:t>0.45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591" y="4114800"/>
            <a:ext cx="274340" cy="146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772B"/>
                </a:solidFill>
                <a:latin typeface="JetBrains Mono"/>
              </a:rPr>
              <a:t>0.53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2189" y="3886200"/>
            <a:ext cx="274340" cy="146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772B"/>
                </a:solidFill>
                <a:latin typeface="JetBrains Mono"/>
              </a:rPr>
              <a:t>0.63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4786" y="3683000"/>
            <a:ext cx="274340" cy="146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772B"/>
                </a:solidFill>
                <a:latin typeface="JetBrains Mono"/>
              </a:rPr>
              <a:t>0.72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57384" y="3727450"/>
            <a:ext cx="274340" cy="146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772B"/>
                </a:solidFill>
                <a:latin typeface="JetBrains Mono"/>
              </a:rPr>
              <a:t>0.70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6973" y="5632450"/>
            <a:ext cx="533698" cy="158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E"/>
                </a:solidFill>
                <a:latin typeface="JetBrains Mono"/>
              </a:rP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9571" y="5632450"/>
            <a:ext cx="533698" cy="158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E"/>
                </a:solidFill>
                <a:latin typeface="JetBrains Mono"/>
              </a:rPr>
              <a:t>125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2169" y="5632450"/>
            <a:ext cx="533698" cy="158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E"/>
                </a:solidFill>
                <a:latin typeface="JetBrains Mono"/>
              </a:rPr>
              <a:t>150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4766" y="5632450"/>
            <a:ext cx="533698" cy="158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E"/>
                </a:solidFill>
                <a:latin typeface="JetBrains Mono"/>
              </a:rPr>
              <a:t>175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7364" y="5632450"/>
            <a:ext cx="533698" cy="158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E"/>
                </a:solidFill>
                <a:latin typeface="JetBrains Mono"/>
              </a:rPr>
              <a:t>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9962" y="5632450"/>
            <a:ext cx="533698" cy="158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E"/>
                </a:solidFill>
                <a:latin typeface="JetBrains Mono"/>
              </a:rPr>
              <a:t>225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2559" y="5632450"/>
            <a:ext cx="533698" cy="158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E"/>
                </a:solidFill>
                <a:latin typeface="JetBrains Mono"/>
              </a:rPr>
              <a:t>250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05157" y="5632450"/>
            <a:ext cx="533698" cy="158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E"/>
                </a:solidFill>
                <a:latin typeface="JetBrains Mono"/>
              </a:rPr>
              <a:t>275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755" y="5632450"/>
            <a:ext cx="533698" cy="158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E"/>
                </a:solidFill>
                <a:latin typeface="JetBrains Mono"/>
              </a:rPr>
              <a:t>300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6973" y="5829300"/>
            <a:ext cx="5514777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6E"/>
                </a:solidFill>
                <a:latin typeface="JetBrains Mono"/>
              </a:rPr>
              <a:t>total road length (m)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000" y="6350000"/>
            <a:ext cx="1117600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Competition có khoảng độ dài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hẹp hơn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(129-229m) ⇒ dịch phân phối (distribution shift).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