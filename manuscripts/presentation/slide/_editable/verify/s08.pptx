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12191695" cy="6858000" type="screen4x3"/>
  <p:notesSz cx="6858000" cy="9144000"/>
  <p:embeddedFontLst>
    <p:embeddedFont>
      <p:font typeface="Be Vietnam Pro"/>
      <p:regular r:id="rId9001"/>
      <p:bold r:id="rId9002"/>
      <p:italic r:id="rId9003"/>
      <p:boldItalic r:id="rId9004"/>
    </p:embeddedFont>
    <p:embeddedFont>
      <p:font typeface="JetBrains Mono"/>
      <p:regular r:id="rId9005"/>
      <p:bold r:id="rId9006"/>
      <p:italic r:id="rId9007"/>
      <p:boldItalic r:id="rId900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001" Type="http://schemas.openxmlformats.org/officeDocument/2006/relationships/font" Target="fonts/font1.fntdata"/><Relationship Id="rId9002" Type="http://schemas.openxmlformats.org/officeDocument/2006/relationships/font" Target="fonts/font2.fntdata"/><Relationship Id="rId9003" Type="http://schemas.openxmlformats.org/officeDocument/2006/relationships/font" Target="fonts/font3.fntdata"/><Relationship Id="rId9004" Type="http://schemas.openxmlformats.org/officeDocument/2006/relationships/font" Target="fonts/font4.fntdata"/><Relationship Id="rId9005" Type="http://schemas.openxmlformats.org/officeDocument/2006/relationships/font" Target="fonts/font5.fntdata"/><Relationship Id="rId9006" Type="http://schemas.openxmlformats.org/officeDocument/2006/relationships/font" Target="fonts/font6.fntdata"/><Relationship Id="rId9007" Type="http://schemas.openxmlformats.org/officeDocument/2006/relationships/font" Target="fonts/font7.fntdata"/><Relationship Id="rId900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CÔNG TRÌNH LIÊN QUAN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Related Work: 3 hướng tiếp cận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550" y="1417340"/>
            <a:ext cx="3173809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3E6B"/>
                </a:solidFill>
                <a:latin typeface="Be Vietnam Pro"/>
              </a:rPr>
              <a:t>Search-based / Diversity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550" y="1765300"/>
            <a:ext cx="3289300" cy="735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C4C50"/>
                </a:solidFill>
                <a:latin typeface="Be Vietnam Pro"/>
              </a:rPr>
              <a:t>Ý tưởng: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GA / heuristic chọn tập test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đa dạng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hành vi (SO-SDC-Prioritizer, Greedy-diversity).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550" y="2555875"/>
            <a:ext cx="32893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Be Vietnam Pro"/>
              </a:rPr>
              <a:t>✓ Ưu:</a:t>
            </a:r>
            <a:r>
              <a:rPr sz="1250" b="0" i="0">
                <a:solidFill>
                  <a:srgbClr val="2E7D5B"/>
                </a:solidFill>
                <a:latin typeface="Be Vietnam Pro"/>
              </a:rPr>
              <a:t> không cần nhãn, truyền thống SBST.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550" y="3108325"/>
            <a:ext cx="32893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✗ Hạn chế: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đa dạng ≠ lộ lỗi; đặc trưng phụ thuộc khung.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3150" y="1417340"/>
            <a:ext cx="2561233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A33F"/>
                </a:solidFill>
                <a:latin typeface="Be Vietnam Pro"/>
              </a:rPr>
              <a:t>Feature-based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2150" y="1765300"/>
            <a:ext cx="3289300" cy="735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C4C50"/>
                </a:solidFill>
                <a:latin typeface="Be Vietnam Pro"/>
              </a:rPr>
              <a:t>Ý tưởng: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vài đặc trưng đường (góc, chiều dài) → mạng chuỗi gọn → rank (ITS4SDC: bi-LSTM, ICST'25).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2150" y="2555875"/>
            <a:ext cx="4076700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Be Vietnam Pro"/>
              </a:rPr>
              <a:t>✓ Ưu:</a:t>
            </a:r>
            <a:r>
              <a:rPr sz="1250" b="0" i="0">
                <a:solidFill>
                  <a:srgbClr val="2E7D5B"/>
                </a:solidFill>
                <a:latin typeface="Be Vietnam Pro"/>
              </a:rPr>
              <a:t> rẻ, dễ giải thích.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2150" y="2870200"/>
            <a:ext cx="32893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✗ Hạn chế: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ít đặc trưng, phụ thuộc khung, tinh chỉnh theo từng bench.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0" y="1377950"/>
            <a:ext cx="2908300" cy="49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5B"/>
                </a:solidFill>
                <a:latin typeface="Be Vietnam Pro"/>
              </a:rPr>
              <a:t>Deep: GNN / CNN / Transformer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0" y="1899841"/>
            <a:ext cx="3289300" cy="735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C4C50"/>
                </a:solidFill>
                <a:latin typeface="Be Vietnam Pro"/>
              </a:rPr>
              <a:t>Ý tưởng: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học biểu diễn từ đồ thị đường / ảnh render / chuỗi điểm (GNN, ResNet, RoadFury).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0" y="2690416"/>
            <a:ext cx="4076700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Be Vietnam Pro"/>
              </a:rPr>
              <a:t>✓ Ưu:</a:t>
            </a:r>
            <a:r>
              <a:rPr sz="1250" b="0" i="0">
                <a:solidFill>
                  <a:srgbClr val="2E7D5B"/>
                </a:solidFill>
                <a:latin typeface="Be Vietnam Pro"/>
              </a:rPr>
              <a:t> APFD cao nhất (RoadFury 0.804).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0" y="3004741"/>
            <a:ext cx="32893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✗ Hạn chế: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</a:t>
            </a:r>
            <a:r>
              <a:rPr sz="1250" b="0" i="1">
                <a:solidFill>
                  <a:srgbClr val="B5483F"/>
                </a:solidFill>
                <a:latin typeface="Be Vietnam Pro"/>
              </a:rPr>
              <a:t>không bất biến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— xoay / lấy mẫu là điểm trôi.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40175"/>
            <a:ext cx="11277600" cy="4768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Khoảng trống: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chưa phương pháp nào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đảm bảo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bất biến với phép xoay / tần số lấy mẫu — tất cả dựa vào augmentation (xấp xỉ) hoặc đặc trưng phụ thuộc khung.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